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System-level control loop. Bayesian, track-aware and fitted-hit schedulers are separate baselines, not a fully fused controller. Policies do not receive emitter IDs, future transmissions or false-alarm truth labels. Dwell and coverage safeguards balance exploration and exploitation. No proven algorithmic novelty is claimed.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Implemented independent pipelines; dashed annotation marks an unimplemented calibration bridge. PDW: pulse descriptor word. Signature preprocessing scales frequency/log1p pulse width/amplitude, encodes AoA with sine/cosine, excludes absolute ToA. HDBSCAN is per-file unsupervised clustering. The logistic predictor uses past observations to predict hits including false alarms; not RL. Rust/C++ is unimplemented. Process parallelism supports existing comparisons and dataset files; learning evaluation is sequential. Dataset amplitude dB is not assumed to be simulator dBm.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Sources: docs/dataset-workflow.md, docs/learning-workflow.md and generated JSON reports. Audit: 233172417 pulses, 2500 scan training files, eight empty, no read/schema errors. Association comparison: first ten lexicographic training files, 10000 sampled pulses/file, seed 0, minimum cluster size 20, minimum samples 10. Scores are file-macro with noise treated as one cluster; not held-out and not scheduler performance. Fitted model used 32664 listening examples. Held-out simulation: 50 seeds from 10000. Learned/best-existing interception: acquisition 9.71/11.17, change 13.00/34.20, mixed 6.59/8.55, tracking 8.40/13.47 percent. Crowded 8.57 versus 6.91 percent, but constant-model also 8.57; learning cannot claim that improvement.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Benefits are intended, not claimed operational savings. Equal receiver resources means matched bandwidth, sensitivity, noise and retuning assumptions. No final numerical acceptance target is yet fixed. The implemented engine is a software research prototype, not a deployed service. Calibration, unified association-guided scheduling, API and GUI remain planned. Hardware integration is outside current implementation. Validation includes unit, integration, seeded regression, split boundaries and ablations; broader unseen layouts and resource/decision-latency measurements remain evaluation work.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Primary references linked on slide. Challenge code: https://github.com/alan-turing-institute/turing-deinterleaving-challenge . Transformer metric learning is research, not implemented. Dataset card and paper versions differ in aggregate counts; local audit counts are used in this deck. Official theme needs confirmation. The supplied template six content sections are retained; instructions slide omitted.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Spectrum is conceptual, not measured. Passive scheduling under partial observations; no live RF hardware. Theme needs official confirmation. Team fields intentionally blank.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arxiv.org/abs/2602.03856" TargetMode="External"/><Relationship Id="rId5" Type="http://schemas.openxmlformats.org/officeDocument/2006/relationships/hyperlink" Target="https://huggingface.co/datasets/alan-turing-institute/turing-synthetic-radar-dataset" TargetMode="External"/><Relationship Id="rId6" Type="http://schemas.openxmlformats.org/officeDocument/2006/relationships/hyperlink" Target="https://arxiv.org/abs/2503.1347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920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TITLE PAGE  /  SMART SCAN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304800"/>
            <a:ext cx="1333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B40"/>
                </a:solidFill>
                <a:latin typeface="Noto Sans"/>
              </a:rPr>
              <a:t>SIH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8800" y="6426200"/>
            <a:ext cx="11074400" cy="0"/>
          </a:xfrm>
          <a:prstGeom prst="line">
            <a:avLst/>
          </a:prstGeom>
          <a:ln w="889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8800" y="6553200"/>
            <a:ext cx="5715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37487"/>
                </a:solidFill>
                <a:latin typeface="Noto Sans"/>
              </a:rPr>
              <a:t>SPECTRA SCHEDULER   /   SIH26055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3300" y="6540500"/>
            <a:ext cx="508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37487"/>
                </a:solidFill>
                <a:latin typeface="Noto Sans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9372600" y="6604000"/>
            <a:ext cx="139700" cy="25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885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044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203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362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521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800" y="1282700"/>
            <a:ext cx="6350000" cy="1912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28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40"/>
                </a:solidFill>
                <a:latin typeface="Noto Sans"/>
              </a:rPr>
              <a:t>Spectra</a:t>
            </a:r>
          </a:p>
          <a:p>
            <a:pPr>
              <a:lnSpc>
                <a:spcPts val="728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40"/>
                </a:solidFill>
                <a:latin typeface="Noto Sans"/>
              </a:rPr>
              <a:t>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900" y="3327400"/>
            <a:ext cx="58166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637487"/>
                </a:solidFill>
                <a:latin typeface="Noto Sans"/>
              </a:rPr>
              <a:t>Adaptive band selection</a:t>
            </a:r>
          </a:p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637487"/>
                </a:solidFill>
                <a:latin typeface="Noto Sans"/>
              </a:rPr>
              <a:t>from incomplete observations.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900" y="4445000"/>
            <a:ext cx="5816600" cy="311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40"/>
                </a:solidFill>
                <a:latin typeface="Noto Sans"/>
              </a:rPr>
              <a:t>Smart Scan strategy for Electronic Warfare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900" y="4851400"/>
            <a:ext cx="571500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5CDE"/>
                </a:solidFill>
                <a:latin typeface="Noto Sans"/>
              </a:rPr>
              <a:t>SIH26055  •  DRDO  • 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900" y="5486400"/>
            <a:ext cx="609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7487"/>
                </a:solidFill>
                <a:latin typeface="Noto Sans"/>
              </a:rPr>
              <a:t>Team name: __________________    Team ID: __________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900" y="5778500"/>
            <a:ext cx="584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7487"/>
                </a:solidFill>
                <a:latin typeface="Noto Sans"/>
              </a:rPr>
              <a:t>Theme: pending official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8200" y="1358900"/>
            <a:ext cx="4381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37487"/>
                </a:solidFill>
                <a:latin typeface="Noto Sans"/>
              </a:rPr>
              <a:t>WIDE SPECTRUM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8200" y="1028700"/>
            <a:ext cx="4381500" cy="21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CDE"/>
                </a:solidFill>
                <a:latin typeface="Noto Sans"/>
              </a:rPr>
              <a:t>THE BANDWIDTH BOTTLENECK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8300" y="1765300"/>
            <a:ext cx="965200" cy="14224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00900" y="2743200"/>
            <a:ext cx="114300" cy="2794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3000" y="2489200"/>
            <a:ext cx="114300" cy="5334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85100" y="2654300"/>
            <a:ext cx="114300" cy="3683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7200" y="2171700"/>
            <a:ext cx="114300" cy="8509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9300" y="1854200"/>
            <a:ext cx="114300" cy="1168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61400" y="2413000"/>
            <a:ext cx="114300" cy="6096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53500" y="2667000"/>
            <a:ext cx="114300" cy="3556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45600" y="2311400"/>
            <a:ext cx="114300" cy="7112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7700" y="2032000"/>
            <a:ext cx="114300" cy="9906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9800" y="2603500"/>
            <a:ext cx="114300" cy="4191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21900" y="2451100"/>
            <a:ext cx="114300" cy="5715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14000" y="2197100"/>
            <a:ext cx="114300" cy="8255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06100" y="2717800"/>
            <a:ext cx="114300" cy="3048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98200" y="2540000"/>
            <a:ext cx="114300" cy="482600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7175500" y="3162300"/>
            <a:ext cx="4229100" cy="0"/>
          </a:xfrm>
          <a:prstGeom prst="line">
            <a:avLst/>
          </a:prstGeom>
          <a:ln w="12700">
            <a:solidFill>
              <a:srgbClr val="63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988300" y="1765300"/>
            <a:ext cx="0" cy="1422400"/>
          </a:xfrm>
          <a:prstGeom prst="line">
            <a:avLst/>
          </a:prstGeom>
          <a:ln w="12700">
            <a:solidFill>
              <a:srgbClr val="245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953500" y="1765300"/>
            <a:ext cx="0" cy="1422400"/>
          </a:xfrm>
          <a:prstGeom prst="line">
            <a:avLst/>
          </a:prstGeom>
          <a:ln w="12700">
            <a:solidFill>
              <a:srgbClr val="245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988300" y="1638300"/>
            <a:ext cx="965200" cy="0"/>
          </a:xfrm>
          <a:prstGeom prst="line">
            <a:avLst/>
          </a:prstGeom>
          <a:ln w="12700">
            <a:solidFill>
              <a:srgbClr val="245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988300" y="1600200"/>
            <a:ext cx="0" cy="88900"/>
          </a:xfrm>
          <a:prstGeom prst="line">
            <a:avLst/>
          </a:prstGeom>
          <a:ln w="12700">
            <a:solidFill>
              <a:srgbClr val="245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953500" y="1600200"/>
            <a:ext cx="0" cy="88900"/>
          </a:xfrm>
          <a:prstGeom prst="line">
            <a:avLst/>
          </a:prstGeom>
          <a:ln w="12700">
            <a:solidFill>
              <a:srgbClr val="245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44000" y="1574800"/>
            <a:ext cx="2286000" cy="21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5CDE"/>
                </a:solidFill>
                <a:latin typeface="Noto Sans"/>
              </a:rPr>
              <a:t>Instantaneous bandwidth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7000" y="3276600"/>
            <a:ext cx="2603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487"/>
                </a:solidFill>
                <a:latin typeface="Noto Sans"/>
              </a:rPr>
              <a:t>Frequency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70900" y="3327400"/>
            <a:ext cx="0" cy="558800"/>
          </a:xfrm>
          <a:prstGeom prst="line">
            <a:avLst/>
          </a:prstGeom>
          <a:ln w="22860">
            <a:solidFill>
              <a:srgbClr val="245C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112000" y="4089400"/>
            <a:ext cx="42799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12000" y="4318000"/>
            <a:ext cx="38100" cy="533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27900" y="4254500"/>
            <a:ext cx="38989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Limited-bandwidth receiver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27900" y="4635500"/>
            <a:ext cx="38989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Select band  /  dwell  /  revisit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6300" y="5410200"/>
            <a:ext cx="4229100" cy="690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B40"/>
                </a:solidFill>
                <a:latin typeface="Noto Sans"/>
              </a:rPr>
              <a:t>One observation window.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B40"/>
                </a:solidFill>
                <a:latin typeface="Noto Sans"/>
              </a:rPr>
              <a:t>Many signals outside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920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IDEA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304800"/>
            <a:ext cx="1333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B40"/>
                </a:solidFill>
                <a:latin typeface="Noto Sans"/>
              </a:rPr>
              <a:t>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76300"/>
            <a:ext cx="11176000" cy="591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2B40"/>
                </a:solidFill>
                <a:latin typeface="Noto Sans"/>
              </a:rPr>
              <a:t>Listen where evidence and constraints agree.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1511300"/>
            <a:ext cx="1111250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487"/>
                </a:solidFill>
                <a:latin typeface="Noto Sans"/>
              </a:rPr>
              <a:t>Proposed solution: jointly manage frequency selection, listening dwell and discovery coverage.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8800" y="6426200"/>
            <a:ext cx="11074400" cy="0"/>
          </a:xfrm>
          <a:prstGeom prst="line">
            <a:avLst/>
          </a:prstGeom>
          <a:ln w="889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8800" y="6553200"/>
            <a:ext cx="5715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37487"/>
                </a:solidFill>
                <a:latin typeface="Noto Sans"/>
              </a:rPr>
              <a:t>SPECTRA SCHEDULER   /   SIH26055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3300" y="6540500"/>
            <a:ext cx="508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37487"/>
                </a:solidFill>
                <a:latin typeface="Noto Sans"/>
              </a:rPr>
              <a:t>02 / 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88500" y="6604000"/>
            <a:ext cx="139700" cy="25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044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203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362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521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800" y="2184400"/>
            <a:ext cx="34544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Signals occur elsewhere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2590800"/>
            <a:ext cx="34544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487"/>
                </a:solidFill>
                <a:latin typeface="Noto Sans"/>
              </a:rPr>
              <a:t>Limited bandwidth creates missed opportunities.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800" y="2184400"/>
            <a:ext cx="34544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Switching consumes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8800" y="2590800"/>
            <a:ext cx="34544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487"/>
                </a:solidFill>
                <a:latin typeface="Noto Sans"/>
              </a:rPr>
              <a:t>Retuning reduces useful listening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8800" y="2184400"/>
            <a:ext cx="34544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Activity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800" y="2590800"/>
            <a:ext cx="34544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487"/>
                </a:solidFill>
                <a:latin typeface="Noto Sans"/>
              </a:rPr>
              <a:t>Old evidence can misdirect the next revisit.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8800" y="3517900"/>
            <a:ext cx="22352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800" y="3746500"/>
            <a:ext cx="38100" cy="533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700" y="3683000"/>
            <a:ext cx="18542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700" y="4064000"/>
            <a:ext cx="18542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Hits, misses and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signal measurements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200" y="3517900"/>
            <a:ext cx="22352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05200" y="3746500"/>
            <a:ext cx="38100" cy="533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100" y="3683000"/>
            <a:ext cx="18542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Estimate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1100" y="4064000"/>
            <a:ext cx="18542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Activity probability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or confirmed tracks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51600" y="3517900"/>
            <a:ext cx="22352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51600" y="3746500"/>
            <a:ext cx="38100" cy="533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0" y="3683000"/>
            <a:ext cx="18542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Allocate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0" y="4064000"/>
            <a:ext cx="18542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Band choice + dwell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Coverage safeguards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98000" y="3517900"/>
            <a:ext cx="22352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98000" y="3746500"/>
            <a:ext cx="38100" cy="533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13900" y="3683000"/>
            <a:ext cx="18542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Execute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3900" y="4064000"/>
            <a:ext cx="18542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Retune, then listen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Receiver constraints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819400" y="4025900"/>
            <a:ext cx="647700" cy="0"/>
          </a:xfrm>
          <a:prstGeom prst="line">
            <a:avLst/>
          </a:prstGeom>
          <a:ln w="20320">
            <a:solidFill>
              <a:srgbClr val="245C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765800" y="4025900"/>
            <a:ext cx="647700" cy="0"/>
          </a:xfrm>
          <a:prstGeom prst="line">
            <a:avLst/>
          </a:prstGeom>
          <a:ln w="20320">
            <a:solidFill>
              <a:srgbClr val="245C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12200" y="4025900"/>
            <a:ext cx="647700" cy="0"/>
          </a:xfrm>
          <a:prstGeom prst="line">
            <a:avLst/>
          </a:prstGeom>
          <a:ln w="20320">
            <a:solidFill>
              <a:srgbClr val="245C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515600" y="4546600"/>
            <a:ext cx="0" cy="419100"/>
          </a:xfrm>
          <a:prstGeom prst="line">
            <a:avLst/>
          </a:prstGeom>
          <a:ln w="19050">
            <a:solidFill>
              <a:srgbClr val="245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676400" y="4965700"/>
            <a:ext cx="8839200" cy="0"/>
          </a:xfrm>
          <a:prstGeom prst="line">
            <a:avLst/>
          </a:prstGeom>
          <a:ln w="19050">
            <a:solidFill>
              <a:srgbClr val="245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676400" y="4546600"/>
            <a:ext cx="0" cy="419100"/>
          </a:xfrm>
          <a:prstGeom prst="line">
            <a:avLst/>
          </a:prstGeom>
          <a:ln w="19050">
            <a:solidFill>
              <a:srgbClr val="245C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216400" y="4838700"/>
            <a:ext cx="3810000" cy="29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1500" y="4864100"/>
            <a:ext cx="3619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5CDE"/>
                </a:solidFill>
                <a:latin typeface="Noto Sans"/>
              </a:rPr>
              <a:t>Feedback updates the next scan 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8800" y="5499100"/>
            <a:ext cx="1107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PROPOSED CONTRIBUTION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8800" y="5791200"/>
            <a:ext cx="11074400" cy="311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B40"/>
                </a:solidFill>
                <a:latin typeface="Noto Sans"/>
              </a:rPr>
              <a:t>Connect pulse association, predictive revisits and constrained scanning in one evaluated workflow.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8800" y="6146800"/>
            <a:ext cx="1107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7487"/>
                </a:solidFill>
                <a:latin typeface="Noto Sans"/>
              </a:rPr>
              <a:t>Components exist as separate baselines; their unified integration remains planned.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920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304800"/>
            <a:ext cx="1333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B40"/>
                </a:solidFill>
                <a:latin typeface="Noto Sans"/>
              </a:rPr>
              <a:t>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76300"/>
            <a:ext cx="11176000" cy="591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2B40"/>
                </a:solidFill>
                <a:latin typeface="Noto Sans"/>
              </a:rPr>
              <a:t>From observed history to a receiver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1511300"/>
            <a:ext cx="1111250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487"/>
                </a:solidFill>
                <a:latin typeface="Noto Sans"/>
              </a:rPr>
              <a:t>Python / NumPy  •  h5py / HDF5  •  scikit-learn  •  JSON model artifacts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8800" y="6426200"/>
            <a:ext cx="11074400" cy="0"/>
          </a:xfrm>
          <a:prstGeom prst="line">
            <a:avLst/>
          </a:prstGeom>
          <a:ln w="889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8800" y="6553200"/>
            <a:ext cx="5715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37487"/>
                </a:solidFill>
                <a:latin typeface="Noto Sans"/>
              </a:rPr>
              <a:t>SPECTRA SCHEDULER   /   SIH26055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3300" y="6540500"/>
            <a:ext cx="508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37487"/>
                </a:solidFill>
                <a:latin typeface="Noto Sans"/>
              </a:rPr>
              <a:t>03 / 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885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04400" y="6604000"/>
            <a:ext cx="139700" cy="25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203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362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521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800" y="2095500"/>
            <a:ext cx="110490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5CDE"/>
                </a:solidFill>
                <a:latin typeface="Noto Sans"/>
              </a:rPr>
              <a:t>A / IMPLEMENTED ML BASELINE — SIMULATED RECEIVER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8800" y="2476500"/>
            <a:ext cx="34544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8800" y="2705100"/>
            <a:ext cx="38100" cy="533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700" y="2641600"/>
            <a:ext cx="30734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Observation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700" y="3022600"/>
            <a:ext cx="30734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Hit rates, recency, dwell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Distance + neighbour 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800" y="2476500"/>
            <a:ext cx="34544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8800" y="2705100"/>
            <a:ext cx="38100" cy="533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4700" y="2641600"/>
            <a:ext cx="30734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Logistic hit predictor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4700" y="3022600"/>
            <a:ext cx="30734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P(observed hit | past history)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Frozen weights at 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8800" y="2476500"/>
            <a:ext cx="34544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78800" y="2705100"/>
            <a:ext cx="38100" cy="533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700" y="2641600"/>
            <a:ext cx="30734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Band + dwell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700" y="3022600"/>
            <a:ext cx="30734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Prediction minus switching cost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Minimum dwell + overdue coverage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25900" y="2984500"/>
            <a:ext cx="304800" cy="0"/>
          </a:xfrm>
          <a:prstGeom prst="line">
            <a:avLst/>
          </a:prstGeom>
          <a:ln w="19050">
            <a:solidFill>
              <a:srgbClr val="245C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35900" y="2984500"/>
            <a:ext cx="304800" cy="0"/>
          </a:xfrm>
          <a:prstGeom prst="line">
            <a:avLst/>
          </a:prstGeom>
          <a:ln w="19050">
            <a:solidFill>
              <a:srgbClr val="245C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58800" y="3644900"/>
            <a:ext cx="110744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487"/>
                </a:solidFill>
                <a:latin typeface="Noto Sans"/>
              </a:rPr>
              <a:t>Training target: observed hit / miss. Retuning excluded. No emitter IDs or future truth in model inputs.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800" y="3924300"/>
            <a:ext cx="110744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487"/>
                </a:solidFill>
                <a:latin typeface="Noto Sans"/>
              </a:rPr>
              <a:t>Validation: separate seeds, 13 existing strategies and a constant-prediction ablation.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800" y="4406900"/>
            <a:ext cx="110490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276"/>
                </a:solidFill>
                <a:latin typeface="Noto Sans"/>
              </a:rPr>
              <a:t>B / IMPLEMENTED OFFLINE ASSOCIATION — TSRD PULSE DESCRIPTOR WORDS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8800" y="4635500"/>
            <a:ext cx="34544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8800" y="4864100"/>
            <a:ext cx="38100" cy="533400"/>
          </a:xfrm>
          <a:prstGeom prst="rect">
            <a:avLst/>
          </a:prstGeom>
          <a:solidFill>
            <a:srgbClr val="07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700" y="4800600"/>
            <a:ext cx="30734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TSRD pulse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700" y="5181600"/>
            <a:ext cx="30734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Validate / stream / sample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68800" y="4635500"/>
            <a:ext cx="34544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68800" y="4864100"/>
            <a:ext cx="38100" cy="533400"/>
          </a:xfrm>
          <a:prstGeom prst="rect">
            <a:avLst/>
          </a:prstGeom>
          <a:solidFill>
            <a:srgbClr val="07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84700" y="4800600"/>
            <a:ext cx="30734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Feature + 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4700" y="5181600"/>
            <a:ext cx="30734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Robust scaling + circular angle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HDBSCAN density clustering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78800" y="4635500"/>
            <a:ext cx="3454400" cy="1003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78800" y="4864100"/>
            <a:ext cx="38100" cy="533400"/>
          </a:xfrm>
          <a:prstGeom prst="rect">
            <a:avLst/>
          </a:prstGeom>
          <a:solidFill>
            <a:srgbClr val="07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700" y="4800600"/>
            <a:ext cx="30734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0"/>
                </a:solidFill>
                <a:latin typeface="Noto Sans"/>
              </a:rPr>
              <a:t>File-local scoring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700" y="5181600"/>
            <a:ext cx="30734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V-measure + pairwise F1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025900" y="5143500"/>
            <a:ext cx="304800" cy="0"/>
          </a:xfrm>
          <a:prstGeom prst="line">
            <a:avLst/>
          </a:prstGeom>
          <a:ln w="19050">
            <a:solidFill>
              <a:srgbClr val="0782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35900" y="5143500"/>
            <a:ext cx="304800" cy="0"/>
          </a:xfrm>
          <a:prstGeom prst="line">
            <a:avLst/>
          </a:prstGeom>
          <a:ln w="19050">
            <a:solidFill>
              <a:srgbClr val="0782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36600" y="5664200"/>
            <a:ext cx="0" cy="317500"/>
          </a:xfrm>
          <a:prstGeom prst="line">
            <a:avLst/>
          </a:prstGeom>
          <a:ln w="16510">
            <a:solidFill>
              <a:srgbClr val="B36D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6600" y="5981700"/>
            <a:ext cx="3467100" cy="0"/>
          </a:xfrm>
          <a:prstGeom prst="line">
            <a:avLst/>
          </a:prstGeom>
          <a:ln w="16510">
            <a:solidFill>
              <a:srgbClr val="B36D1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368800" y="5791200"/>
            <a:ext cx="72644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36D1B"/>
                </a:solidFill>
                <a:latin typeface="Noto Sans"/>
              </a:rPr>
              <a:t>PLANNED: calibrated simulation + association-guided scheduling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68800" y="6070600"/>
            <a:ext cx="726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7487"/>
                </a:solidFill>
                <a:latin typeface="Noto Sans"/>
              </a:rPr>
              <a:t>Fixed-scan recordings alone cannot evaluate alternative receiver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920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304800"/>
            <a:ext cx="1333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B40"/>
                </a:solidFill>
                <a:latin typeface="Noto Sans"/>
              </a:rPr>
              <a:t>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76300"/>
            <a:ext cx="11176000" cy="591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2B40"/>
                </a:solidFill>
                <a:latin typeface="Noto Sans"/>
              </a:rPr>
              <a:t>A working foundation, with clear validation gates.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1511300"/>
            <a:ext cx="1111250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487"/>
                </a:solidFill>
                <a:latin typeface="Noto Sans"/>
              </a:rPr>
              <a:t>Simulator, streaming data pipeline and model evaluation are operational as software prototypes.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8800" y="6426200"/>
            <a:ext cx="11074400" cy="0"/>
          </a:xfrm>
          <a:prstGeom prst="line">
            <a:avLst/>
          </a:prstGeom>
          <a:ln w="889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8800" y="6553200"/>
            <a:ext cx="5715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37487"/>
                </a:solidFill>
                <a:latin typeface="Noto Sans"/>
              </a:rPr>
              <a:t>SPECTRA SCHEDULER   /   SIH26055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3300" y="6540500"/>
            <a:ext cx="508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37487"/>
                </a:solidFill>
                <a:latin typeface="Noto Sans"/>
              </a:rPr>
              <a:t>04 / 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885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044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20300" y="6604000"/>
            <a:ext cx="139700" cy="25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362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521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800" y="2260600"/>
            <a:ext cx="4889500" cy="1021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54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45CDE"/>
                </a:solidFill>
                <a:latin typeface="Noto Sans"/>
              </a:rPr>
              <a:t>233.2M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900" y="3289300"/>
            <a:ext cx="4572000" cy="360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0"/>
                </a:solidFill>
                <a:latin typeface="Noto Sans"/>
              </a:rPr>
              <a:t>scan-training pulses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900" y="3771900"/>
            <a:ext cx="45720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2,500 files  •  chunked HDF5 processing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Bounded samples; no full-dataset RAM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2500" y="2273300"/>
            <a:ext cx="55880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37487"/>
                </a:solidFill>
                <a:latin typeface="Noto Sans"/>
              </a:rPr>
              <a:t>ASSOCIATION / PAIRWISE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2500" y="2565400"/>
            <a:ext cx="381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37487"/>
                </a:solidFill>
                <a:latin typeface="Noto San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5000" y="2565400"/>
            <a:ext cx="381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37487"/>
                </a:solidFill>
                <a:latin typeface="Noto Sans"/>
              </a:rPr>
              <a:t>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0500" y="2565400"/>
            <a:ext cx="381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37487"/>
                </a:solidFill>
                <a:latin typeface="Noto Sans"/>
              </a:rPr>
              <a:t>1.0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2500" y="2768600"/>
            <a:ext cx="0" cy="1219200"/>
          </a:xfrm>
          <a:prstGeom prst="line">
            <a:avLst/>
          </a:prstGeom>
          <a:ln w="762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55000" y="2768600"/>
            <a:ext cx="0" cy="1219200"/>
          </a:xfrm>
          <a:prstGeom prst="line">
            <a:avLst/>
          </a:prstGeom>
          <a:ln w="762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77500" y="2768600"/>
            <a:ext cx="0" cy="1219200"/>
          </a:xfrm>
          <a:prstGeom prst="line">
            <a:avLst/>
          </a:prstGeom>
          <a:ln w="762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32500" y="2781300"/>
            <a:ext cx="3302000" cy="294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2B40"/>
                </a:solidFill>
                <a:latin typeface="Noto Sans"/>
              </a:rPr>
              <a:t>Raw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2500" y="3111500"/>
            <a:ext cx="806767" cy="165100"/>
          </a:xfrm>
          <a:prstGeom prst="rect">
            <a:avLst/>
          </a:prstGeom>
          <a:solidFill>
            <a:srgbClr val="B7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42600" y="2946400"/>
            <a:ext cx="990600" cy="360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0"/>
                </a:solidFill>
                <a:latin typeface="Noto Sans"/>
              </a:rPr>
              <a:t>0.1815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2500" y="3454400"/>
            <a:ext cx="3302000" cy="294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2B40"/>
                </a:solidFill>
                <a:latin typeface="Noto Sans"/>
              </a:rPr>
              <a:t>Scaled signatures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2500" y="3784600"/>
            <a:ext cx="3609784" cy="1651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42600" y="3619500"/>
            <a:ext cx="990600" cy="360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0"/>
                </a:solidFill>
                <a:latin typeface="Noto Sans"/>
              </a:rPr>
              <a:t>0.8121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2500" y="4165600"/>
            <a:ext cx="5588000" cy="236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487"/>
                </a:solidFill>
                <a:latin typeface="Noto Sans"/>
              </a:rPr>
              <a:t>10 training files • 100k sampled pulses • not held-out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58800" y="4673600"/>
            <a:ext cx="11074400" cy="0"/>
          </a:xfrm>
          <a:prstGeom prst="line">
            <a:avLst/>
          </a:prstGeom>
          <a:ln w="1778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58800" y="4953000"/>
            <a:ext cx="34925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0"/>
                </a:solidFill>
                <a:latin typeface="Noto Sans"/>
              </a:rPr>
              <a:t>False alarms / ambiguity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8800" y="5384800"/>
            <a:ext cx="34925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Track confirmation + expiry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Explicit clustering-noise 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8800" y="4953000"/>
            <a:ext cx="34925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0"/>
                </a:solidFill>
                <a:latin typeface="Noto Sans"/>
              </a:rPr>
              <a:t>Scale / simulation mismatch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8800" y="5384800"/>
            <a:ext cx="34925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Bounded samples + parallel file jobs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Planned unit and behaviour calibration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8800" y="4953000"/>
            <a:ext cx="34925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0"/>
                </a:solidFill>
                <a:latin typeface="Noto Sans"/>
              </a:rPr>
              <a:t>Predictor may not help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8800" y="5384800"/>
            <a:ext cx="3492500" cy="459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Paired evaluation + model ablation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Retain strong non-ML baselines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800" y="6096000"/>
            <a:ext cx="110871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6D1B"/>
                </a:solidFill>
                <a:latin typeface="Noto Sans"/>
              </a:rPr>
              <a:t>CURRENT LIMIT   Learned scheduling does not consistently beat the strongest existing policy.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920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304800"/>
            <a:ext cx="1333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B40"/>
                </a:solidFill>
                <a:latin typeface="Noto Sans"/>
              </a:rPr>
              <a:t>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76300"/>
            <a:ext cx="11176000" cy="591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2B40"/>
                </a:solidFill>
                <a:latin typeface="Noto Sans"/>
              </a:rPr>
              <a:t>Better observation. A usable evaluation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1511300"/>
            <a:ext cx="1111250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487"/>
                </a:solidFill>
                <a:latin typeface="Noto Sans"/>
              </a:rPr>
              <a:t>For receiver-algorithm researchers and spectrum-system evaluation teams; benefits are intended outcomes.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8800" y="6426200"/>
            <a:ext cx="11074400" cy="0"/>
          </a:xfrm>
          <a:prstGeom prst="line">
            <a:avLst/>
          </a:prstGeom>
          <a:ln w="889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8800" y="6553200"/>
            <a:ext cx="5715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37487"/>
                </a:solidFill>
                <a:latin typeface="Noto Sans"/>
              </a:rPr>
              <a:t>SPECTRA SCHEDULER   /   SIH26055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3300" y="6540500"/>
            <a:ext cx="508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37487"/>
                </a:solidFill>
                <a:latin typeface="Noto Sans"/>
              </a:rPr>
              <a:t>05 / 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885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044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203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36200" y="6604000"/>
            <a:ext cx="139700" cy="25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521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800" y="2171700"/>
            <a:ext cx="546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OUTCOME / HOW WE WILL MEASURE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2628900"/>
            <a:ext cx="55880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B40"/>
                </a:solidFill>
                <a:latin typeface="Noto Sans"/>
              </a:rPr>
              <a:t>Capture more useful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800" y="3060700"/>
            <a:ext cx="55880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Interception and emitter discovery at equal bandwidth.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800" y="3708400"/>
            <a:ext cx="55880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B40"/>
                </a:solidFill>
                <a:latin typeface="Noto Sans"/>
              </a:rPr>
              <a:t>Respond faster to changing emitters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" y="4140200"/>
            <a:ext cx="55880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First-detection and mode-change reacquisition delay.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800" y="4787900"/>
            <a:ext cx="55880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B40"/>
                </a:solidFill>
                <a:latin typeface="Noto Sans"/>
              </a:rPr>
              <a:t>Use receiver and compute budgets well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00" y="5219700"/>
            <a:ext cx="55880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</a:rPr>
              <a:t>Coverage gaps, retuning fraction, memory and latency.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02400" y="2222500"/>
            <a:ext cx="0" cy="3416300"/>
          </a:xfrm>
          <a:prstGeom prst="line">
            <a:avLst/>
          </a:prstGeom>
          <a:ln w="1270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23100" y="2171700"/>
            <a:ext cx="4635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DELIVERY SCOPE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5500" y="2882900"/>
            <a:ext cx="0" cy="2273300"/>
          </a:xfrm>
          <a:prstGeom prst="line">
            <a:avLst/>
          </a:prstGeom>
          <a:ln w="2540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112000" y="2832100"/>
            <a:ext cx="127000" cy="127000"/>
          </a:xfrm>
          <a:prstGeom prst="ellipse">
            <a:avLst/>
          </a:prstGeom>
          <a:solidFill>
            <a:srgbClr val="07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2200" y="2616200"/>
            <a:ext cx="4191000" cy="21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78276"/>
                </a:solidFill>
                <a:latin typeface="Noto Sans"/>
              </a:rPr>
              <a:t>WORKING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2200" y="2870200"/>
            <a:ext cx="41910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0"/>
                </a:solidFill>
                <a:latin typeface="Noto Sans"/>
              </a:rPr>
              <a:t>Reproducible experiment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2200" y="3238500"/>
            <a:ext cx="4191000" cy="236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487"/>
                </a:solidFill>
                <a:latin typeface="Noto Sans"/>
              </a:rPr>
              <a:t>Simulator, data pipeline and saved model reports</a:t>
            </a:r>
          </a:p>
        </p:txBody>
      </p:sp>
      <p:sp>
        <p:nvSpPr>
          <p:cNvPr id="30" name="Oval 29"/>
          <p:cNvSpPr/>
          <p:nvPr/>
        </p:nvSpPr>
        <p:spPr>
          <a:xfrm>
            <a:off x="7112000" y="3911600"/>
            <a:ext cx="127000" cy="127000"/>
          </a:xfrm>
          <a:prstGeom prst="ellipse">
            <a:avLst/>
          </a:prstGeom>
          <a:solidFill>
            <a:srgbClr val="B36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42200" y="3695700"/>
            <a:ext cx="4191000" cy="21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36D1B"/>
                </a:solidFill>
                <a:latin typeface="Noto Sans"/>
              </a:rPr>
              <a:t>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2200" y="3949700"/>
            <a:ext cx="41910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0"/>
                </a:solidFill>
                <a:latin typeface="Noto Sans"/>
              </a:rPr>
              <a:t>Integrated scheduling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2200" y="4318000"/>
            <a:ext cx="4191000" cy="236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487"/>
                </a:solidFill>
                <a:latin typeface="Noto Sans"/>
              </a:rPr>
              <a:t>Dataset calibration + association-informed decisions</a:t>
            </a:r>
          </a:p>
        </p:txBody>
      </p:sp>
      <p:sp>
        <p:nvSpPr>
          <p:cNvPr id="34" name="Oval 33"/>
          <p:cNvSpPr/>
          <p:nvPr/>
        </p:nvSpPr>
        <p:spPr>
          <a:xfrm>
            <a:off x="7112000" y="4991100"/>
            <a:ext cx="127000" cy="127000"/>
          </a:xfrm>
          <a:prstGeom prst="ellipse">
            <a:avLst/>
          </a:prstGeom>
          <a:solidFill>
            <a:srgbClr val="B36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2200" y="4775200"/>
            <a:ext cx="4191000" cy="21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36D1B"/>
                </a:solidFill>
                <a:latin typeface="Noto Sans"/>
              </a:rPr>
              <a:t>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2200" y="5029200"/>
            <a:ext cx="41910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0"/>
                </a:solidFill>
                <a:latin typeface="Noto Sans"/>
              </a:rPr>
              <a:t>Experiment API and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2200" y="5397500"/>
            <a:ext cx="4191000" cy="236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487"/>
                </a:solidFill>
                <a:latin typeface="Noto Sans"/>
              </a:rPr>
              <a:t>Run jobs, inspect results and compare configurations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8800" y="5956300"/>
            <a:ext cx="110871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SUCCESS CRITERION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800" y="6184900"/>
            <a:ext cx="11087100" cy="236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42B40"/>
                </a:solidFill>
                <a:latin typeface="Noto Sans"/>
              </a:rPr>
              <a:t>Improve the interception–latency trade-off without unacceptable coverage or resource costs on unseen scenarios.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920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CDE"/>
                </a:solidFill>
                <a:latin typeface="Noto Sans"/>
              </a:rP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304800"/>
            <a:ext cx="1333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B40"/>
                </a:solidFill>
                <a:latin typeface="Noto Sans"/>
              </a:rPr>
              <a:t>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76300"/>
            <a:ext cx="11176000" cy="591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2B40"/>
                </a:solidFill>
                <a:latin typeface="Noto Sans"/>
              </a:rPr>
              <a:t>Grounded in research. Tested independently.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1511300"/>
            <a:ext cx="1111250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487"/>
                </a:solidFill>
                <a:latin typeface="Noto Sans"/>
              </a:rPr>
              <a:t>References inform the methods; published scores are not presented as project results.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8800" y="6426200"/>
            <a:ext cx="11074400" cy="0"/>
          </a:xfrm>
          <a:prstGeom prst="line">
            <a:avLst/>
          </a:prstGeom>
          <a:ln w="889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8800" y="6553200"/>
            <a:ext cx="5715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37487"/>
                </a:solidFill>
                <a:latin typeface="Noto Sans"/>
              </a:rPr>
              <a:t>SPECTRA SCHEDULER   /   SIH26055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3300" y="6540500"/>
            <a:ext cx="508000" cy="195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37487"/>
                </a:solidFill>
                <a:latin typeface="Noto Sans"/>
              </a:rPr>
              <a:t>06 / 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885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044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203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36200" y="6604000"/>
            <a:ext cx="139700" cy="25400"/>
          </a:xfrm>
          <a:prstGeom prst="rect">
            <a:avLst/>
          </a:prstGeom>
          <a:solidFill>
            <a:srgbClr val="D9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52100" y="6604000"/>
            <a:ext cx="139700" cy="25400"/>
          </a:xfrm>
          <a:prstGeom prst="rect">
            <a:avLst/>
          </a:prstGeom>
          <a:solidFill>
            <a:srgbClr val="245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800" y="2286000"/>
            <a:ext cx="1016000" cy="525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5CDE"/>
                </a:solidFill>
                <a:latin typeface="Noto San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7000" y="2286000"/>
            <a:ext cx="3746500" cy="311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40"/>
                </a:solidFill>
                <a:latin typeface="Noto Sans"/>
              </a:rPr>
              <a:t>Benchmark foundation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07000" y="2438400"/>
            <a:ext cx="571500" cy="0"/>
          </a:xfrm>
          <a:prstGeom prst="line">
            <a:avLst/>
          </a:prstGeom>
          <a:ln w="16510">
            <a:solidFill>
              <a:srgbClr val="D9E2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45200" y="2286000"/>
            <a:ext cx="5588000" cy="311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40"/>
                </a:solidFill>
                <a:latin typeface="Noto Sans"/>
                <a:hlinkClick r:id="rId4"/>
              </a:rPr>
              <a:t>The Turing Synthetic Radar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5200" y="2667000"/>
            <a:ext cx="55880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  <a:hlinkClick r:id="rId4"/>
              </a:rPr>
              <a:t>Gunn et al.  /  arXiv:2602.03856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97000" y="3238500"/>
            <a:ext cx="10236200" cy="0"/>
          </a:xfrm>
          <a:prstGeom prst="line">
            <a:avLst/>
          </a:prstGeom>
          <a:ln w="889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8800" y="3505200"/>
            <a:ext cx="1016000" cy="525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5CDE"/>
                </a:solidFill>
                <a:latin typeface="Noto San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7000" y="3505200"/>
            <a:ext cx="3746500" cy="311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40"/>
                </a:solidFill>
                <a:latin typeface="Noto Sans"/>
              </a:rPr>
              <a:t>Data &amp; evaluation contract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07000" y="3657600"/>
            <a:ext cx="571500" cy="0"/>
          </a:xfrm>
          <a:prstGeom prst="line">
            <a:avLst/>
          </a:prstGeom>
          <a:ln w="16510">
            <a:solidFill>
              <a:srgbClr val="D9E2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45200" y="3505200"/>
            <a:ext cx="5588000" cy="311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40"/>
                </a:solidFill>
                <a:latin typeface="Noto Sans"/>
                <a:hlinkClick r:id="rId5"/>
              </a:rPr>
              <a:t>TSRD dataset card + challenge 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5200" y="3886200"/>
            <a:ext cx="55880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  <a:hlinkClick r:id="rId5"/>
              </a:rPr>
              <a:t>PDW schema, receiver modes, splits and scoring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97000" y="4457700"/>
            <a:ext cx="10236200" cy="0"/>
          </a:xfrm>
          <a:prstGeom prst="line">
            <a:avLst/>
          </a:prstGeom>
          <a:ln w="8890">
            <a:solidFill>
              <a:srgbClr val="D9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8800" y="4724400"/>
            <a:ext cx="1016000" cy="525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5CDE"/>
                </a:solidFill>
                <a:latin typeface="Noto San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7000" y="4724400"/>
            <a:ext cx="3746500" cy="311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40"/>
                </a:solidFill>
                <a:latin typeface="Noto Sans"/>
              </a:rPr>
              <a:t>Representation-learning research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07000" y="4876800"/>
            <a:ext cx="571500" cy="0"/>
          </a:xfrm>
          <a:prstGeom prst="line">
            <a:avLst/>
          </a:prstGeom>
          <a:ln w="16510">
            <a:solidFill>
              <a:srgbClr val="D9E2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45200" y="4724400"/>
            <a:ext cx="5588000" cy="311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40"/>
                </a:solidFill>
                <a:latin typeface="Noto Sans"/>
                <a:hlinkClick r:id="rId6"/>
              </a:rPr>
              <a:t>Radar Pulse Deinterleaving with Transformer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5200" y="5105400"/>
            <a:ext cx="5588000" cy="261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487"/>
                </a:solidFill>
                <a:latin typeface="Noto Sans"/>
                <a:hlinkClick r:id="rId6"/>
              </a:rPr>
              <a:t>Based Deep Metric Learning  /  arXiv:2503.13476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800" y="5994400"/>
            <a:ext cx="11112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487"/>
                </a:solidFill>
                <a:latin typeface="Noto Sans"/>
              </a:rPr>
              <a:t>PROJECT EVIDENCE   dataset-workflow.md  /  learning-workflow.md  /  reproducible JSON reports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Spectra Scheduler — Smart Scan Strategy</dc:title>
  <dc:subject>SIH26055 | adaptive receiver scheduling</dc:subject>
  <dc:creator>Spectra Scheduler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