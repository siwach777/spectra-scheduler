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System-level control loop. Bayesian, track-aware and fitted-hit schedulers are separate baselines, not a fully fused controller. Policies do not receive emitter IDs, future transmissions or false-alarm truth labels. Dwell and coverage safeguards balance exploration and exploitation. No proven algorithmic novelty is claimed.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Implemented independent pipelines; dashed annotation marks an unimplemented calibration bridge. PDW: pulse descriptor word. Signature preprocessing scales frequency/log1p pulse width/amplitude, encodes AoA with sine/cosine, excludes absolute ToA. HDBSCAN is per-file unsupervised clustering. The logistic predictor uses past observations to predict hits including false alarms; not RL. Rust/C++ is unimplemented. Process parallelism supports existing comparisons and dataset files; learning evaluation is sequential. Dataset amplitude dB is not assumed to be simulator dBm.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Sources: docs/dataset-workflow.md, docs/learning-workflow.md and generated JSON reports. Audit: 233172417 pulses, 2500 scan training files, eight empty, no read/schema errors. Association comparison: first ten lexicographic training files, 10000 sampled pulses/file, seed 0, minimum cluster size 20, minimum samples 10. Scores are file-macro with noise treated as one cluster; not held-out and not scheduler performance. Fitted model used 32664 listening examples. Held-out simulation: 50 seeds from 10000. Learned/best-existing interception: acquisition 9.71/11.17, change 13.00/34.20, mixed 6.59/8.55, tracking 8.40/13.47 percent. Crowded 8.57 versus 6.91 percent, but constant-model also 8.57; learning cannot claim that improvement.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Triangle is a conceptual trade-off, not a measured Pareto frontier. Benefits are objectives, not operational savings. Tests include unit, integration, deterministic regression and split-boundary checks; broader structural generalisation remains unverified. API, GUI, calibration and hardware integration are not implemented. Delivery line is a proposal, not an implemented pipeline.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Primary references linked on slide. Challenge code: https://github.com/alan-turing-institute/turing-deinterleaving-challenge . Transformer metric learning is research, not implemented. Dataset card and paper versions differ in aggregate counts; local audit counts are used in this deck. Official theme needs confirmation. The supplied template six content sections are retained; instructions slide omitted.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Spectrum is conceptual, not measured. Passive scheduling under partial observations; no live RF hardware. Theme needs official confirmation. Team fields intentionally blank.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xiv.org/abs/2602.03856" TargetMode="External"/><Relationship Id="rId5" Type="http://schemas.openxmlformats.org/officeDocument/2006/relationships/hyperlink" Target="https://huggingface.co/datasets/alan-turing-institute/turing-synthetic-radar-dataset" TargetMode="External"/><Relationship Id="rId6" Type="http://schemas.openxmlformats.org/officeDocument/2006/relationships/hyperlink" Target="https://arxiv.org/abs/2503.134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TITLE PAGE  /  SMART SCAN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01 /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800" y="1282700"/>
            <a:ext cx="6350000" cy="1912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Spectra</a:t>
            </a:r>
          </a:p>
          <a:p>
            <a:pPr>
              <a:lnSpc>
                <a:spcPts val="728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142B40"/>
                </a:solidFill>
                <a:latin typeface="Noto Sans"/>
              </a:rPr>
              <a:t>Scheduler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900" y="3327400"/>
            <a:ext cx="5816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Smarter listening.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37487"/>
                </a:solidFill>
                <a:latin typeface="Noto Sans"/>
              </a:rPr>
              <a:t>Under real receiver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900" y="4445000"/>
            <a:ext cx="58166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Smart Scan strategy for Electronic Warfare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900" y="4851400"/>
            <a:ext cx="57150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45CDE"/>
                </a:solidFill>
                <a:latin typeface="Noto Sans"/>
              </a:rPr>
              <a:t>SIH26055  •  DRDO  • 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0" y="5486400"/>
            <a:ext cx="609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Team name: __________________    Team ID: __________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900" y="5778500"/>
            <a:ext cx="584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Theme: pending official confirmation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8200" y="1358900"/>
            <a:ext cx="4381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WIDE SPECTRUM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8200" y="1028700"/>
            <a:ext cx="43815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45CDE"/>
                </a:solidFill>
                <a:latin typeface="Noto Sans"/>
              </a:rPr>
              <a:t>THE BANDWIDTH BOTTLENECK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8300" y="1765300"/>
            <a:ext cx="965200" cy="1422400"/>
          </a:xfrm>
          <a:prstGeom prst="rect">
            <a:avLst/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00900" y="2743200"/>
            <a:ext cx="114300" cy="279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3000" y="2489200"/>
            <a:ext cx="114300" cy="5334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85100" y="2654300"/>
            <a:ext cx="114300" cy="3683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7200" y="2171700"/>
            <a:ext cx="114300" cy="8509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69300" y="1854200"/>
            <a:ext cx="114300" cy="1168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61400" y="2413000"/>
            <a:ext cx="114300" cy="6096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53500" y="2667000"/>
            <a:ext cx="114300" cy="355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45600" y="2311400"/>
            <a:ext cx="114300" cy="7112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7700" y="2032000"/>
            <a:ext cx="114300" cy="990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2603500"/>
            <a:ext cx="114300" cy="4191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1900" y="2451100"/>
            <a:ext cx="114300" cy="571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14000" y="2197100"/>
            <a:ext cx="114300" cy="8255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06100" y="2717800"/>
            <a:ext cx="114300" cy="3048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98200" y="2540000"/>
            <a:ext cx="114300" cy="482600"/>
          </a:xfrm>
          <a:prstGeom prst="rect">
            <a:avLst/>
          </a:prstGeom>
          <a:solidFill>
            <a:srgbClr val="D9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175500" y="3162300"/>
            <a:ext cx="4229100" cy="0"/>
          </a:xfrm>
          <a:prstGeom prst="line">
            <a:avLst/>
          </a:prstGeom>
          <a:ln w="12700">
            <a:solidFill>
              <a:srgbClr val="6374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9883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53500" y="1765300"/>
            <a:ext cx="0" cy="14224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88300" y="1638300"/>
            <a:ext cx="965200" cy="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988300" y="1600200"/>
            <a:ext cx="0" cy="889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953500" y="1600200"/>
            <a:ext cx="0" cy="88900"/>
          </a:xfrm>
          <a:prstGeom prst="line">
            <a:avLst/>
          </a:prstGeom>
          <a:ln w="12700">
            <a:solidFill>
              <a:srgbClr val="245C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0" y="1574800"/>
            <a:ext cx="2286000" cy="2120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45CDE"/>
                </a:solidFill>
                <a:latin typeface="Noto Sans"/>
              </a:rPr>
              <a:t>Instantaneous bandwidth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7000" y="3276600"/>
            <a:ext cx="260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Frequency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70900" y="3327400"/>
            <a:ext cx="0" cy="5588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112000" y="4089400"/>
            <a:ext cx="42799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12000" y="431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27900" y="4254500"/>
            <a:ext cx="38989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Limited-bandwidth receiver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27900" y="4635500"/>
            <a:ext cx="38989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Select band  /  dwell  /  revisit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6300" y="5410200"/>
            <a:ext cx="4229100" cy="690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One observation window.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2B40"/>
                </a:solidFill>
                <a:latin typeface="Noto Sans"/>
              </a:rPr>
              <a:t>Many signals outside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IDEA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A closed loop, not a fixed sweep.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Proposed solution: adapt the observation schedule as evidence changes.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02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2500" y="24384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2500" y="2667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8400" y="26035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01  Observe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8400" y="29845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Hits, misses, signal measurements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6000" y="24384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6000" y="2667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26035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02  Estimate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1900" y="29845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Hit probability / confirmed tracks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6000" y="46355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6000" y="4864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48006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03  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51816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Next band + listening dwell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2500" y="4635500"/>
            <a:ext cx="38735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2500" y="48641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8400" y="4800600"/>
            <a:ext cx="34925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04  Retune &amp; listen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8400" y="5181600"/>
            <a:ext cx="349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Respect hardware observation cost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26000" y="2946400"/>
            <a:ext cx="2514600" cy="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397500" y="26543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feedback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09100" y="3467100"/>
            <a:ext cx="0" cy="11430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486900" y="39116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predicted utility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851400" y="5143500"/>
            <a:ext cx="2489200" cy="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59400" y="4838700"/>
            <a:ext cx="1905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band + dwell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870200" y="3467100"/>
            <a:ext cx="0" cy="1143000"/>
          </a:xfrm>
          <a:prstGeom prst="line">
            <a:avLst/>
          </a:prstGeom>
          <a:ln w="2286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143000" y="3911600"/>
            <a:ext cx="16002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new observation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100" y="3632200"/>
            <a:ext cx="2997200" cy="426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2B40"/>
                </a:solidFill>
                <a:latin typeface="Noto Sans"/>
              </a:rPr>
              <a:t>Search / Revisit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4100" y="4114800"/>
            <a:ext cx="28448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Minimum listening dwell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100" y="4368800"/>
            <a:ext cx="28448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Overdue-band priority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200" y="6019800"/>
            <a:ext cx="10350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5CDE"/>
                </a:solidFill>
                <a:latin typeface="Noto Sans"/>
              </a:rPr>
              <a:t>DISTINCTIVE DESIGN   Observation-only inference • Drift response • Explicit receiver constraints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Two pipelines. One evaluation discipline.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Python / NumPy  •  h5py / HDF5  •  scikit-learn  •  JSON model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03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0955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5CDE"/>
                </a:solidFill>
                <a:latin typeface="Noto Sans"/>
              </a:rPr>
              <a:t>A / CLOSED-LOOP SIMULATION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286000" y="2514600"/>
            <a:ext cx="0" cy="304800"/>
          </a:xfrm>
          <a:prstGeom prst="line">
            <a:avLst/>
          </a:prstGeom>
          <a:ln w="12700">
            <a:solidFill>
              <a:srgbClr val="63748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286000" y="2514600"/>
            <a:ext cx="7620000" cy="0"/>
          </a:xfrm>
          <a:prstGeom prst="line">
            <a:avLst/>
          </a:prstGeom>
          <a:ln w="12700">
            <a:solidFill>
              <a:srgbClr val="63748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06000" y="2514600"/>
            <a:ext cx="0" cy="304800"/>
          </a:xfrm>
          <a:prstGeom prst="line">
            <a:avLst/>
          </a:prstGeom>
          <a:ln w="12700">
            <a:solidFill>
              <a:srgbClr val="637487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368800" y="2374900"/>
            <a:ext cx="3644900" cy="25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3100" y="2400300"/>
            <a:ext cx="3429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Hidden truth: evaluation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800" y="28194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800" y="304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29845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RF simulator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" y="33655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Dynamic emitters +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8800" y="28194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8800" y="304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4700" y="29845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Policy 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4700" y="33655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History / band selection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8800" y="28194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78800" y="3048000"/>
            <a:ext cx="38100" cy="533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700" y="29845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Paired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700" y="33655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Interception + latency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25900" y="33274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835900" y="3327400"/>
            <a:ext cx="304800" cy="0"/>
          </a:xfrm>
          <a:prstGeom prst="line">
            <a:avLst/>
          </a:prstGeom>
          <a:ln w="19050">
            <a:solidFill>
              <a:srgbClr val="245C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368800" y="3911600"/>
            <a:ext cx="70485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13 baselines + logistic hit predictor; identical seeded receiver conditions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8800" y="4330700"/>
            <a:ext cx="11049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8276"/>
                </a:solidFill>
                <a:latin typeface="Noto Sans"/>
              </a:rPr>
              <a:t>B / OFFLINE PULSE ASSOCIATION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TSRD pulse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4700" y="5181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Validate / stream / sample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6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6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8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Feature + cluster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4700" y="5181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Scaling / HDBSCAN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78800" y="4635500"/>
            <a:ext cx="3454400" cy="10033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78800" y="4864100"/>
            <a:ext cx="38100" cy="533400"/>
          </a:xfrm>
          <a:prstGeom prst="rect">
            <a:avLst/>
          </a:prstGeom>
          <a:solidFill>
            <a:srgbClr val="078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4800600"/>
            <a:ext cx="30734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B40"/>
                </a:solidFill>
                <a:latin typeface="Noto Sans"/>
              </a:rPr>
              <a:t>File-local scoring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700" y="5181600"/>
            <a:ext cx="30734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V-measure + pairwise F1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25900" y="5143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835900" y="5143500"/>
            <a:ext cx="304800" cy="0"/>
          </a:xfrm>
          <a:prstGeom prst="line">
            <a:avLst/>
          </a:prstGeom>
          <a:ln w="19050">
            <a:solidFill>
              <a:srgbClr val="07827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6600" y="5664200"/>
            <a:ext cx="0" cy="317500"/>
          </a:xfrm>
          <a:prstGeom prst="line">
            <a:avLst/>
          </a:prstGeom>
          <a:ln w="16510">
            <a:solidFill>
              <a:srgbClr val="B36D1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36600" y="5981700"/>
            <a:ext cx="3467100" cy="0"/>
          </a:xfrm>
          <a:prstGeom prst="line">
            <a:avLst/>
          </a:prstGeom>
          <a:ln w="16510">
            <a:solidFill>
              <a:srgbClr val="B36D1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368800" y="5791200"/>
            <a:ext cx="72644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36D1B"/>
                </a:solidFill>
                <a:latin typeface="Noto Sans"/>
              </a:rPr>
              <a:t>PLANNED: dataset-derived simulation calibration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8800" y="6070600"/>
            <a:ext cx="7264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Recorded scans do not reveal every alternative tuning outcome.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Evidence first. Claims kept in 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Implemented ingestion and association benchmarks; learned scheduling remains experimental.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04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260600"/>
            <a:ext cx="4889500" cy="1021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54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245CDE"/>
                </a:solidFill>
                <a:latin typeface="Noto Sans"/>
              </a:rPr>
              <a:t>233.2M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900" y="3289300"/>
            <a:ext cx="45720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scan-training pulses 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0" y="3771900"/>
            <a:ext cx="45720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2,500 files  •  chunked HDF5 processing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Bounded samples; no full-dataset RAM 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2500" y="2273300"/>
            <a:ext cx="55880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487"/>
                </a:solidFill>
                <a:latin typeface="Noto Sans"/>
              </a:rPr>
              <a:t>ASSOCIATION / PAIRWISE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25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50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500" y="2565400"/>
            <a:ext cx="381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1.0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25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550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477500" y="2768600"/>
            <a:ext cx="0" cy="1219200"/>
          </a:xfrm>
          <a:prstGeom prst="line">
            <a:avLst/>
          </a:prstGeom>
          <a:ln w="762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32500" y="27813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Raw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2500" y="3111500"/>
            <a:ext cx="806767" cy="165100"/>
          </a:xfrm>
          <a:prstGeom prst="rect">
            <a:avLst/>
          </a:prstGeom>
          <a:solidFill>
            <a:srgbClr val="B7C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42600" y="2946400"/>
            <a:ext cx="9906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0.1815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2500" y="3454400"/>
            <a:ext cx="3302000" cy="29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B40"/>
                </a:solidFill>
                <a:latin typeface="Noto Sans"/>
              </a:rPr>
              <a:t>Scaled signatures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2500" y="3784600"/>
            <a:ext cx="3609784" cy="1651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42600" y="3619500"/>
            <a:ext cx="990600" cy="360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B40"/>
                </a:solidFill>
                <a:latin typeface="Noto Sans"/>
              </a:rPr>
              <a:t>0.8121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2500" y="4165600"/>
            <a:ext cx="5588000" cy="2368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487"/>
                </a:solidFill>
                <a:latin typeface="Noto Sans"/>
              </a:rPr>
              <a:t>10 training files • 100k sampled pulses • not held-out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8800" y="4673600"/>
            <a:ext cx="11074400" cy="0"/>
          </a:xfrm>
          <a:prstGeom prst="line">
            <a:avLst/>
          </a:prstGeom>
          <a:ln w="1778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Incomplete observations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Truth-separated evaluation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Retuning excluded from targets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Scale &amp; domain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Chunked I/O + bounded sampling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Unit calibration remains open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8800" y="4953000"/>
            <a:ext cx="3492500" cy="327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2B40"/>
                </a:solidFill>
                <a:latin typeface="Noto Sans"/>
              </a:rPr>
              <a:t>Unproven policy gain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8800" y="5384800"/>
            <a:ext cx="3492500" cy="459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Constant-model ablation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Existing defaults retained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800" y="6096000"/>
            <a:ext cx="110871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36D1B"/>
                </a:solidFill>
                <a:latin typeface="Noto Sans"/>
              </a:rPr>
              <a:t>VALIDATION GATE   Learned policy remains experimental; constant-model ablation isolates the learning effect.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Optimise the trade-off. Not a single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Intended users: receiver-algorithm researchers and spectrum-system evaluation teams.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05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1206500" y="2692400"/>
            <a:ext cx="2070100" cy="242570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06500" y="5118100"/>
            <a:ext cx="4140200" cy="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3276600" y="2692400"/>
            <a:ext cx="2070100" cy="2425700"/>
          </a:xfrm>
          <a:prstGeom prst="line">
            <a:avLst/>
          </a:prstGeom>
          <a:ln w="2540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00400" y="26162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0300" y="50419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70500" y="5041900"/>
            <a:ext cx="152400" cy="152400"/>
          </a:xfrm>
          <a:prstGeom prst="ellipse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276600" y="2692400"/>
            <a:ext cx="0" cy="1498600"/>
          </a:xfrm>
          <a:prstGeom prst="line">
            <a:avLst/>
          </a:prstGeom>
          <a:ln w="10160">
            <a:solidFill>
              <a:srgbClr val="D9E2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06500" y="4191000"/>
            <a:ext cx="2070100" cy="927100"/>
          </a:xfrm>
          <a:prstGeom prst="line">
            <a:avLst/>
          </a:prstGeom>
          <a:ln w="10160">
            <a:solidFill>
              <a:srgbClr val="D9E2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3276600" y="4191000"/>
            <a:ext cx="2070100" cy="927100"/>
          </a:xfrm>
          <a:prstGeom prst="line">
            <a:avLst/>
          </a:prstGeom>
          <a:ln w="10160">
            <a:solidFill>
              <a:srgbClr val="D9E2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286000" y="4038600"/>
            <a:ext cx="2095500" cy="38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38400" y="2095500"/>
            <a:ext cx="29210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Interception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4300" y="246380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Capture more activity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800" y="5422900"/>
            <a:ext cx="22860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Discovery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8800" y="57912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Avoid neglected bands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0" y="5422900"/>
            <a:ext cx="20955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2B40"/>
                </a:solidFill>
                <a:latin typeface="Noto Sans"/>
              </a:rPr>
              <a:t>Retuning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5000" y="5791200"/>
            <a:ext cx="2159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37487"/>
                </a:solidFill>
                <a:latin typeface="Noto Sans"/>
              </a:rPr>
              <a:t>Preserve listening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62200" y="4064000"/>
            <a:ext cx="2667000" cy="3441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45CDE"/>
                </a:solidFill>
                <a:latin typeface="Noto Sans"/>
              </a:rPr>
              <a:t>Receiver budget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0700" y="24384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Earlier detection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0700" y="29083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Measure first-detection and reacquisition delay.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0700" y="35560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Repeatable experimentation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0700" y="40259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Compare policies under identical seeded conditions.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0700" y="4673600"/>
            <a:ext cx="4762500" cy="443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42B40"/>
                </a:solidFill>
                <a:latin typeface="Noto Sans"/>
              </a:rPr>
              <a:t>Controlled compute demand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0700" y="5143500"/>
            <a:ext cx="47625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</a:rPr>
              <a:t>Stream data; profile memory and decision latency.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800" y="6083300"/>
            <a:ext cx="110744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CDE"/>
                </a:solidFill>
                <a:latin typeface="Noto Sans"/>
              </a:rPr>
              <a:t>PLANNED DELIVERY   Calibration bridge  /  broader validation  /  experiment API / dashboard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304800"/>
            <a:ext cx="920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5CDE"/>
                </a:solidFill>
                <a:latin typeface="Noto Sans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14000" y="304800"/>
            <a:ext cx="1333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2B40"/>
                </a:solidFill>
                <a:latin typeface="Noto Sans"/>
              </a:rPr>
              <a:t>SIH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76300"/>
            <a:ext cx="11176000" cy="5918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16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2B40"/>
                </a:solidFill>
                <a:latin typeface="Noto Sans"/>
              </a:rPr>
              <a:t>Grounded in research. Tested independently.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511300"/>
            <a:ext cx="111125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487"/>
                </a:solidFill>
                <a:latin typeface="Noto Sans"/>
              </a:rPr>
              <a:t>References inform the methods; published scores are not presented as project results.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8800" y="6426200"/>
            <a:ext cx="110744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8800" y="6553200"/>
            <a:ext cx="5715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37487"/>
                </a:solidFill>
                <a:latin typeface="Noto Sans"/>
              </a:rPr>
              <a:t>SPECTRA SCHEDULER   /   SIH26055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3300" y="6540500"/>
            <a:ext cx="508000" cy="195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37487"/>
                </a:solidFill>
                <a:latin typeface="Noto Sans"/>
              </a:rPr>
              <a:t>06 /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885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044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203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36200" y="6604000"/>
            <a:ext cx="139700" cy="25400"/>
          </a:xfrm>
          <a:prstGeom prst="rect">
            <a:avLst/>
          </a:prstGeom>
          <a:solidFill>
            <a:srgbClr val="D9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52100" y="6604000"/>
            <a:ext cx="139700" cy="25400"/>
          </a:xfrm>
          <a:prstGeom prst="rect">
            <a:avLst/>
          </a:prstGeom>
          <a:solidFill>
            <a:srgbClr val="245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" y="22860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7000" y="22860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Benchmark foundation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07000" y="24384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45200" y="22860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4"/>
              </a:rPr>
              <a:t>The Turing Synthetic Radar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45200" y="26670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4"/>
              </a:rPr>
              <a:t>Gunn et al.  /  arXiv:2602.03856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97000" y="32385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8800" y="35052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7000" y="35052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Data &amp; evaluation contract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07000" y="36576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45200" y="35052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5"/>
              </a:rPr>
              <a:t>TSRD dataset card + challenge implementation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5200" y="38862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5"/>
              </a:rPr>
              <a:t>PDW schema, receiver modes, splits and scoring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97000" y="4457700"/>
            <a:ext cx="10236200" cy="0"/>
          </a:xfrm>
          <a:prstGeom prst="line">
            <a:avLst/>
          </a:prstGeom>
          <a:ln w="8890">
            <a:solidFill>
              <a:srgbClr val="D9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8800" y="4724400"/>
            <a:ext cx="1016000" cy="525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45CDE"/>
                </a:solidFill>
                <a:latin typeface="Noto San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7000" y="4724400"/>
            <a:ext cx="37465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</a:rPr>
              <a:t>Representation-learning research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07000" y="4876800"/>
            <a:ext cx="571500" cy="0"/>
          </a:xfrm>
          <a:prstGeom prst="line">
            <a:avLst/>
          </a:prstGeom>
          <a:ln w="16510">
            <a:solidFill>
              <a:srgbClr val="D9E2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45200" y="4724400"/>
            <a:ext cx="5588000" cy="311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2B40"/>
                </a:solidFill>
                <a:latin typeface="Noto Sans"/>
                <a:hlinkClick r:id="rId6"/>
              </a:rPr>
              <a:t>Radar Pulse Deinterleaving with Transformer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5200" y="5105400"/>
            <a:ext cx="5588000" cy="261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487"/>
                </a:solidFill>
                <a:latin typeface="Noto Sans"/>
                <a:hlinkClick r:id="rId6"/>
              </a:rPr>
              <a:t>Based Deep Metric Learning  /  arXiv:2503.13476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800" y="5994400"/>
            <a:ext cx="11112500" cy="245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487"/>
                </a:solidFill>
                <a:latin typeface="Noto Sans"/>
              </a:rPr>
              <a:t>PROJECT EVIDENCE   dataset-workflow.md  /  learning-workflow.md  /  reproducible JSON reports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Spectra Scheduler — Smart Scan Strategy</dc:title>
  <dc:subject>SIH26055 | adaptive receiver scheduling</dc:subject>
  <dc:creator>Spectra Scheduler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