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r>
              <a:t>The proposed contribution is the combination and measurable evaluation of feedback, track confidence, coverage and retuning cost, not a claim that these individual methods are new. Existing code supplies heuristic and statistical baselines; a trained ML scheduler is still planned. The receiver observes incomplete information. Neither emitter identities nor future events are available to the deployed decision path. The research scope is passive reception and software simulation, not transmission or jamming.</a:t>
            </a: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Architecture status: simulator, receiver abstraction, feature-based tracking, baseline policies and reproducible reports are implemented. Dataset ingestion and the contextual-bandit scheduler are planned. The learning objective is to improve the interception–latency trade-off while preserving discovery coverage and accounting for receiver transition costs. Candidate model complexity will be selected using validation evidence rather than assumed in advance. Training labels may supervise association on training files but cannot enter inference features. Dataset IDs are local to pulse-train files. Scan recordings support deinterleaving benchmarks; interactive simulation is required to compare alternative scheduling decisions. The periodic-scan case will receive a separate reference analysis. Rust acceleration is conditional on profiling; the architecture remains a small set of replaceable modules, not a microservice system.</a:t>
            </a: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Existing assurance methods include unit tests for emitter, receiver and tracking behaviour; integration tests for scenarios, command execution and reports; schema validation; deterministic replay; and sequential/parallel equivalence checks. Repeated seeded comparisons provide a statistical evaluation foundation. Planned validation extends this with distribution-shift stress tests, policy ablations, parameter sensitivity analysis and dataset-scale memory/latency benchmarks. Unit tests establish software correctness, not operational effectiveness. Development gates: validate HDF5 schema and units; establish pulse-association baselines; train and evaluate a contextual policy; profile and selectively accelerate; expose results through an API and analyst dashboard. Retain a periodic-scan reference case. Field validation is a separate future activity.</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The intended outcome is a reproducible platform that improves receiver-resource allocation and reduces policy-development effort. These are programme objectives, not already measured operational benefits. Acceptance requires comparison against the strongest baseline, not just a naive sweep, using identical events, receiver bandwidth, retuning constraints and held-out scenarios. Report uncertainty and scenario-specific trade-offs. Establish the decision-latency budget from the configured receiver dwell requirement and track tail latency as well as averages. Establish memory limits from available deployment resources rather than inventing a capacity claim. Improved pulse association and improved scheduling must be evaluated separately. The full metrics plan includes reward/cost, forecast correctness and intercept-time error in addition to existing interception and association reporting.</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Primary research sources: https://arxiv.org/abs/2602.03856 ; https://huggingface.co/datasets/alan-turing-institute/turing-synthetic-radar-dataset ; https://github.com/alan-turing-institute/turing-deinterleaving-challenge ; https://arxiv.org/abs/2503.13476 . Problem source: https://sih.gov.in/sih2026PS (unavailable during preparation); accessible copy: https://sih2026.vuce.in/ps/SIH26055 . Exact theme requires portal confirmation because public mirrors disagree. Local implementation evidence: README.md, docs/implementation-notes.md and src/spectra_scheduler. The dataset is synthetic, not a real operational recording; its deinterleaving scores do not establish scheduling effectiveness.</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ID and registered team name intentionally left blank. Confirm the theme and exact title against the official SIH portal before submission. Community and college mirrors agree on the title and DRDO attribution, but disagree on the theme. The official page could not be retrieved. Scope: a student software simulation and research prototype, not an operationally validated system.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hyperlink" Target="https://arxiv.org/abs/2602.03856" TargetMode="External"/><Relationship Id="rId5" Type="http://schemas.openxmlformats.org/officeDocument/2006/relationships/hyperlink" Target="https://huggingface.co/datasets/alan-turing-institute/turing-synthetic-radar-dataset" TargetMode="External"/><Relationship Id="rId6" Type="http://schemas.openxmlformats.org/officeDocument/2006/relationships/hyperlink" Target="https://github.com/alan-turing-institute/turing-deinterleaving-challenge" TargetMode="External"/><Relationship Id="rId7" Type="http://schemas.openxmlformats.org/officeDocument/2006/relationships/hyperlink" Target="https://arxiv.org/abs/2503.13476" TargetMode="External"/><Relationship Id="rId8" Type="http://schemas.openxmlformats.org/officeDocument/2006/relationships/hyperlink" Target="https://sih.gov.in/sih2026PS" TargetMode="External"/><Relationship Id="rId9" Type="http://schemas.openxmlformats.org/officeDocument/2006/relationships/hyperlink" Target="https://sih2026.vuce.in/ps/SIH2605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8" name="TextBox 37"/>
          <p:cNvSpPr txBox="1"/>
          <p:nvPr/>
        </p:nvSpPr>
        <p:spPr>
          <a:xfrm>
            <a:off x="530352" y="347472"/>
            <a:ext cx="8686800" cy="548640"/>
          </a:xfrm>
          <a:prstGeom prst="rect">
            <a:avLst/>
          </a:prstGeom>
          <a:noFill/>
        </p:spPr>
        <p:txBody>
          <a:bodyPr wrap="none" lIns="0" rIns="0" tIns="0" bIns="0" anchor="t">
            <a:noAutofit/>
          </a:bodyPr>
          <a:lstStyle/>
          <a:p>
            <a:pPr>
              <a:lnSpc>
                <a:spcPts val="3415"/>
              </a:lnSpc>
              <a:spcBef>
                <a:spcPts val="0"/>
              </a:spcBef>
              <a:spcAft>
                <a:spcPts val="0"/>
              </a:spcAft>
            </a:pPr>
            <a:r>
              <a:rPr sz="2800" b="1">
                <a:solidFill>
                  <a:srgbClr val="17344B"/>
                </a:solidFill>
                <a:latin typeface="Liberation Serif"/>
              </a:rPr>
              <a:t>SMART INDIA HACKATHON 2026</a:t>
            </a:r>
          </a:p>
        </p:txBody>
      </p:sp>
      <p:sp>
        <p:nvSpPr>
          <p:cNvPr id="39" name="TextBox 38"/>
          <p:cNvSpPr txBox="1"/>
          <p:nvPr/>
        </p:nvSpPr>
        <p:spPr>
          <a:xfrm>
            <a:off x="530352" y="1307592"/>
            <a:ext cx="6492240" cy="576072"/>
          </a:xfrm>
          <a:prstGeom prst="rect">
            <a:avLst/>
          </a:prstGeom>
          <a:noFill/>
        </p:spPr>
        <p:txBody>
          <a:bodyPr wrap="none" lIns="0" rIns="0" tIns="0" bIns="0" anchor="t">
            <a:noAutofit/>
          </a:bodyPr>
          <a:lstStyle/>
          <a:p>
            <a:pPr>
              <a:lnSpc>
                <a:spcPts val="4026"/>
              </a:lnSpc>
              <a:spcBef>
                <a:spcPts val="0"/>
              </a:spcBef>
              <a:spcAft>
                <a:spcPts val="0"/>
              </a:spcAft>
            </a:pPr>
            <a:r>
              <a:rPr sz="3300" b="1">
                <a:solidFill>
                  <a:srgbClr val="0070C0"/>
                </a:solidFill>
                <a:latin typeface="Liberation Sans"/>
              </a:rPr>
              <a:t>SPECTRA SCHEDULER</a:t>
            </a:r>
          </a:p>
        </p:txBody>
      </p:sp>
      <p:sp>
        <p:nvSpPr>
          <p:cNvPr id="40" name="TextBox 39"/>
          <p:cNvSpPr txBox="1"/>
          <p:nvPr/>
        </p:nvSpPr>
        <p:spPr>
          <a:xfrm>
            <a:off x="548640" y="1965960"/>
            <a:ext cx="5943600" cy="685800"/>
          </a:xfrm>
          <a:prstGeom prst="rect">
            <a:avLst/>
          </a:prstGeom>
          <a:noFill/>
        </p:spPr>
        <p:txBody>
          <a:bodyPr wrap="none" lIns="0" rIns="0" tIns="0" bIns="0" anchor="t">
            <a:noAutofit/>
          </a:bodyPr>
          <a:lstStyle/>
          <a:p>
            <a:pPr>
              <a:lnSpc>
                <a:spcPts val="2562"/>
              </a:lnSpc>
              <a:spcBef>
                <a:spcPts val="0"/>
              </a:spcBef>
              <a:spcAft>
                <a:spcPts val="0"/>
              </a:spcAft>
            </a:pPr>
            <a:r>
              <a:rPr sz="2100" b="0">
                <a:solidFill>
                  <a:srgbClr val="526574"/>
                </a:solidFill>
                <a:latin typeface="Liberation Sans"/>
              </a:rPr>
              <a:t>Cognitive spectrum management</a:t>
            </a:r>
          </a:p>
          <a:p>
            <a:pPr>
              <a:lnSpc>
                <a:spcPts val="2562"/>
              </a:lnSpc>
              <a:spcBef>
                <a:spcPts val="0"/>
              </a:spcBef>
              <a:spcAft>
                <a:spcPts val="0"/>
              </a:spcAft>
            </a:pPr>
            <a:r>
              <a:rPr sz="2100" b="0">
                <a:solidFill>
                  <a:srgbClr val="526574"/>
                </a:solidFill>
                <a:latin typeface="Liberation Sans"/>
              </a:rPr>
              <a:t>ML-driven receiver scheduling — proposed</a:t>
            </a:r>
          </a:p>
        </p:txBody>
      </p:sp>
      <p:sp>
        <p:nvSpPr>
          <p:cNvPr id="41" name="TextBox 40"/>
          <p:cNvSpPr txBox="1"/>
          <p:nvPr/>
        </p:nvSpPr>
        <p:spPr>
          <a:xfrm>
            <a:off x="548640" y="2926080"/>
            <a:ext cx="6080760" cy="320040"/>
          </a:xfrm>
          <a:prstGeom prst="rect">
            <a:avLst/>
          </a:prstGeom>
          <a:noFill/>
        </p:spPr>
        <p:txBody>
          <a:bodyPr wrap="none" lIns="0" rIns="0" tIns="0" bIns="0" anchor="t">
            <a:noAutofit/>
          </a:bodyPr>
          <a:lstStyle/>
          <a:p>
            <a:pPr>
              <a:lnSpc>
                <a:spcPts val="2318"/>
              </a:lnSpc>
              <a:spcBef>
                <a:spcPts val="0"/>
              </a:spcBef>
              <a:spcAft>
                <a:spcPts val="0"/>
              </a:spcAft>
            </a:pPr>
            <a:r>
              <a:rPr sz="1900" b="1">
                <a:solidFill>
                  <a:srgbClr val="17344B"/>
                </a:solidFill>
                <a:latin typeface="Liberation Sans"/>
              </a:rPr>
              <a:t>Problem Statement ID: SIH26055</a:t>
            </a:r>
          </a:p>
        </p:txBody>
      </p:sp>
      <p:sp>
        <p:nvSpPr>
          <p:cNvPr id="42" name="TextBox 41"/>
          <p:cNvSpPr txBox="1"/>
          <p:nvPr/>
        </p:nvSpPr>
        <p:spPr>
          <a:xfrm>
            <a:off x="548640" y="3447288"/>
            <a:ext cx="6080760" cy="292608"/>
          </a:xfrm>
          <a:prstGeom prst="rect">
            <a:avLst/>
          </a:prstGeom>
          <a:noFill/>
        </p:spPr>
        <p:txBody>
          <a:bodyPr wrap="none" lIns="0" rIns="0" tIns="0" bIns="0" anchor="t">
            <a:noAutofit/>
          </a:bodyPr>
          <a:lstStyle/>
          <a:p>
            <a:pPr>
              <a:lnSpc>
                <a:spcPts val="1830"/>
              </a:lnSpc>
              <a:spcBef>
                <a:spcPts val="0"/>
              </a:spcBef>
              <a:spcAft>
                <a:spcPts val="0"/>
              </a:spcAft>
            </a:pPr>
            <a:r>
              <a:rPr sz="1500" b="1">
                <a:solidFill>
                  <a:srgbClr val="526574"/>
                </a:solidFill>
                <a:latin typeface="Liberation Sans"/>
              </a:rPr>
              <a:t>Problem Statement Title</a:t>
            </a:r>
          </a:p>
        </p:txBody>
      </p:sp>
      <p:sp>
        <p:nvSpPr>
          <p:cNvPr id="43" name="TextBox 42"/>
          <p:cNvSpPr txBox="1"/>
          <p:nvPr/>
        </p:nvSpPr>
        <p:spPr>
          <a:xfrm>
            <a:off x="548640" y="3776472"/>
            <a:ext cx="6126480" cy="713232"/>
          </a:xfrm>
          <a:prstGeom prst="rect">
            <a:avLst/>
          </a:prstGeom>
          <a:noFill/>
        </p:spPr>
        <p:txBody>
          <a:bodyPr wrap="none" lIns="0" rIns="0" tIns="0" bIns="0" anchor="t">
            <a:noAutofit/>
          </a:bodyPr>
          <a:lstStyle/>
          <a:p>
            <a:pPr>
              <a:lnSpc>
                <a:spcPts val="2806"/>
              </a:lnSpc>
              <a:spcBef>
                <a:spcPts val="0"/>
              </a:spcBef>
              <a:spcAft>
                <a:spcPts val="0"/>
              </a:spcAft>
            </a:pPr>
            <a:r>
              <a:rPr sz="2300" b="1">
                <a:solidFill>
                  <a:srgbClr val="17344B"/>
                </a:solidFill>
                <a:latin typeface="Liberation Sans"/>
              </a:rPr>
              <a:t>Smart Scan strategy for</a:t>
            </a:r>
          </a:p>
          <a:p>
            <a:pPr>
              <a:lnSpc>
                <a:spcPts val="2806"/>
              </a:lnSpc>
              <a:spcBef>
                <a:spcPts val="0"/>
              </a:spcBef>
              <a:spcAft>
                <a:spcPts val="0"/>
              </a:spcAft>
            </a:pPr>
            <a:r>
              <a:rPr sz="2300" b="1">
                <a:solidFill>
                  <a:srgbClr val="17344B"/>
                </a:solidFill>
                <a:latin typeface="Liberation Sans"/>
              </a:rPr>
              <a:t>Electronic Warfare</a:t>
            </a:r>
          </a:p>
        </p:txBody>
      </p:sp>
      <p:sp>
        <p:nvSpPr>
          <p:cNvPr id="44" name="TextBox 43"/>
          <p:cNvSpPr txBox="1"/>
          <p:nvPr/>
        </p:nvSpPr>
        <p:spPr>
          <a:xfrm>
            <a:off x="548640" y="4690872"/>
            <a:ext cx="6080760" cy="320040"/>
          </a:xfrm>
          <a:prstGeom prst="rect">
            <a:avLst/>
          </a:prstGeom>
          <a:noFill/>
        </p:spPr>
        <p:txBody>
          <a:bodyPr wrap="none" lIns="0" rIns="0" tIns="0" bIns="0" anchor="t">
            <a:noAutofit/>
          </a:bodyPr>
          <a:lstStyle/>
          <a:p>
            <a:pPr>
              <a:lnSpc>
                <a:spcPts val="2074"/>
              </a:lnSpc>
              <a:spcBef>
                <a:spcPts val="0"/>
              </a:spcBef>
              <a:spcAft>
                <a:spcPts val="0"/>
              </a:spcAft>
            </a:pPr>
            <a:r>
              <a:rPr sz="1700" b="0">
                <a:solidFill>
                  <a:srgbClr val="17344B"/>
                </a:solidFill>
                <a:latin typeface="Liberation Sans"/>
              </a:rPr>
              <a:t>PS Category: Software  |  Organisation: DRDO</a:t>
            </a:r>
          </a:p>
        </p:txBody>
      </p:sp>
      <p:sp>
        <p:nvSpPr>
          <p:cNvPr id="45" name="TextBox 44"/>
          <p:cNvSpPr txBox="1"/>
          <p:nvPr/>
        </p:nvSpPr>
        <p:spPr>
          <a:xfrm>
            <a:off x="548640" y="5212080"/>
            <a:ext cx="6217920" cy="320040"/>
          </a:xfrm>
          <a:prstGeom prst="rect">
            <a:avLst/>
          </a:prstGeom>
          <a:noFill/>
        </p:spPr>
        <p:txBody>
          <a:bodyPr wrap="none" lIns="0" rIns="0" tIns="0" bIns="0" anchor="t">
            <a:noAutofit/>
          </a:bodyPr>
          <a:lstStyle/>
          <a:p>
            <a:pPr>
              <a:lnSpc>
                <a:spcPts val="2074"/>
              </a:lnSpc>
              <a:spcBef>
                <a:spcPts val="0"/>
              </a:spcBef>
              <a:spcAft>
                <a:spcPts val="0"/>
              </a:spcAft>
            </a:pPr>
            <a:r>
              <a:rPr sz="1700" b="0">
                <a:solidFill>
                  <a:srgbClr val="526574"/>
                </a:solidFill>
                <a:latin typeface="Liberation Sans"/>
              </a:rPr>
              <a:t>Theme: [Confirm exact portal category]</a:t>
            </a:r>
          </a:p>
        </p:txBody>
      </p:sp>
      <p:sp>
        <p:nvSpPr>
          <p:cNvPr id="46" name="TextBox 45"/>
          <p:cNvSpPr txBox="1"/>
          <p:nvPr/>
        </p:nvSpPr>
        <p:spPr>
          <a:xfrm>
            <a:off x="548640" y="5742432"/>
            <a:ext cx="6080760" cy="301752"/>
          </a:xfrm>
          <a:prstGeom prst="rect">
            <a:avLst/>
          </a:prstGeom>
          <a:noFill/>
        </p:spPr>
        <p:txBody>
          <a:bodyPr wrap="none" lIns="0" rIns="0" tIns="0" bIns="0" anchor="t">
            <a:noAutofit/>
          </a:bodyPr>
          <a:lstStyle/>
          <a:p>
            <a:pPr>
              <a:lnSpc>
                <a:spcPts val="2074"/>
              </a:lnSpc>
              <a:spcBef>
                <a:spcPts val="0"/>
              </a:spcBef>
              <a:spcAft>
                <a:spcPts val="0"/>
              </a:spcAft>
            </a:pPr>
            <a:r>
              <a:rPr sz="1700" b="0">
                <a:solidFill>
                  <a:srgbClr val="17344B"/>
                </a:solidFill>
                <a:latin typeface="Liberation Sans"/>
              </a:rPr>
              <a:t>Team ID: __________________________</a:t>
            </a:r>
          </a:p>
        </p:txBody>
      </p:sp>
      <p:sp>
        <p:nvSpPr>
          <p:cNvPr id="47" name="TextBox 46"/>
          <p:cNvSpPr txBox="1"/>
          <p:nvPr/>
        </p:nvSpPr>
        <p:spPr>
          <a:xfrm>
            <a:off x="548640" y="6208776"/>
            <a:ext cx="6766560" cy="310896"/>
          </a:xfrm>
          <a:prstGeom prst="rect">
            <a:avLst/>
          </a:prstGeom>
          <a:noFill/>
        </p:spPr>
        <p:txBody>
          <a:bodyPr wrap="none" lIns="0" rIns="0" tIns="0" bIns="0" anchor="t">
            <a:noAutofit/>
          </a:bodyPr>
          <a:lstStyle/>
          <a:p>
            <a:pPr>
              <a:lnSpc>
                <a:spcPts val="2074"/>
              </a:lnSpc>
              <a:spcBef>
                <a:spcPts val="0"/>
              </a:spcBef>
              <a:spcAft>
                <a:spcPts val="0"/>
              </a:spcAft>
            </a:pPr>
            <a:r>
              <a:rPr sz="1700" b="0">
                <a:solidFill>
                  <a:srgbClr val="17344B"/>
                </a:solidFill>
                <a:latin typeface="Liberation Sans"/>
              </a:rPr>
              <a:t>Team Name (registered): __________________</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2" name="TextBox 11"/>
          <p:cNvSpPr txBox="1"/>
          <p:nvPr/>
        </p:nvSpPr>
        <p:spPr>
          <a:xfrm>
            <a:off x="530352" y="320040"/>
            <a:ext cx="1371600" cy="320040"/>
          </a:xfrm>
          <a:prstGeom prst="rect">
            <a:avLst/>
          </a:prstGeom>
          <a:noFill/>
        </p:spPr>
        <p:txBody>
          <a:bodyPr wrap="none" lIns="0" rIns="0" tIns="0" bIns="0" anchor="t">
            <a:noAutofit/>
          </a:bodyPr>
          <a:lstStyle/>
          <a:p>
            <a:pPr>
              <a:lnSpc>
                <a:spcPts val="1830"/>
              </a:lnSpc>
              <a:spcBef>
                <a:spcPts val="0"/>
              </a:spcBef>
              <a:spcAft>
                <a:spcPts val="0"/>
              </a:spcAft>
            </a:pPr>
            <a:r>
              <a:rPr sz="1500" b="1">
                <a:solidFill>
                  <a:srgbClr val="0070C0"/>
                </a:solidFill>
                <a:latin typeface="Liberation Sans"/>
              </a:rPr>
              <a:t>SIH26055</a:t>
            </a:r>
          </a:p>
        </p:txBody>
      </p:sp>
      <p:sp>
        <p:nvSpPr>
          <p:cNvPr id="13" name="TextBox 12"/>
          <p:cNvSpPr txBox="1"/>
          <p:nvPr/>
        </p:nvSpPr>
        <p:spPr>
          <a:xfrm>
            <a:off x="1965960" y="429768"/>
            <a:ext cx="7726679" cy="548640"/>
          </a:xfrm>
          <a:prstGeom prst="rect">
            <a:avLst/>
          </a:prstGeom>
          <a:noFill/>
        </p:spPr>
        <p:txBody>
          <a:bodyPr wrap="none" lIns="0" rIns="0" tIns="0" bIns="0" anchor="t">
            <a:noAutofit/>
          </a:bodyPr>
          <a:lstStyle/>
          <a:p>
            <a:pPr>
              <a:lnSpc>
                <a:spcPts val="3294"/>
              </a:lnSpc>
              <a:spcBef>
                <a:spcPts val="0"/>
              </a:spcBef>
              <a:spcAft>
                <a:spcPts val="0"/>
              </a:spcAft>
            </a:pPr>
            <a:r>
              <a:rPr sz="2700" b="1">
                <a:solidFill>
                  <a:srgbClr val="17344B"/>
                </a:solidFill>
                <a:latin typeface="Liberation Serif"/>
              </a:rPr>
              <a:t>IDEA TITLE</a:t>
            </a:r>
          </a:p>
        </p:txBody>
      </p:sp>
      <p:sp>
        <p:nvSpPr>
          <p:cNvPr id="14" name="TextBox 13"/>
          <p:cNvSpPr txBox="1"/>
          <p:nvPr/>
        </p:nvSpPr>
        <p:spPr>
          <a:xfrm>
            <a:off x="530352" y="6483096"/>
            <a:ext cx="3383280" cy="228600"/>
          </a:xfrm>
          <a:prstGeom prst="rect">
            <a:avLst/>
          </a:prstGeom>
          <a:noFill/>
        </p:spPr>
        <p:txBody>
          <a:bodyPr wrap="none" lIns="0" rIns="0" tIns="0" bIns="0" anchor="t">
            <a:noAutofit/>
          </a:bodyPr>
          <a:lstStyle/>
          <a:p>
            <a:pPr>
              <a:lnSpc>
                <a:spcPts val="1342"/>
              </a:lnSpc>
              <a:spcBef>
                <a:spcPts val="0"/>
              </a:spcBef>
              <a:spcAft>
                <a:spcPts val="0"/>
              </a:spcAft>
            </a:pPr>
            <a:r>
              <a:rPr sz="1100" b="1">
                <a:solidFill>
                  <a:srgbClr val="FFFFFF"/>
                </a:solidFill>
                <a:latin typeface="Liberation Sans"/>
              </a:rPr>
              <a:t>SPECTRA SCHEDULER</a:t>
            </a:r>
          </a:p>
        </p:txBody>
      </p:sp>
      <p:sp>
        <p:nvSpPr>
          <p:cNvPr id="15" name="TextBox 14"/>
          <p:cNvSpPr txBox="1"/>
          <p:nvPr/>
        </p:nvSpPr>
        <p:spPr>
          <a:xfrm>
            <a:off x="4590288" y="6483096"/>
            <a:ext cx="4389120" cy="228600"/>
          </a:xfrm>
          <a:prstGeom prst="rect">
            <a:avLst/>
          </a:prstGeom>
          <a:noFill/>
        </p:spPr>
        <p:txBody>
          <a:bodyPr wrap="none" lIns="0" rIns="0" tIns="0" bIns="0" anchor="t">
            <a:noAutofit/>
          </a:bodyPr>
          <a:lstStyle/>
          <a:p>
            <a:pPr>
              <a:lnSpc>
                <a:spcPts val="1342"/>
              </a:lnSpc>
              <a:spcBef>
                <a:spcPts val="0"/>
              </a:spcBef>
              <a:spcAft>
                <a:spcPts val="0"/>
              </a:spcAft>
            </a:pPr>
            <a:r>
              <a:rPr sz="1100" b="0">
                <a:solidFill>
                  <a:srgbClr val="FFFFFF"/>
                </a:solidFill>
                <a:latin typeface="Liberation Sans"/>
              </a:rPr>
              <a:t>@SIH Idea submission- Template</a:t>
            </a:r>
          </a:p>
        </p:txBody>
      </p:sp>
      <p:sp>
        <p:nvSpPr>
          <p:cNvPr id="16" name="TextBox 15"/>
          <p:cNvSpPr txBox="1"/>
          <p:nvPr/>
        </p:nvSpPr>
        <p:spPr>
          <a:xfrm>
            <a:off x="11384280" y="6483096"/>
            <a:ext cx="320040" cy="228600"/>
          </a:xfrm>
          <a:prstGeom prst="rect">
            <a:avLst/>
          </a:prstGeom>
          <a:noFill/>
        </p:spPr>
        <p:txBody>
          <a:bodyPr wrap="none" lIns="0" rIns="0" tIns="0" bIns="0" anchor="t">
            <a:noAutofit/>
          </a:bodyPr>
          <a:lstStyle/>
          <a:p>
            <a:pPr>
              <a:lnSpc>
                <a:spcPts val="1342"/>
              </a:lnSpc>
              <a:spcBef>
                <a:spcPts val="0"/>
              </a:spcBef>
              <a:spcAft>
                <a:spcPts val="0"/>
              </a:spcAft>
            </a:pPr>
            <a:r>
              <a:rPr sz="1100" b="1">
                <a:solidFill>
                  <a:srgbClr val="FFFFFF"/>
                </a:solidFill>
                <a:latin typeface="Liberation Sans"/>
              </a:rPr>
              <a:t>2</a:t>
            </a:r>
          </a:p>
        </p:txBody>
      </p:sp>
      <p:cxnSp>
        <p:nvCxnSpPr>
          <p:cNvPr id="17" name="Connector 16"/>
          <p:cNvCxnSpPr/>
          <p:nvPr/>
        </p:nvCxnSpPr>
        <p:spPr>
          <a:xfrm>
            <a:off x="530352" y="1161288"/>
            <a:ext cx="11128248" cy="0"/>
          </a:xfrm>
          <a:prstGeom prst="line">
            <a:avLst/>
          </a:prstGeom>
          <a:ln w="12700">
            <a:solidFill>
              <a:srgbClr val="D4E2E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1353312"/>
            <a:ext cx="11064240" cy="457200"/>
          </a:xfrm>
          <a:prstGeom prst="rect">
            <a:avLst/>
          </a:prstGeom>
          <a:noFill/>
        </p:spPr>
        <p:txBody>
          <a:bodyPr wrap="none" lIns="0" rIns="0" tIns="0" bIns="0" anchor="t">
            <a:noAutofit/>
          </a:bodyPr>
          <a:lstStyle/>
          <a:p>
            <a:pPr>
              <a:lnSpc>
                <a:spcPts val="3050"/>
              </a:lnSpc>
              <a:spcBef>
                <a:spcPts val="0"/>
              </a:spcBef>
              <a:spcAft>
                <a:spcPts val="0"/>
              </a:spcAft>
            </a:pPr>
            <a:r>
              <a:rPr sz="2500" b="1">
                <a:solidFill>
                  <a:srgbClr val="17344B"/>
                </a:solidFill>
                <a:latin typeface="Liberation Sans"/>
              </a:rPr>
              <a:t>Spectra Scheduler: confidence-aware adaptive scanning</a:t>
            </a:r>
          </a:p>
        </p:txBody>
      </p:sp>
      <p:sp>
        <p:nvSpPr>
          <p:cNvPr id="19" name="TextBox 18"/>
          <p:cNvSpPr txBox="1"/>
          <p:nvPr/>
        </p:nvSpPr>
        <p:spPr>
          <a:xfrm>
            <a:off x="548640" y="1901952"/>
            <a:ext cx="11064240" cy="594360"/>
          </a:xfrm>
          <a:prstGeom prst="rect">
            <a:avLst/>
          </a:prstGeom>
          <a:noFill/>
        </p:spPr>
        <p:txBody>
          <a:bodyPr wrap="none" lIns="0" rIns="0" tIns="0" bIns="0" anchor="t">
            <a:noAutofit/>
          </a:bodyPr>
          <a:lstStyle/>
          <a:p>
            <a:pPr>
              <a:lnSpc>
                <a:spcPts val="2196"/>
              </a:lnSpc>
              <a:spcBef>
                <a:spcPts val="0"/>
              </a:spcBef>
              <a:spcAft>
                <a:spcPts val="0"/>
              </a:spcAft>
            </a:pPr>
            <a:r>
              <a:rPr sz="1800" b="0">
                <a:solidFill>
                  <a:srgbClr val="526574"/>
                </a:solidFill>
                <a:latin typeface="Liberation Sans"/>
              </a:rPr>
              <a:t>Proposed solution: closed-loop spectrum scheduling that combines online learning,</a:t>
            </a:r>
          </a:p>
          <a:p>
            <a:pPr>
              <a:lnSpc>
                <a:spcPts val="2196"/>
              </a:lnSpc>
              <a:spcBef>
                <a:spcPts val="0"/>
              </a:spcBef>
              <a:spcAft>
                <a:spcPts val="0"/>
              </a:spcAft>
            </a:pPr>
            <a:r>
              <a:rPr sz="1800" b="0">
                <a:solidFill>
                  <a:srgbClr val="526574"/>
                </a:solidFill>
                <a:latin typeface="Liberation Sans"/>
              </a:rPr>
              <a:t>pulse association and receiver constraints to optimise frequency–time allocation.</a:t>
            </a:r>
          </a:p>
        </p:txBody>
      </p:sp>
      <p:sp>
        <p:nvSpPr>
          <p:cNvPr id="20" name="Rectangle 19"/>
          <p:cNvSpPr/>
          <p:nvPr/>
        </p:nvSpPr>
        <p:spPr>
          <a:xfrm>
            <a:off x="548640" y="2706624"/>
            <a:ext cx="3520440" cy="2286000"/>
          </a:xfrm>
          <a:prstGeom prst="rect">
            <a:avLst/>
          </a:prstGeom>
          <a:solidFill>
            <a:srgbClr val="ED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2706624"/>
            <a:ext cx="41148" cy="228600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2852928"/>
            <a:ext cx="3209544" cy="548640"/>
          </a:xfrm>
          <a:prstGeom prst="rect">
            <a:avLst/>
          </a:prstGeom>
          <a:noFill/>
        </p:spPr>
        <p:txBody>
          <a:bodyPr wrap="none" lIns="0" rIns="0" tIns="0" bIns="0" anchor="t">
            <a:noAutofit/>
          </a:bodyPr>
          <a:lstStyle/>
          <a:p>
            <a:pPr>
              <a:lnSpc>
                <a:spcPts val="2074"/>
              </a:lnSpc>
              <a:spcBef>
                <a:spcPts val="0"/>
              </a:spcBef>
              <a:spcAft>
                <a:spcPts val="0"/>
              </a:spcAft>
            </a:pPr>
            <a:r>
              <a:rPr sz="1700" b="1">
                <a:solidFill>
                  <a:srgbClr val="0070C0"/>
                </a:solidFill>
                <a:latin typeface="Liberation Sans"/>
              </a:rPr>
              <a:t>Detailed explanation</a:t>
            </a:r>
          </a:p>
          <a:p>
            <a:pPr>
              <a:lnSpc>
                <a:spcPts val="2074"/>
              </a:lnSpc>
              <a:spcBef>
                <a:spcPts val="0"/>
              </a:spcBef>
              <a:spcAft>
                <a:spcPts val="0"/>
              </a:spcAft>
            </a:pPr>
            <a:r>
              <a:rPr sz="1700" b="1">
                <a:solidFill>
                  <a:srgbClr val="0070C0"/>
                </a:solidFill>
                <a:latin typeface="Liberation Sans"/>
              </a:rPr>
              <a:t>of the proposed solution</a:t>
            </a:r>
          </a:p>
        </p:txBody>
      </p:sp>
      <p:sp>
        <p:nvSpPr>
          <p:cNvPr id="23" name="TextBox 22"/>
          <p:cNvSpPr txBox="1"/>
          <p:nvPr/>
        </p:nvSpPr>
        <p:spPr>
          <a:xfrm>
            <a:off x="713232" y="3511296"/>
            <a:ext cx="3200400" cy="1417320"/>
          </a:xfrm>
          <a:prstGeom prst="rect">
            <a:avLst/>
          </a:prstGeom>
          <a:noFill/>
        </p:spPr>
        <p:txBody>
          <a:bodyPr wrap="none" lIns="0" rIns="0" tIns="0" bIns="0" anchor="t">
            <a:noAutofit/>
          </a:bodyPr>
          <a:lstStyle/>
          <a:p>
            <a:pPr>
              <a:lnSpc>
                <a:spcPts val="1952"/>
              </a:lnSpc>
              <a:spcBef>
                <a:spcPts val="0"/>
              </a:spcBef>
              <a:spcAft>
                <a:spcPts val="0"/>
              </a:spcAft>
            </a:pPr>
            <a:r>
              <a:rPr sz="1600" b="0">
                <a:solidFill>
                  <a:srgbClr val="17344B"/>
                </a:solidFill>
                <a:latin typeface="Liberation Sans"/>
              </a:rPr>
              <a:t>Stochastic RF environment model.</a:t>
            </a:r>
          </a:p>
          <a:p>
            <a:pPr>
              <a:lnSpc>
                <a:spcPts val="1952"/>
              </a:lnSpc>
              <a:spcBef>
                <a:spcPts val="0"/>
              </a:spcBef>
              <a:spcAft>
                <a:spcPts val="0"/>
              </a:spcAft>
            </a:pPr>
            <a:r>
              <a:rPr sz="1600" b="0">
                <a:solidFill>
                  <a:srgbClr val="17344B"/>
                </a:solidFill>
                <a:latin typeface="Liberation Sans"/>
              </a:rPr>
              <a:t>Pulse descriptor association.</a:t>
            </a:r>
          </a:p>
          <a:p>
            <a:pPr>
              <a:lnSpc>
                <a:spcPts val="1952"/>
              </a:lnSpc>
              <a:spcBef>
                <a:spcPts val="0"/>
              </a:spcBef>
              <a:spcAft>
                <a:spcPts val="0"/>
              </a:spcAft>
            </a:pPr>
            <a:r>
              <a:rPr sz="1600" b="0">
                <a:solidFill>
                  <a:srgbClr val="17344B"/>
                </a:solidFill>
                <a:latin typeface="Liberation Sans"/>
              </a:rPr>
              <a:t>Contextual learning from feedback.</a:t>
            </a:r>
          </a:p>
          <a:p>
            <a:pPr>
              <a:lnSpc>
                <a:spcPts val="1952"/>
              </a:lnSpc>
              <a:spcBef>
                <a:spcPts val="0"/>
              </a:spcBef>
              <a:spcAft>
                <a:spcPts val="0"/>
              </a:spcAft>
            </a:pPr>
            <a:r>
              <a:rPr sz="1600" b="0">
                <a:solidFill>
                  <a:srgbClr val="17344B"/>
                </a:solidFill>
                <a:latin typeface="Liberation Sans"/>
              </a:rPr>
              <a:t>Adaptive band and dwell selection.</a:t>
            </a:r>
          </a:p>
        </p:txBody>
      </p:sp>
      <p:sp>
        <p:nvSpPr>
          <p:cNvPr id="24" name="Rectangle 23"/>
          <p:cNvSpPr/>
          <p:nvPr/>
        </p:nvSpPr>
        <p:spPr>
          <a:xfrm>
            <a:off x="4325112" y="2706624"/>
            <a:ext cx="3520440" cy="2286000"/>
          </a:xfrm>
          <a:prstGeom prst="rect">
            <a:avLst/>
          </a:prstGeom>
          <a:solidFill>
            <a:srgbClr val="ED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25112" y="2706624"/>
            <a:ext cx="41148" cy="228600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89704" y="2852928"/>
            <a:ext cx="3209544" cy="548640"/>
          </a:xfrm>
          <a:prstGeom prst="rect">
            <a:avLst/>
          </a:prstGeom>
          <a:noFill/>
        </p:spPr>
        <p:txBody>
          <a:bodyPr wrap="none" lIns="0" rIns="0" tIns="0" bIns="0" anchor="t">
            <a:noAutofit/>
          </a:bodyPr>
          <a:lstStyle/>
          <a:p>
            <a:pPr>
              <a:lnSpc>
                <a:spcPts val="2074"/>
              </a:lnSpc>
              <a:spcBef>
                <a:spcPts val="0"/>
              </a:spcBef>
              <a:spcAft>
                <a:spcPts val="0"/>
              </a:spcAft>
            </a:pPr>
            <a:r>
              <a:rPr sz="1700" b="1">
                <a:solidFill>
                  <a:srgbClr val="0070C0"/>
                </a:solidFill>
                <a:latin typeface="Liberation Sans"/>
              </a:rPr>
              <a:t>How it addresses</a:t>
            </a:r>
          </a:p>
          <a:p>
            <a:pPr>
              <a:lnSpc>
                <a:spcPts val="2074"/>
              </a:lnSpc>
              <a:spcBef>
                <a:spcPts val="0"/>
              </a:spcBef>
              <a:spcAft>
                <a:spcPts val="0"/>
              </a:spcAft>
            </a:pPr>
            <a:r>
              <a:rPr sz="1700" b="1">
                <a:solidFill>
                  <a:srgbClr val="0070C0"/>
                </a:solidFill>
                <a:latin typeface="Liberation Sans"/>
              </a:rPr>
              <a:t>the problem</a:t>
            </a:r>
          </a:p>
        </p:txBody>
      </p:sp>
      <p:sp>
        <p:nvSpPr>
          <p:cNvPr id="27" name="TextBox 26"/>
          <p:cNvSpPr txBox="1"/>
          <p:nvPr/>
        </p:nvSpPr>
        <p:spPr>
          <a:xfrm>
            <a:off x="4489704" y="3511296"/>
            <a:ext cx="3200400" cy="1417320"/>
          </a:xfrm>
          <a:prstGeom prst="rect">
            <a:avLst/>
          </a:prstGeom>
          <a:noFill/>
        </p:spPr>
        <p:txBody>
          <a:bodyPr wrap="none" lIns="0" rIns="0" tIns="0" bIns="0" anchor="t">
            <a:noAutofit/>
          </a:bodyPr>
          <a:lstStyle/>
          <a:p>
            <a:pPr>
              <a:lnSpc>
                <a:spcPts val="1952"/>
              </a:lnSpc>
              <a:spcBef>
                <a:spcPts val="0"/>
              </a:spcBef>
              <a:spcAft>
                <a:spcPts val="0"/>
              </a:spcAft>
            </a:pPr>
            <a:r>
              <a:rPr sz="1600" b="0">
                <a:solidFill>
                  <a:srgbClr val="17344B"/>
                </a:solidFill>
                <a:latin typeface="Liberation Sans"/>
              </a:rPr>
              <a:t>Reduce time to first interception.</a:t>
            </a:r>
          </a:p>
          <a:p>
            <a:pPr>
              <a:lnSpc>
                <a:spcPts val="1952"/>
              </a:lnSpc>
              <a:spcBef>
                <a:spcPts val="0"/>
              </a:spcBef>
              <a:spcAft>
                <a:spcPts val="0"/>
              </a:spcAft>
            </a:pPr>
            <a:r>
              <a:rPr sz="1600" b="0">
                <a:solidFill>
                  <a:srgbClr val="17344B"/>
                </a:solidFill>
                <a:latin typeface="Liberation Sans"/>
              </a:rPr>
              <a:t>Adapt to non-stationary activity.</a:t>
            </a:r>
          </a:p>
          <a:p>
            <a:pPr>
              <a:lnSpc>
                <a:spcPts val="1952"/>
              </a:lnSpc>
              <a:spcBef>
                <a:spcPts val="0"/>
              </a:spcBef>
              <a:spcAft>
                <a:spcPts val="0"/>
              </a:spcAft>
            </a:pPr>
            <a:r>
              <a:rPr sz="1600" b="0">
                <a:solidFill>
                  <a:srgbClr val="17344B"/>
                </a:solidFill>
                <a:latin typeface="Liberation Sans"/>
              </a:rPr>
              <a:t>Limit spectrum coverage gaps.</a:t>
            </a:r>
          </a:p>
          <a:p>
            <a:pPr>
              <a:lnSpc>
                <a:spcPts val="1952"/>
              </a:lnSpc>
              <a:spcBef>
                <a:spcPts val="0"/>
              </a:spcBef>
              <a:spcAft>
                <a:spcPts val="0"/>
              </a:spcAft>
            </a:pPr>
            <a:r>
              <a:rPr sz="1600" b="0">
                <a:solidFill>
                  <a:srgbClr val="17344B"/>
                </a:solidFill>
                <a:latin typeface="Liberation Sans"/>
              </a:rPr>
              <a:t>Account for retuning overhead.</a:t>
            </a:r>
          </a:p>
        </p:txBody>
      </p:sp>
      <p:sp>
        <p:nvSpPr>
          <p:cNvPr id="28" name="Rectangle 27"/>
          <p:cNvSpPr/>
          <p:nvPr/>
        </p:nvSpPr>
        <p:spPr>
          <a:xfrm>
            <a:off x="8101583" y="2706624"/>
            <a:ext cx="3520440" cy="2286000"/>
          </a:xfrm>
          <a:prstGeom prst="rect">
            <a:avLst/>
          </a:prstGeom>
          <a:solidFill>
            <a:srgbClr val="ED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01583" y="2706624"/>
            <a:ext cx="41148" cy="228600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66175" y="2852928"/>
            <a:ext cx="3209544" cy="548640"/>
          </a:xfrm>
          <a:prstGeom prst="rect">
            <a:avLst/>
          </a:prstGeom>
          <a:noFill/>
        </p:spPr>
        <p:txBody>
          <a:bodyPr wrap="none" lIns="0" rIns="0" tIns="0" bIns="0" anchor="t">
            <a:noAutofit/>
          </a:bodyPr>
          <a:lstStyle/>
          <a:p>
            <a:pPr>
              <a:lnSpc>
                <a:spcPts val="2074"/>
              </a:lnSpc>
              <a:spcBef>
                <a:spcPts val="0"/>
              </a:spcBef>
              <a:spcAft>
                <a:spcPts val="0"/>
              </a:spcAft>
            </a:pPr>
            <a:r>
              <a:rPr sz="1700" b="1">
                <a:solidFill>
                  <a:srgbClr val="0070C0"/>
                </a:solidFill>
                <a:latin typeface="Liberation Sans"/>
              </a:rPr>
              <a:t>Innovation and</a:t>
            </a:r>
          </a:p>
          <a:p>
            <a:pPr>
              <a:lnSpc>
                <a:spcPts val="2074"/>
              </a:lnSpc>
              <a:spcBef>
                <a:spcPts val="0"/>
              </a:spcBef>
              <a:spcAft>
                <a:spcPts val="0"/>
              </a:spcAft>
            </a:pPr>
            <a:r>
              <a:rPr sz="1700" b="1">
                <a:solidFill>
                  <a:srgbClr val="0070C0"/>
                </a:solidFill>
                <a:latin typeface="Liberation Sans"/>
              </a:rPr>
              <a:t>uniqueness of the solution</a:t>
            </a:r>
          </a:p>
        </p:txBody>
      </p:sp>
      <p:sp>
        <p:nvSpPr>
          <p:cNvPr id="31" name="TextBox 30"/>
          <p:cNvSpPr txBox="1"/>
          <p:nvPr/>
        </p:nvSpPr>
        <p:spPr>
          <a:xfrm>
            <a:off x="8266175" y="3511296"/>
            <a:ext cx="3200400" cy="1417320"/>
          </a:xfrm>
          <a:prstGeom prst="rect">
            <a:avLst/>
          </a:prstGeom>
          <a:noFill/>
        </p:spPr>
        <p:txBody>
          <a:bodyPr wrap="none" lIns="0" rIns="0" tIns="0" bIns="0" anchor="t">
            <a:noAutofit/>
          </a:bodyPr>
          <a:lstStyle/>
          <a:p>
            <a:pPr>
              <a:lnSpc>
                <a:spcPts val="1952"/>
              </a:lnSpc>
              <a:spcBef>
                <a:spcPts val="0"/>
              </a:spcBef>
              <a:spcAft>
                <a:spcPts val="0"/>
              </a:spcAft>
            </a:pPr>
            <a:r>
              <a:rPr sz="1600" b="0">
                <a:solidFill>
                  <a:srgbClr val="17344B"/>
                </a:solidFill>
                <a:latin typeface="Liberation Sans"/>
              </a:rPr>
              <a:t>Confidence-aware scheduling.</a:t>
            </a:r>
          </a:p>
          <a:p>
            <a:pPr>
              <a:lnSpc>
                <a:spcPts val="1952"/>
              </a:lnSpc>
              <a:spcBef>
                <a:spcPts val="0"/>
              </a:spcBef>
              <a:spcAft>
                <a:spcPts val="0"/>
              </a:spcAft>
            </a:pPr>
            <a:r>
              <a:rPr sz="1600" b="0">
                <a:solidFill>
                  <a:srgbClr val="17344B"/>
                </a:solidFill>
                <a:latin typeface="Liberation Sans"/>
              </a:rPr>
              <a:t>Joint discovery and revisit control.</a:t>
            </a:r>
          </a:p>
          <a:p>
            <a:pPr>
              <a:lnSpc>
                <a:spcPts val="1952"/>
              </a:lnSpc>
              <a:spcBef>
                <a:spcPts val="0"/>
              </a:spcBef>
              <a:spcAft>
                <a:spcPts val="0"/>
              </a:spcAft>
            </a:pPr>
            <a:r>
              <a:rPr sz="1600" b="0">
                <a:solidFill>
                  <a:srgbClr val="17344B"/>
                </a:solidFill>
                <a:latin typeface="Liberation Sans"/>
              </a:rPr>
              <a:t>Change-responsive track memory.</a:t>
            </a:r>
          </a:p>
          <a:p>
            <a:pPr>
              <a:lnSpc>
                <a:spcPts val="1952"/>
              </a:lnSpc>
              <a:spcBef>
                <a:spcPts val="0"/>
              </a:spcBef>
              <a:spcAft>
                <a:spcPts val="0"/>
              </a:spcAft>
            </a:pPr>
            <a:r>
              <a:rPr sz="1600" b="0">
                <a:solidFill>
                  <a:srgbClr val="17344B"/>
                </a:solidFill>
                <a:latin typeface="Liberation Sans"/>
              </a:rPr>
              <a:t>Traceable policy evaluation.</a:t>
            </a:r>
          </a:p>
        </p:txBody>
      </p:sp>
      <p:sp>
        <p:nvSpPr>
          <p:cNvPr id="32" name="Rectangle 31"/>
          <p:cNvSpPr/>
          <p:nvPr/>
        </p:nvSpPr>
        <p:spPr>
          <a:xfrm>
            <a:off x="548640" y="5303520"/>
            <a:ext cx="11073384" cy="713232"/>
          </a:xfrm>
          <a:prstGeom prst="rect">
            <a:avLst/>
          </a:prstGeom>
          <a:solidFill>
            <a:srgbClr val="ED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5449824"/>
            <a:ext cx="10744200" cy="365760"/>
          </a:xfrm>
          <a:prstGeom prst="rect">
            <a:avLst/>
          </a:prstGeom>
          <a:noFill/>
        </p:spPr>
        <p:txBody>
          <a:bodyPr wrap="none" lIns="0" rIns="0" tIns="0" bIns="0" anchor="t">
            <a:noAutofit/>
          </a:bodyPr>
          <a:lstStyle/>
          <a:p>
            <a:pPr>
              <a:lnSpc>
                <a:spcPts val="2318"/>
              </a:lnSpc>
              <a:spcBef>
                <a:spcPts val="0"/>
              </a:spcBef>
              <a:spcAft>
                <a:spcPts val="0"/>
              </a:spcAft>
            </a:pPr>
            <a:r>
              <a:rPr sz="1900" b="1">
                <a:solidFill>
                  <a:srgbClr val="0070C0"/>
                </a:solidFill>
                <a:latin typeface="Liberation Sans"/>
              </a:rPr>
              <a:t>DESIGN OBJECTIVE: HIGHER INTERCEPTION, LOWER SEARCH LATENCY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3" name="TextBox 12"/>
          <p:cNvSpPr txBox="1"/>
          <p:nvPr/>
        </p:nvSpPr>
        <p:spPr>
          <a:xfrm>
            <a:off x="530352" y="320040"/>
            <a:ext cx="1371600" cy="320040"/>
          </a:xfrm>
          <a:prstGeom prst="rect">
            <a:avLst/>
          </a:prstGeom>
          <a:noFill/>
        </p:spPr>
        <p:txBody>
          <a:bodyPr wrap="none" lIns="0" rIns="0" tIns="0" bIns="0" anchor="t">
            <a:noAutofit/>
          </a:bodyPr>
          <a:lstStyle/>
          <a:p>
            <a:pPr>
              <a:lnSpc>
                <a:spcPts val="1830"/>
              </a:lnSpc>
              <a:spcBef>
                <a:spcPts val="0"/>
              </a:spcBef>
              <a:spcAft>
                <a:spcPts val="0"/>
              </a:spcAft>
            </a:pPr>
            <a:r>
              <a:rPr sz="1500" b="1">
                <a:solidFill>
                  <a:srgbClr val="0070C0"/>
                </a:solidFill>
                <a:latin typeface="Liberation Sans"/>
              </a:rPr>
              <a:t>SIH26055</a:t>
            </a:r>
          </a:p>
        </p:txBody>
      </p:sp>
      <p:sp>
        <p:nvSpPr>
          <p:cNvPr id="14" name="TextBox 13"/>
          <p:cNvSpPr txBox="1"/>
          <p:nvPr/>
        </p:nvSpPr>
        <p:spPr>
          <a:xfrm>
            <a:off x="1965960" y="429768"/>
            <a:ext cx="7726679" cy="548640"/>
          </a:xfrm>
          <a:prstGeom prst="rect">
            <a:avLst/>
          </a:prstGeom>
          <a:noFill/>
        </p:spPr>
        <p:txBody>
          <a:bodyPr wrap="none" lIns="0" rIns="0" tIns="0" bIns="0" anchor="t">
            <a:noAutofit/>
          </a:bodyPr>
          <a:lstStyle/>
          <a:p>
            <a:pPr>
              <a:lnSpc>
                <a:spcPts val="3294"/>
              </a:lnSpc>
              <a:spcBef>
                <a:spcPts val="0"/>
              </a:spcBef>
              <a:spcAft>
                <a:spcPts val="0"/>
              </a:spcAft>
            </a:pPr>
            <a:r>
              <a:rPr sz="2700" b="1">
                <a:solidFill>
                  <a:srgbClr val="17344B"/>
                </a:solidFill>
                <a:latin typeface="Liberation Serif"/>
              </a:rPr>
              <a:t>TECHNICAL APPROACH</a:t>
            </a:r>
          </a:p>
        </p:txBody>
      </p:sp>
      <p:sp>
        <p:nvSpPr>
          <p:cNvPr id="15" name="TextBox 14"/>
          <p:cNvSpPr txBox="1"/>
          <p:nvPr/>
        </p:nvSpPr>
        <p:spPr>
          <a:xfrm>
            <a:off x="530352" y="6483096"/>
            <a:ext cx="3383280" cy="228600"/>
          </a:xfrm>
          <a:prstGeom prst="rect">
            <a:avLst/>
          </a:prstGeom>
          <a:noFill/>
        </p:spPr>
        <p:txBody>
          <a:bodyPr wrap="none" lIns="0" rIns="0" tIns="0" bIns="0" anchor="t">
            <a:noAutofit/>
          </a:bodyPr>
          <a:lstStyle/>
          <a:p>
            <a:pPr>
              <a:lnSpc>
                <a:spcPts val="1342"/>
              </a:lnSpc>
              <a:spcBef>
                <a:spcPts val="0"/>
              </a:spcBef>
              <a:spcAft>
                <a:spcPts val="0"/>
              </a:spcAft>
            </a:pPr>
            <a:r>
              <a:rPr sz="1100" b="1">
                <a:solidFill>
                  <a:srgbClr val="FFFFFF"/>
                </a:solidFill>
                <a:latin typeface="Liberation Sans"/>
              </a:rPr>
              <a:t>SPECTRA SCHEDULER</a:t>
            </a:r>
          </a:p>
        </p:txBody>
      </p:sp>
      <p:sp>
        <p:nvSpPr>
          <p:cNvPr id="16" name="TextBox 15"/>
          <p:cNvSpPr txBox="1"/>
          <p:nvPr/>
        </p:nvSpPr>
        <p:spPr>
          <a:xfrm>
            <a:off x="4590288" y="6483096"/>
            <a:ext cx="4389120" cy="228600"/>
          </a:xfrm>
          <a:prstGeom prst="rect">
            <a:avLst/>
          </a:prstGeom>
          <a:noFill/>
        </p:spPr>
        <p:txBody>
          <a:bodyPr wrap="none" lIns="0" rIns="0" tIns="0" bIns="0" anchor="t">
            <a:noAutofit/>
          </a:bodyPr>
          <a:lstStyle/>
          <a:p>
            <a:pPr>
              <a:lnSpc>
                <a:spcPts val="1342"/>
              </a:lnSpc>
              <a:spcBef>
                <a:spcPts val="0"/>
              </a:spcBef>
              <a:spcAft>
                <a:spcPts val="0"/>
              </a:spcAft>
            </a:pPr>
            <a:r>
              <a:rPr sz="1100" b="0">
                <a:solidFill>
                  <a:srgbClr val="FFFFFF"/>
                </a:solidFill>
                <a:latin typeface="Liberation Sans"/>
              </a:rPr>
              <a:t>@SIH Idea submission- Template</a:t>
            </a:r>
          </a:p>
        </p:txBody>
      </p:sp>
      <p:sp>
        <p:nvSpPr>
          <p:cNvPr id="17" name="TextBox 16"/>
          <p:cNvSpPr txBox="1"/>
          <p:nvPr/>
        </p:nvSpPr>
        <p:spPr>
          <a:xfrm>
            <a:off x="11384280" y="6483096"/>
            <a:ext cx="320040" cy="228600"/>
          </a:xfrm>
          <a:prstGeom prst="rect">
            <a:avLst/>
          </a:prstGeom>
          <a:noFill/>
        </p:spPr>
        <p:txBody>
          <a:bodyPr wrap="none" lIns="0" rIns="0" tIns="0" bIns="0" anchor="t">
            <a:noAutofit/>
          </a:bodyPr>
          <a:lstStyle/>
          <a:p>
            <a:pPr>
              <a:lnSpc>
                <a:spcPts val="1342"/>
              </a:lnSpc>
              <a:spcBef>
                <a:spcPts val="0"/>
              </a:spcBef>
              <a:spcAft>
                <a:spcPts val="0"/>
              </a:spcAft>
            </a:pPr>
            <a:r>
              <a:rPr sz="1100" b="1">
                <a:solidFill>
                  <a:srgbClr val="FFFFFF"/>
                </a:solidFill>
                <a:latin typeface="Liberation Sans"/>
              </a:rPr>
              <a:t>3</a:t>
            </a:r>
          </a:p>
        </p:txBody>
      </p:sp>
      <p:cxnSp>
        <p:nvCxnSpPr>
          <p:cNvPr id="18" name="Connector 17"/>
          <p:cNvCxnSpPr/>
          <p:nvPr/>
        </p:nvCxnSpPr>
        <p:spPr>
          <a:xfrm>
            <a:off x="530352" y="1161288"/>
            <a:ext cx="11128248" cy="0"/>
          </a:xfrm>
          <a:prstGeom prst="line">
            <a:avLst/>
          </a:prstGeom>
          <a:ln w="12700">
            <a:solidFill>
              <a:srgbClr val="D4E2E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1325880"/>
            <a:ext cx="11064240" cy="320040"/>
          </a:xfrm>
          <a:prstGeom prst="rect">
            <a:avLst/>
          </a:prstGeom>
          <a:noFill/>
        </p:spPr>
        <p:txBody>
          <a:bodyPr wrap="none" lIns="0" rIns="0" tIns="0" bIns="0" anchor="t">
            <a:noAutofit/>
          </a:bodyPr>
          <a:lstStyle/>
          <a:p>
            <a:pPr>
              <a:lnSpc>
                <a:spcPts val="2318"/>
              </a:lnSpc>
              <a:spcBef>
                <a:spcPts val="0"/>
              </a:spcBef>
              <a:spcAft>
                <a:spcPts val="0"/>
              </a:spcAft>
            </a:pPr>
            <a:r>
              <a:rPr sz="1900" b="1">
                <a:solidFill>
                  <a:srgbClr val="0070C0"/>
                </a:solidFill>
                <a:latin typeface="Liberation Sans"/>
              </a:rPr>
              <a:t>Methodology and process for implementation</a:t>
            </a:r>
          </a:p>
        </p:txBody>
      </p:sp>
      <p:sp>
        <p:nvSpPr>
          <p:cNvPr id="20" name="Rectangle 19"/>
          <p:cNvSpPr/>
          <p:nvPr/>
        </p:nvSpPr>
        <p:spPr>
          <a:xfrm>
            <a:off x="548640" y="1856231"/>
            <a:ext cx="2578608" cy="1243584"/>
          </a:xfrm>
          <a:prstGeom prst="rect">
            <a:avLst/>
          </a:prstGeom>
          <a:solidFill>
            <a:srgbClr val="EDF5FB"/>
          </a:solidFill>
          <a:ln w="8890">
            <a:solidFill>
              <a:srgbClr val="D4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2002536"/>
            <a:ext cx="2322576" cy="310896"/>
          </a:xfrm>
          <a:prstGeom prst="rect">
            <a:avLst/>
          </a:prstGeom>
          <a:noFill/>
        </p:spPr>
        <p:txBody>
          <a:bodyPr wrap="none" lIns="0" rIns="0" tIns="0" bIns="0" anchor="t">
            <a:noAutofit/>
          </a:bodyPr>
          <a:lstStyle/>
          <a:p>
            <a:pPr>
              <a:lnSpc>
                <a:spcPts val="2196"/>
              </a:lnSpc>
              <a:spcBef>
                <a:spcPts val="0"/>
              </a:spcBef>
              <a:spcAft>
                <a:spcPts val="0"/>
              </a:spcAft>
            </a:pPr>
            <a:r>
              <a:rPr sz="1800" b="1">
                <a:solidFill>
                  <a:srgbClr val="0070C0"/>
                </a:solidFill>
                <a:latin typeface="Liberation Sans"/>
              </a:rPr>
              <a:t>RF environment</a:t>
            </a:r>
          </a:p>
        </p:txBody>
      </p:sp>
      <p:sp>
        <p:nvSpPr>
          <p:cNvPr id="22" name="TextBox 21"/>
          <p:cNvSpPr txBox="1"/>
          <p:nvPr/>
        </p:nvSpPr>
        <p:spPr>
          <a:xfrm>
            <a:off x="685800" y="2450592"/>
            <a:ext cx="2322576" cy="539496"/>
          </a:xfrm>
          <a:prstGeom prst="rect">
            <a:avLst/>
          </a:prstGeom>
          <a:noFill/>
        </p:spPr>
        <p:txBody>
          <a:bodyPr wrap="none" lIns="0" rIns="0" tIns="0" bIns="0" anchor="t">
            <a:noAutofit/>
          </a:bodyPr>
          <a:lstStyle/>
          <a:p>
            <a:pPr>
              <a:lnSpc>
                <a:spcPts val="1830"/>
              </a:lnSpc>
              <a:spcBef>
                <a:spcPts val="0"/>
              </a:spcBef>
              <a:spcAft>
                <a:spcPts val="0"/>
              </a:spcAft>
            </a:pPr>
            <a:r>
              <a:rPr sz="1500" b="0">
                <a:solidFill>
                  <a:srgbClr val="17344B"/>
                </a:solidFill>
                <a:latin typeface="Liberation Sans"/>
              </a:rPr>
              <a:t>Stochastic emissions;</a:t>
            </a:r>
          </a:p>
          <a:p>
            <a:pPr>
              <a:lnSpc>
                <a:spcPts val="1830"/>
              </a:lnSpc>
              <a:spcBef>
                <a:spcPts val="0"/>
              </a:spcBef>
              <a:spcAft>
                <a:spcPts val="0"/>
              </a:spcAft>
            </a:pPr>
            <a:r>
              <a:rPr sz="1500" b="0">
                <a:solidFill>
                  <a:srgbClr val="17344B"/>
                </a:solidFill>
                <a:latin typeface="Liberation Sans"/>
              </a:rPr>
              <a:t>frequency-agile sources</a:t>
            </a:r>
          </a:p>
        </p:txBody>
      </p:sp>
      <p:sp>
        <p:nvSpPr>
          <p:cNvPr id="23" name="TextBox 22"/>
          <p:cNvSpPr txBox="1"/>
          <p:nvPr/>
        </p:nvSpPr>
        <p:spPr>
          <a:xfrm>
            <a:off x="3191256" y="2286000"/>
            <a:ext cx="182880" cy="320040"/>
          </a:xfrm>
          <a:prstGeom prst="rect">
            <a:avLst/>
          </a:prstGeom>
          <a:noFill/>
        </p:spPr>
        <p:txBody>
          <a:bodyPr wrap="none" lIns="0" rIns="0" tIns="0" bIns="0" anchor="t">
            <a:noAutofit/>
          </a:bodyPr>
          <a:lstStyle/>
          <a:p>
            <a:pPr>
              <a:lnSpc>
                <a:spcPts val="2318"/>
              </a:lnSpc>
              <a:spcBef>
                <a:spcPts val="0"/>
              </a:spcBef>
              <a:spcAft>
                <a:spcPts val="0"/>
              </a:spcAft>
            </a:pPr>
            <a:r>
              <a:rPr sz="1900" b="1">
                <a:solidFill>
                  <a:srgbClr val="0070C0"/>
                </a:solidFill>
                <a:latin typeface="Liberation Sans"/>
              </a:rPr>
              <a:t>&gt;</a:t>
            </a:r>
          </a:p>
        </p:txBody>
      </p:sp>
      <p:sp>
        <p:nvSpPr>
          <p:cNvPr id="24" name="Rectangle 23"/>
          <p:cNvSpPr/>
          <p:nvPr/>
        </p:nvSpPr>
        <p:spPr>
          <a:xfrm>
            <a:off x="3383280" y="1856231"/>
            <a:ext cx="2578608" cy="1243584"/>
          </a:xfrm>
          <a:prstGeom prst="rect">
            <a:avLst/>
          </a:prstGeom>
          <a:solidFill>
            <a:srgbClr val="EDF5FB"/>
          </a:solidFill>
          <a:ln w="8890">
            <a:solidFill>
              <a:srgbClr val="D4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0440" y="2002536"/>
            <a:ext cx="2322576" cy="310896"/>
          </a:xfrm>
          <a:prstGeom prst="rect">
            <a:avLst/>
          </a:prstGeom>
          <a:noFill/>
        </p:spPr>
        <p:txBody>
          <a:bodyPr wrap="none" lIns="0" rIns="0" tIns="0" bIns="0" anchor="t">
            <a:noAutofit/>
          </a:bodyPr>
          <a:lstStyle/>
          <a:p>
            <a:pPr>
              <a:lnSpc>
                <a:spcPts val="2196"/>
              </a:lnSpc>
              <a:spcBef>
                <a:spcPts val="0"/>
              </a:spcBef>
              <a:spcAft>
                <a:spcPts val="0"/>
              </a:spcAft>
            </a:pPr>
            <a:r>
              <a:rPr sz="1800" b="1">
                <a:solidFill>
                  <a:srgbClr val="0070C0"/>
                </a:solidFill>
                <a:latin typeface="Liberation Sans"/>
              </a:rPr>
              <a:t>Receiver model</a:t>
            </a:r>
          </a:p>
        </p:txBody>
      </p:sp>
      <p:sp>
        <p:nvSpPr>
          <p:cNvPr id="26" name="TextBox 25"/>
          <p:cNvSpPr txBox="1"/>
          <p:nvPr/>
        </p:nvSpPr>
        <p:spPr>
          <a:xfrm>
            <a:off x="3520440" y="2450592"/>
            <a:ext cx="2322576" cy="539496"/>
          </a:xfrm>
          <a:prstGeom prst="rect">
            <a:avLst/>
          </a:prstGeom>
          <a:noFill/>
        </p:spPr>
        <p:txBody>
          <a:bodyPr wrap="none" lIns="0" rIns="0" tIns="0" bIns="0" anchor="t">
            <a:noAutofit/>
          </a:bodyPr>
          <a:lstStyle/>
          <a:p>
            <a:pPr>
              <a:lnSpc>
                <a:spcPts val="1830"/>
              </a:lnSpc>
              <a:spcBef>
                <a:spcPts val="0"/>
              </a:spcBef>
              <a:spcAft>
                <a:spcPts val="0"/>
              </a:spcAft>
            </a:pPr>
            <a:r>
              <a:rPr sz="1500" b="0">
                <a:solidFill>
                  <a:srgbClr val="17344B"/>
                </a:solidFill>
                <a:latin typeface="Liberation Sans"/>
              </a:rPr>
              <a:t>Partial observations;</a:t>
            </a:r>
          </a:p>
          <a:p>
            <a:pPr>
              <a:lnSpc>
                <a:spcPts val="1830"/>
              </a:lnSpc>
              <a:spcBef>
                <a:spcPts val="0"/>
              </a:spcBef>
              <a:spcAft>
                <a:spcPts val="0"/>
              </a:spcAft>
            </a:pPr>
            <a:r>
              <a:rPr sz="1500" b="0">
                <a:solidFill>
                  <a:srgbClr val="17344B"/>
                </a:solidFill>
                <a:latin typeface="Liberation Sans"/>
              </a:rPr>
              <a:t>noise and retuning cost</a:t>
            </a:r>
          </a:p>
        </p:txBody>
      </p:sp>
      <p:sp>
        <p:nvSpPr>
          <p:cNvPr id="27" name="TextBox 26"/>
          <p:cNvSpPr txBox="1"/>
          <p:nvPr/>
        </p:nvSpPr>
        <p:spPr>
          <a:xfrm>
            <a:off x="6025896" y="2286000"/>
            <a:ext cx="182880" cy="320040"/>
          </a:xfrm>
          <a:prstGeom prst="rect">
            <a:avLst/>
          </a:prstGeom>
          <a:noFill/>
        </p:spPr>
        <p:txBody>
          <a:bodyPr wrap="none" lIns="0" rIns="0" tIns="0" bIns="0" anchor="t">
            <a:noAutofit/>
          </a:bodyPr>
          <a:lstStyle/>
          <a:p>
            <a:pPr>
              <a:lnSpc>
                <a:spcPts val="2318"/>
              </a:lnSpc>
              <a:spcBef>
                <a:spcPts val="0"/>
              </a:spcBef>
              <a:spcAft>
                <a:spcPts val="0"/>
              </a:spcAft>
            </a:pPr>
            <a:r>
              <a:rPr sz="1900" b="1">
                <a:solidFill>
                  <a:srgbClr val="0070C0"/>
                </a:solidFill>
                <a:latin typeface="Liberation Sans"/>
              </a:rPr>
              <a:t>&gt;</a:t>
            </a:r>
          </a:p>
        </p:txBody>
      </p:sp>
      <p:sp>
        <p:nvSpPr>
          <p:cNvPr id="28" name="Rectangle 27"/>
          <p:cNvSpPr/>
          <p:nvPr/>
        </p:nvSpPr>
        <p:spPr>
          <a:xfrm>
            <a:off x="6217920" y="1856231"/>
            <a:ext cx="2578608" cy="1243584"/>
          </a:xfrm>
          <a:prstGeom prst="rect">
            <a:avLst/>
          </a:prstGeom>
          <a:solidFill>
            <a:srgbClr val="EDF5FB"/>
          </a:solidFill>
          <a:ln w="8890">
            <a:solidFill>
              <a:srgbClr val="D4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2002536"/>
            <a:ext cx="2322576" cy="310896"/>
          </a:xfrm>
          <a:prstGeom prst="rect">
            <a:avLst/>
          </a:prstGeom>
          <a:noFill/>
        </p:spPr>
        <p:txBody>
          <a:bodyPr wrap="none" lIns="0" rIns="0" tIns="0" bIns="0" anchor="t">
            <a:noAutofit/>
          </a:bodyPr>
          <a:lstStyle/>
          <a:p>
            <a:pPr>
              <a:lnSpc>
                <a:spcPts val="2196"/>
              </a:lnSpc>
              <a:spcBef>
                <a:spcPts val="0"/>
              </a:spcBef>
              <a:spcAft>
                <a:spcPts val="0"/>
              </a:spcAft>
            </a:pPr>
            <a:r>
              <a:rPr sz="1800" b="1">
                <a:solidFill>
                  <a:srgbClr val="0070C0"/>
                </a:solidFill>
                <a:latin typeface="Liberation Sans"/>
              </a:rPr>
              <a:t>Pulse association</a:t>
            </a:r>
          </a:p>
        </p:txBody>
      </p:sp>
      <p:sp>
        <p:nvSpPr>
          <p:cNvPr id="30" name="TextBox 29"/>
          <p:cNvSpPr txBox="1"/>
          <p:nvPr/>
        </p:nvSpPr>
        <p:spPr>
          <a:xfrm>
            <a:off x="6355080" y="2450592"/>
            <a:ext cx="2322576" cy="539496"/>
          </a:xfrm>
          <a:prstGeom prst="rect">
            <a:avLst/>
          </a:prstGeom>
          <a:noFill/>
        </p:spPr>
        <p:txBody>
          <a:bodyPr wrap="none" lIns="0" rIns="0" tIns="0" bIns="0" anchor="t">
            <a:noAutofit/>
          </a:bodyPr>
          <a:lstStyle/>
          <a:p>
            <a:pPr>
              <a:lnSpc>
                <a:spcPts val="1830"/>
              </a:lnSpc>
              <a:spcBef>
                <a:spcPts val="0"/>
              </a:spcBef>
              <a:spcAft>
                <a:spcPts val="0"/>
              </a:spcAft>
            </a:pPr>
            <a:r>
              <a:rPr sz="1500" b="0">
                <a:solidFill>
                  <a:srgbClr val="17344B"/>
                </a:solidFill>
                <a:latin typeface="Liberation Sans"/>
              </a:rPr>
              <a:t>Feature-based tracks;</a:t>
            </a:r>
          </a:p>
          <a:p>
            <a:pPr>
              <a:lnSpc>
                <a:spcPts val="1830"/>
              </a:lnSpc>
              <a:spcBef>
                <a:spcPts val="0"/>
              </a:spcBef>
              <a:spcAft>
                <a:spcPts val="0"/>
              </a:spcAft>
            </a:pPr>
            <a:r>
              <a:rPr sz="1500" b="0">
                <a:solidFill>
                  <a:srgbClr val="17344B"/>
                </a:solidFill>
                <a:latin typeface="Liberation Sans"/>
              </a:rPr>
              <a:t>confidence estimation</a:t>
            </a:r>
          </a:p>
        </p:txBody>
      </p:sp>
      <p:sp>
        <p:nvSpPr>
          <p:cNvPr id="31" name="TextBox 30"/>
          <p:cNvSpPr txBox="1"/>
          <p:nvPr/>
        </p:nvSpPr>
        <p:spPr>
          <a:xfrm>
            <a:off x="8860536" y="2286000"/>
            <a:ext cx="182880" cy="320040"/>
          </a:xfrm>
          <a:prstGeom prst="rect">
            <a:avLst/>
          </a:prstGeom>
          <a:noFill/>
        </p:spPr>
        <p:txBody>
          <a:bodyPr wrap="none" lIns="0" rIns="0" tIns="0" bIns="0" anchor="t">
            <a:noAutofit/>
          </a:bodyPr>
          <a:lstStyle/>
          <a:p>
            <a:pPr>
              <a:lnSpc>
                <a:spcPts val="2318"/>
              </a:lnSpc>
              <a:spcBef>
                <a:spcPts val="0"/>
              </a:spcBef>
              <a:spcAft>
                <a:spcPts val="0"/>
              </a:spcAft>
            </a:pPr>
            <a:r>
              <a:rPr sz="1900" b="1">
                <a:solidFill>
                  <a:srgbClr val="0070C0"/>
                </a:solidFill>
                <a:latin typeface="Liberation Sans"/>
              </a:rPr>
              <a:t>&gt;</a:t>
            </a:r>
          </a:p>
        </p:txBody>
      </p:sp>
      <p:sp>
        <p:nvSpPr>
          <p:cNvPr id="32" name="Rectangle 31"/>
          <p:cNvSpPr/>
          <p:nvPr/>
        </p:nvSpPr>
        <p:spPr>
          <a:xfrm>
            <a:off x="9052560" y="1856231"/>
            <a:ext cx="2578608" cy="1243584"/>
          </a:xfrm>
          <a:prstGeom prst="rect">
            <a:avLst/>
          </a:prstGeom>
          <a:solidFill>
            <a:srgbClr val="EDF5FB"/>
          </a:solidFill>
          <a:ln w="8890">
            <a:solidFill>
              <a:srgbClr val="D4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89720" y="2002536"/>
            <a:ext cx="2322576" cy="310896"/>
          </a:xfrm>
          <a:prstGeom prst="rect">
            <a:avLst/>
          </a:prstGeom>
          <a:noFill/>
        </p:spPr>
        <p:txBody>
          <a:bodyPr wrap="none" lIns="0" rIns="0" tIns="0" bIns="0" anchor="t">
            <a:noAutofit/>
          </a:bodyPr>
          <a:lstStyle/>
          <a:p>
            <a:pPr>
              <a:lnSpc>
                <a:spcPts val="2196"/>
              </a:lnSpc>
              <a:spcBef>
                <a:spcPts val="0"/>
              </a:spcBef>
              <a:spcAft>
                <a:spcPts val="0"/>
              </a:spcAft>
            </a:pPr>
            <a:r>
              <a:rPr sz="1800" b="1">
                <a:solidFill>
                  <a:srgbClr val="0070C0"/>
                </a:solidFill>
                <a:latin typeface="Liberation Sans"/>
              </a:rPr>
              <a:t>Adaptive policy</a:t>
            </a:r>
          </a:p>
        </p:txBody>
      </p:sp>
      <p:sp>
        <p:nvSpPr>
          <p:cNvPr id="34" name="TextBox 33"/>
          <p:cNvSpPr txBox="1"/>
          <p:nvPr/>
        </p:nvSpPr>
        <p:spPr>
          <a:xfrm>
            <a:off x="9189720" y="2450592"/>
            <a:ext cx="2322576" cy="539496"/>
          </a:xfrm>
          <a:prstGeom prst="rect">
            <a:avLst/>
          </a:prstGeom>
          <a:noFill/>
        </p:spPr>
        <p:txBody>
          <a:bodyPr wrap="none" lIns="0" rIns="0" tIns="0" bIns="0" anchor="t">
            <a:noAutofit/>
          </a:bodyPr>
          <a:lstStyle/>
          <a:p>
            <a:pPr>
              <a:lnSpc>
                <a:spcPts val="1830"/>
              </a:lnSpc>
              <a:spcBef>
                <a:spcPts val="0"/>
              </a:spcBef>
              <a:spcAft>
                <a:spcPts val="0"/>
              </a:spcAft>
            </a:pPr>
            <a:r>
              <a:rPr sz="1500" b="0">
                <a:solidFill>
                  <a:srgbClr val="17344B"/>
                </a:solidFill>
                <a:latin typeface="Liberation Sans"/>
              </a:rPr>
              <a:t>Contextual bandit</a:t>
            </a:r>
          </a:p>
          <a:p>
            <a:pPr>
              <a:lnSpc>
                <a:spcPts val="1830"/>
              </a:lnSpc>
              <a:spcBef>
                <a:spcPts val="0"/>
              </a:spcBef>
              <a:spcAft>
                <a:spcPts val="0"/>
              </a:spcAft>
            </a:pPr>
            <a:r>
              <a:rPr sz="1500" b="0">
                <a:solidFill>
                  <a:srgbClr val="17344B"/>
                </a:solidFill>
                <a:latin typeface="Liberation Sans"/>
              </a:rPr>
              <a:t>with coverage constraints</a:t>
            </a:r>
          </a:p>
        </p:txBody>
      </p:sp>
      <p:cxnSp>
        <p:nvCxnSpPr>
          <p:cNvPr id="35" name="Connector 34"/>
          <p:cNvCxnSpPr/>
          <p:nvPr/>
        </p:nvCxnSpPr>
        <p:spPr>
          <a:xfrm>
            <a:off x="10332720" y="3108960"/>
            <a:ext cx="0" cy="301752"/>
          </a:xfrm>
          <a:prstGeom prst="line">
            <a:avLst/>
          </a:prstGeom>
          <a:ln w="12700">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4654296" y="3410712"/>
            <a:ext cx="5678424" cy="0"/>
          </a:xfrm>
          <a:prstGeom prst="line">
            <a:avLst/>
          </a:prstGeom>
          <a:ln w="12700">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654296" y="3108960"/>
            <a:ext cx="0" cy="301752"/>
          </a:xfrm>
          <a:prstGeom prst="line">
            <a:avLst/>
          </a:prstGeom>
          <a:ln w="12700">
            <a:solidFill>
              <a:srgbClr val="0070C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166360" y="3483864"/>
            <a:ext cx="6126480" cy="274320"/>
          </a:xfrm>
          <a:prstGeom prst="rect">
            <a:avLst/>
          </a:prstGeom>
          <a:noFill/>
        </p:spPr>
        <p:txBody>
          <a:bodyPr wrap="none" lIns="0" rIns="0" tIns="0" bIns="0" anchor="t">
            <a:noAutofit/>
          </a:bodyPr>
          <a:lstStyle/>
          <a:p>
            <a:pPr>
              <a:lnSpc>
                <a:spcPts val="1586"/>
              </a:lnSpc>
              <a:spcBef>
                <a:spcPts val="0"/>
              </a:spcBef>
              <a:spcAft>
                <a:spcPts val="0"/>
              </a:spcAft>
            </a:pPr>
            <a:r>
              <a:rPr sz="1300" b="0">
                <a:solidFill>
                  <a:srgbClr val="526574"/>
                </a:solidFill>
                <a:latin typeface="Liberation Sans"/>
              </a:rPr>
              <a:t>Closed-loop feedback: observations update the next scheduling decision</a:t>
            </a:r>
          </a:p>
        </p:txBody>
      </p:sp>
      <p:sp>
        <p:nvSpPr>
          <p:cNvPr id="39" name="TextBox 38"/>
          <p:cNvSpPr txBox="1"/>
          <p:nvPr/>
        </p:nvSpPr>
        <p:spPr>
          <a:xfrm>
            <a:off x="548640" y="3941063"/>
            <a:ext cx="5367528" cy="320040"/>
          </a:xfrm>
          <a:prstGeom prst="rect">
            <a:avLst/>
          </a:prstGeom>
          <a:noFill/>
        </p:spPr>
        <p:txBody>
          <a:bodyPr wrap="none" lIns="0" rIns="0" tIns="0" bIns="0" anchor="t">
            <a:noAutofit/>
          </a:bodyPr>
          <a:lstStyle/>
          <a:p>
            <a:pPr>
              <a:lnSpc>
                <a:spcPts val="2196"/>
              </a:lnSpc>
              <a:spcBef>
                <a:spcPts val="0"/>
              </a:spcBef>
              <a:spcAft>
                <a:spcPts val="0"/>
              </a:spcAft>
            </a:pPr>
            <a:r>
              <a:rPr sz="1800" b="1">
                <a:solidFill>
                  <a:srgbClr val="0070C0"/>
                </a:solidFill>
                <a:latin typeface="Liberation Sans"/>
              </a:rPr>
              <a:t>Technologies to be used</a:t>
            </a:r>
          </a:p>
        </p:txBody>
      </p:sp>
      <p:sp>
        <p:nvSpPr>
          <p:cNvPr id="40" name="TextBox 39"/>
          <p:cNvSpPr txBox="1"/>
          <p:nvPr/>
        </p:nvSpPr>
        <p:spPr>
          <a:xfrm>
            <a:off x="548640" y="4416552"/>
            <a:ext cx="5404104" cy="1271016"/>
          </a:xfrm>
          <a:prstGeom prst="rect">
            <a:avLst/>
          </a:prstGeom>
          <a:noFill/>
        </p:spPr>
        <p:txBody>
          <a:bodyPr wrap="none" lIns="0" rIns="0" tIns="0" bIns="0" anchor="t">
            <a:noAutofit/>
          </a:bodyPr>
          <a:lstStyle/>
          <a:p>
            <a:pPr>
              <a:lnSpc>
                <a:spcPts val="1952"/>
              </a:lnSpc>
              <a:spcBef>
                <a:spcPts val="0"/>
              </a:spcBef>
              <a:spcAft>
                <a:spcPts val="0"/>
              </a:spcAft>
            </a:pPr>
            <a:r>
              <a:rPr sz="1600" b="0">
                <a:solidFill>
                  <a:srgbClr val="17344B"/>
                </a:solidFill>
                <a:latin typeface="Liberation Sans"/>
              </a:rPr>
              <a:t>Python / NumPy: modular simulation and evaluation.</a:t>
            </a:r>
          </a:p>
          <a:p>
            <a:pPr>
              <a:lnSpc>
                <a:spcPts val="1952"/>
              </a:lnSpc>
              <a:spcBef>
                <a:spcPts val="0"/>
              </a:spcBef>
              <a:spcAft>
                <a:spcPts val="0"/>
              </a:spcAft>
            </a:pPr>
            <a:r>
              <a:rPr sz="1600" b="0">
                <a:solidFill>
                  <a:srgbClr val="17344B"/>
                </a:solidFill>
                <a:latin typeface="Liberation Sans"/>
              </a:rPr>
              <a:t>HDF5 / h5py: planned bounded-memory ingestion.</a:t>
            </a:r>
          </a:p>
          <a:p>
            <a:pPr>
              <a:lnSpc>
                <a:spcPts val="1952"/>
              </a:lnSpc>
              <a:spcBef>
                <a:spcPts val="0"/>
              </a:spcBef>
              <a:spcAft>
                <a:spcPts val="0"/>
              </a:spcAft>
            </a:pPr>
            <a:r>
              <a:rPr sz="1600" b="0">
                <a:solidFill>
                  <a:srgbClr val="17344B"/>
                </a:solidFill>
                <a:latin typeface="Liberation Sans"/>
              </a:rPr>
              <a:t>scikit-learn / PyTorch: proposed learning stack.</a:t>
            </a:r>
          </a:p>
          <a:p>
            <a:pPr>
              <a:lnSpc>
                <a:spcPts val="1952"/>
              </a:lnSpc>
              <a:spcBef>
                <a:spcPts val="0"/>
              </a:spcBef>
              <a:spcAft>
                <a:spcPts val="0"/>
              </a:spcAft>
            </a:pPr>
            <a:r>
              <a:rPr sz="1600" b="0">
                <a:solidFill>
                  <a:srgbClr val="17344B"/>
                </a:solidFill>
                <a:latin typeface="Liberation Sans"/>
              </a:rPr>
              <a:t>Rust / PyO3: selective acceleration after profiling.</a:t>
            </a:r>
          </a:p>
        </p:txBody>
      </p:sp>
      <p:sp>
        <p:nvSpPr>
          <p:cNvPr id="41" name="TextBox 40"/>
          <p:cNvSpPr txBox="1"/>
          <p:nvPr/>
        </p:nvSpPr>
        <p:spPr>
          <a:xfrm>
            <a:off x="6364224" y="3941063"/>
            <a:ext cx="5257800" cy="320040"/>
          </a:xfrm>
          <a:prstGeom prst="rect">
            <a:avLst/>
          </a:prstGeom>
          <a:noFill/>
        </p:spPr>
        <p:txBody>
          <a:bodyPr wrap="none" lIns="0" rIns="0" tIns="0" bIns="0" anchor="t">
            <a:noAutofit/>
          </a:bodyPr>
          <a:lstStyle/>
          <a:p>
            <a:pPr>
              <a:lnSpc>
                <a:spcPts val="2196"/>
              </a:lnSpc>
              <a:spcBef>
                <a:spcPts val="0"/>
              </a:spcBef>
              <a:spcAft>
                <a:spcPts val="0"/>
              </a:spcAft>
            </a:pPr>
            <a:r>
              <a:rPr sz="1800" b="1">
                <a:solidFill>
                  <a:srgbClr val="0070C0"/>
                </a:solidFill>
                <a:latin typeface="Liberation Sans"/>
              </a:rPr>
              <a:t>Data and learning plan</a:t>
            </a:r>
          </a:p>
        </p:txBody>
      </p:sp>
      <p:sp>
        <p:nvSpPr>
          <p:cNvPr id="42" name="TextBox 41"/>
          <p:cNvSpPr txBox="1"/>
          <p:nvPr/>
        </p:nvSpPr>
        <p:spPr>
          <a:xfrm>
            <a:off x="6364224" y="4416552"/>
            <a:ext cx="5257800" cy="1271016"/>
          </a:xfrm>
          <a:prstGeom prst="rect">
            <a:avLst/>
          </a:prstGeom>
          <a:noFill/>
        </p:spPr>
        <p:txBody>
          <a:bodyPr wrap="none" lIns="0" rIns="0" tIns="0" bIns="0" anchor="t">
            <a:noAutofit/>
          </a:bodyPr>
          <a:lstStyle/>
          <a:p>
            <a:pPr>
              <a:lnSpc>
                <a:spcPts val="1891"/>
              </a:lnSpc>
              <a:spcBef>
                <a:spcPts val="0"/>
              </a:spcBef>
              <a:spcAft>
                <a:spcPts val="0"/>
              </a:spcAft>
            </a:pPr>
            <a:r>
              <a:rPr sz="1550" b="0">
                <a:solidFill>
                  <a:srgbClr val="17344B"/>
                </a:solidFill>
                <a:latin typeface="Liberation Sans"/>
              </a:rPr>
              <a:t>TSRD features: ToA, frequency, width, angle, amplitude.</a:t>
            </a:r>
          </a:p>
          <a:p>
            <a:pPr>
              <a:lnSpc>
                <a:spcPts val="1891"/>
              </a:lnSpc>
              <a:spcBef>
                <a:spcPts val="0"/>
              </a:spcBef>
              <a:spcAft>
                <a:spcPts val="0"/>
              </a:spcAft>
            </a:pPr>
            <a:r>
              <a:rPr sz="1550" b="0">
                <a:solidFill>
                  <a:srgbClr val="17344B"/>
                </a:solidFill>
                <a:latin typeface="Liberation Sans"/>
              </a:rPr>
              <a:t>Pipeline: schema validation &gt; clustering &gt; policy training.</a:t>
            </a:r>
          </a:p>
          <a:p>
            <a:pPr>
              <a:lnSpc>
                <a:spcPts val="1891"/>
              </a:lnSpc>
              <a:spcBef>
                <a:spcPts val="0"/>
              </a:spcBef>
              <a:spcAft>
                <a:spcPts val="0"/>
              </a:spcAft>
            </a:pPr>
            <a:r>
              <a:rPr sz="1550" b="0">
                <a:solidFill>
                  <a:srgbClr val="17344B"/>
                </a:solidFill>
                <a:latin typeface="Liberation Sans"/>
              </a:rPr>
              <a:t>Learn from simulator hits/misses; hold out scenarios.</a:t>
            </a:r>
          </a:p>
          <a:p>
            <a:pPr>
              <a:lnSpc>
                <a:spcPts val="1891"/>
              </a:lnSpc>
              <a:spcBef>
                <a:spcPts val="0"/>
              </a:spcBef>
              <a:spcAft>
                <a:spcPts val="0"/>
              </a:spcAft>
            </a:pPr>
            <a:r>
              <a:rPr sz="1550" b="0">
                <a:solidFill>
                  <a:srgbClr val="17344B"/>
                </a:solidFill>
                <a:latin typeface="Liberation Sans"/>
              </a:rPr>
              <a:t>Use file-level train / validation / test separation.</a:t>
            </a:r>
          </a:p>
          <a:p>
            <a:pPr>
              <a:lnSpc>
                <a:spcPts val="1891"/>
              </a:lnSpc>
              <a:spcBef>
                <a:spcPts val="0"/>
              </a:spcBef>
              <a:spcAft>
                <a:spcPts val="0"/>
              </a:spcAft>
            </a:pPr>
            <a:r>
              <a:rPr sz="1550" b="0">
                <a:solidFill>
                  <a:srgbClr val="17344B"/>
                </a:solidFill>
                <a:latin typeface="Liberation Sans"/>
              </a:rPr>
              <a:t>Keep emitter identities outside inference features.</a:t>
            </a:r>
          </a:p>
        </p:txBody>
      </p:sp>
      <p:sp>
        <p:nvSpPr>
          <p:cNvPr id="43" name="TextBox 42"/>
          <p:cNvSpPr txBox="1"/>
          <p:nvPr/>
        </p:nvSpPr>
        <p:spPr>
          <a:xfrm>
            <a:off x="548640" y="5879592"/>
            <a:ext cx="11064240" cy="265176"/>
          </a:xfrm>
          <a:prstGeom prst="rect">
            <a:avLst/>
          </a:prstGeom>
          <a:noFill/>
        </p:spPr>
        <p:txBody>
          <a:bodyPr wrap="none" lIns="0" rIns="0" tIns="0" bIns="0" anchor="t">
            <a:noAutofit/>
          </a:bodyPr>
          <a:lstStyle/>
          <a:p>
            <a:pPr>
              <a:lnSpc>
                <a:spcPts val="1647"/>
              </a:lnSpc>
              <a:spcBef>
                <a:spcPts val="0"/>
              </a:spcBef>
              <a:spcAft>
                <a:spcPts val="0"/>
              </a:spcAft>
            </a:pPr>
            <a:r>
              <a:rPr sz="1350" b="0">
                <a:solidFill>
                  <a:srgbClr val="526574"/>
                </a:solidFill>
                <a:latin typeface="Liberation Sans"/>
              </a:rPr>
              <a:t>Proposed end-to-end architecture; simulation and heuristic evaluation form the existing foundation.  [1–3]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2" name="TextBox 11"/>
          <p:cNvSpPr txBox="1"/>
          <p:nvPr/>
        </p:nvSpPr>
        <p:spPr>
          <a:xfrm>
            <a:off x="530352" y="320040"/>
            <a:ext cx="1371600" cy="320040"/>
          </a:xfrm>
          <a:prstGeom prst="rect">
            <a:avLst/>
          </a:prstGeom>
          <a:noFill/>
        </p:spPr>
        <p:txBody>
          <a:bodyPr wrap="none" lIns="0" rIns="0" tIns="0" bIns="0" anchor="t">
            <a:noAutofit/>
          </a:bodyPr>
          <a:lstStyle/>
          <a:p>
            <a:pPr>
              <a:lnSpc>
                <a:spcPts val="1830"/>
              </a:lnSpc>
              <a:spcBef>
                <a:spcPts val="0"/>
              </a:spcBef>
              <a:spcAft>
                <a:spcPts val="0"/>
              </a:spcAft>
            </a:pPr>
            <a:r>
              <a:rPr sz="1500" b="1">
                <a:solidFill>
                  <a:srgbClr val="0070C0"/>
                </a:solidFill>
                <a:latin typeface="Liberation Sans"/>
              </a:rPr>
              <a:t>SIH26055</a:t>
            </a:r>
          </a:p>
        </p:txBody>
      </p:sp>
      <p:sp>
        <p:nvSpPr>
          <p:cNvPr id="13" name="TextBox 12"/>
          <p:cNvSpPr txBox="1"/>
          <p:nvPr/>
        </p:nvSpPr>
        <p:spPr>
          <a:xfrm>
            <a:off x="1965960" y="429768"/>
            <a:ext cx="7726679" cy="548640"/>
          </a:xfrm>
          <a:prstGeom prst="rect">
            <a:avLst/>
          </a:prstGeom>
          <a:noFill/>
        </p:spPr>
        <p:txBody>
          <a:bodyPr wrap="none" lIns="0" rIns="0" tIns="0" bIns="0" anchor="t">
            <a:noAutofit/>
          </a:bodyPr>
          <a:lstStyle/>
          <a:p>
            <a:pPr>
              <a:lnSpc>
                <a:spcPts val="3294"/>
              </a:lnSpc>
              <a:spcBef>
                <a:spcPts val="0"/>
              </a:spcBef>
              <a:spcAft>
                <a:spcPts val="0"/>
              </a:spcAft>
            </a:pPr>
            <a:r>
              <a:rPr sz="2700" b="1">
                <a:solidFill>
                  <a:srgbClr val="17344B"/>
                </a:solidFill>
                <a:latin typeface="Liberation Serif"/>
              </a:rPr>
              <a:t>FEASIBILITY AND VIABILITY</a:t>
            </a:r>
          </a:p>
        </p:txBody>
      </p:sp>
      <p:sp>
        <p:nvSpPr>
          <p:cNvPr id="14" name="TextBox 13"/>
          <p:cNvSpPr txBox="1"/>
          <p:nvPr/>
        </p:nvSpPr>
        <p:spPr>
          <a:xfrm>
            <a:off x="530352" y="6483096"/>
            <a:ext cx="3383280" cy="228600"/>
          </a:xfrm>
          <a:prstGeom prst="rect">
            <a:avLst/>
          </a:prstGeom>
          <a:noFill/>
        </p:spPr>
        <p:txBody>
          <a:bodyPr wrap="none" lIns="0" rIns="0" tIns="0" bIns="0" anchor="t">
            <a:noAutofit/>
          </a:bodyPr>
          <a:lstStyle/>
          <a:p>
            <a:pPr>
              <a:lnSpc>
                <a:spcPts val="1342"/>
              </a:lnSpc>
              <a:spcBef>
                <a:spcPts val="0"/>
              </a:spcBef>
              <a:spcAft>
                <a:spcPts val="0"/>
              </a:spcAft>
            </a:pPr>
            <a:r>
              <a:rPr sz="1100" b="1">
                <a:solidFill>
                  <a:srgbClr val="FFFFFF"/>
                </a:solidFill>
                <a:latin typeface="Liberation Sans"/>
              </a:rPr>
              <a:t>SPECTRA SCHEDULER</a:t>
            </a:r>
          </a:p>
        </p:txBody>
      </p:sp>
      <p:sp>
        <p:nvSpPr>
          <p:cNvPr id="15" name="TextBox 14"/>
          <p:cNvSpPr txBox="1"/>
          <p:nvPr/>
        </p:nvSpPr>
        <p:spPr>
          <a:xfrm>
            <a:off x="4590288" y="6483096"/>
            <a:ext cx="4389120" cy="228600"/>
          </a:xfrm>
          <a:prstGeom prst="rect">
            <a:avLst/>
          </a:prstGeom>
          <a:noFill/>
        </p:spPr>
        <p:txBody>
          <a:bodyPr wrap="none" lIns="0" rIns="0" tIns="0" bIns="0" anchor="t">
            <a:noAutofit/>
          </a:bodyPr>
          <a:lstStyle/>
          <a:p>
            <a:pPr>
              <a:lnSpc>
                <a:spcPts val="1342"/>
              </a:lnSpc>
              <a:spcBef>
                <a:spcPts val="0"/>
              </a:spcBef>
              <a:spcAft>
                <a:spcPts val="0"/>
              </a:spcAft>
            </a:pPr>
            <a:r>
              <a:rPr sz="1100" b="0">
                <a:solidFill>
                  <a:srgbClr val="FFFFFF"/>
                </a:solidFill>
                <a:latin typeface="Liberation Sans"/>
              </a:rPr>
              <a:t>@SIH Idea submission- Template</a:t>
            </a:r>
          </a:p>
        </p:txBody>
      </p:sp>
      <p:sp>
        <p:nvSpPr>
          <p:cNvPr id="16" name="TextBox 15"/>
          <p:cNvSpPr txBox="1"/>
          <p:nvPr/>
        </p:nvSpPr>
        <p:spPr>
          <a:xfrm>
            <a:off x="11384280" y="6483096"/>
            <a:ext cx="320040" cy="228600"/>
          </a:xfrm>
          <a:prstGeom prst="rect">
            <a:avLst/>
          </a:prstGeom>
          <a:noFill/>
        </p:spPr>
        <p:txBody>
          <a:bodyPr wrap="none" lIns="0" rIns="0" tIns="0" bIns="0" anchor="t">
            <a:noAutofit/>
          </a:bodyPr>
          <a:lstStyle/>
          <a:p>
            <a:pPr>
              <a:lnSpc>
                <a:spcPts val="1342"/>
              </a:lnSpc>
              <a:spcBef>
                <a:spcPts val="0"/>
              </a:spcBef>
              <a:spcAft>
                <a:spcPts val="0"/>
              </a:spcAft>
            </a:pPr>
            <a:r>
              <a:rPr sz="1100" b="1">
                <a:solidFill>
                  <a:srgbClr val="FFFFFF"/>
                </a:solidFill>
                <a:latin typeface="Liberation Sans"/>
              </a:rPr>
              <a:t>4</a:t>
            </a:r>
          </a:p>
        </p:txBody>
      </p:sp>
      <p:cxnSp>
        <p:nvCxnSpPr>
          <p:cNvPr id="17" name="Connector 16"/>
          <p:cNvCxnSpPr/>
          <p:nvPr/>
        </p:nvCxnSpPr>
        <p:spPr>
          <a:xfrm>
            <a:off x="530352" y="1161288"/>
            <a:ext cx="11128248" cy="0"/>
          </a:xfrm>
          <a:prstGeom prst="line">
            <a:avLst/>
          </a:prstGeom>
          <a:ln w="12700">
            <a:solidFill>
              <a:srgbClr val="D4E2E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1325880"/>
            <a:ext cx="11064240" cy="329184"/>
          </a:xfrm>
          <a:prstGeom prst="rect">
            <a:avLst/>
          </a:prstGeom>
          <a:noFill/>
        </p:spPr>
        <p:txBody>
          <a:bodyPr wrap="none" lIns="0" rIns="0" tIns="0" bIns="0" anchor="t">
            <a:noAutofit/>
          </a:bodyPr>
          <a:lstStyle/>
          <a:p>
            <a:pPr>
              <a:lnSpc>
                <a:spcPts val="2318"/>
              </a:lnSpc>
              <a:spcBef>
                <a:spcPts val="0"/>
              </a:spcBef>
              <a:spcAft>
                <a:spcPts val="0"/>
              </a:spcAft>
            </a:pPr>
            <a:r>
              <a:rPr sz="1900" b="1">
                <a:solidFill>
                  <a:srgbClr val="0070C0"/>
                </a:solidFill>
                <a:latin typeface="Liberation Sans"/>
              </a:rPr>
              <a:t>Technical feasibility and validation methodology</a:t>
            </a:r>
          </a:p>
        </p:txBody>
      </p:sp>
      <p:sp>
        <p:nvSpPr>
          <p:cNvPr id="19" name="Rectangle 18"/>
          <p:cNvSpPr/>
          <p:nvPr/>
        </p:nvSpPr>
        <p:spPr>
          <a:xfrm>
            <a:off x="548640" y="1828800"/>
            <a:ext cx="3520440" cy="1005840"/>
          </a:xfrm>
          <a:prstGeom prst="rect">
            <a:avLst/>
          </a:prstGeom>
          <a:solidFill>
            <a:srgbClr val="ED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1965960"/>
            <a:ext cx="3209544" cy="292608"/>
          </a:xfrm>
          <a:prstGeom prst="rect">
            <a:avLst/>
          </a:prstGeom>
          <a:noFill/>
        </p:spPr>
        <p:txBody>
          <a:bodyPr wrap="none" lIns="0" rIns="0" tIns="0" bIns="0" anchor="t">
            <a:noAutofit/>
          </a:bodyPr>
          <a:lstStyle/>
          <a:p>
            <a:pPr>
              <a:lnSpc>
                <a:spcPts val="2074"/>
              </a:lnSpc>
              <a:spcBef>
                <a:spcPts val="0"/>
              </a:spcBef>
              <a:spcAft>
                <a:spcPts val="0"/>
              </a:spcAft>
            </a:pPr>
            <a:r>
              <a:rPr sz="1700" b="1">
                <a:solidFill>
                  <a:srgbClr val="0070C0"/>
                </a:solidFill>
                <a:latin typeface="Liberation Sans"/>
              </a:rPr>
              <a:t>Functional verification</a:t>
            </a:r>
          </a:p>
        </p:txBody>
      </p:sp>
      <p:sp>
        <p:nvSpPr>
          <p:cNvPr id="21" name="TextBox 20"/>
          <p:cNvSpPr txBox="1"/>
          <p:nvPr/>
        </p:nvSpPr>
        <p:spPr>
          <a:xfrm>
            <a:off x="704088" y="2359152"/>
            <a:ext cx="3209544" cy="448056"/>
          </a:xfrm>
          <a:prstGeom prst="rect">
            <a:avLst/>
          </a:prstGeom>
          <a:noFill/>
        </p:spPr>
        <p:txBody>
          <a:bodyPr wrap="none" lIns="0" rIns="0" tIns="0" bIns="0" anchor="t">
            <a:noAutofit/>
          </a:bodyPr>
          <a:lstStyle/>
          <a:p>
            <a:pPr>
              <a:lnSpc>
                <a:spcPts val="1707"/>
              </a:lnSpc>
              <a:spcBef>
                <a:spcPts val="0"/>
              </a:spcBef>
              <a:spcAft>
                <a:spcPts val="0"/>
              </a:spcAft>
            </a:pPr>
            <a:r>
              <a:rPr sz="1400" b="0">
                <a:solidFill>
                  <a:srgbClr val="17344B"/>
                </a:solidFill>
                <a:latin typeface="Liberation Sans"/>
              </a:rPr>
              <a:t>Unit and integration testing</a:t>
            </a:r>
          </a:p>
          <a:p>
            <a:pPr>
              <a:lnSpc>
                <a:spcPts val="1707"/>
              </a:lnSpc>
              <a:spcBef>
                <a:spcPts val="0"/>
              </a:spcBef>
              <a:spcAft>
                <a:spcPts val="0"/>
              </a:spcAft>
            </a:pPr>
            <a:r>
              <a:rPr sz="1400" b="0">
                <a:solidFill>
                  <a:srgbClr val="17344B"/>
                </a:solidFill>
                <a:latin typeface="Liberation Sans"/>
              </a:rPr>
              <a:t>Schema and regression checks</a:t>
            </a:r>
          </a:p>
        </p:txBody>
      </p:sp>
      <p:sp>
        <p:nvSpPr>
          <p:cNvPr id="22" name="Rectangle 21"/>
          <p:cNvSpPr/>
          <p:nvPr/>
        </p:nvSpPr>
        <p:spPr>
          <a:xfrm>
            <a:off x="4325112" y="1828800"/>
            <a:ext cx="3520440" cy="1005840"/>
          </a:xfrm>
          <a:prstGeom prst="rect">
            <a:avLst/>
          </a:prstGeom>
          <a:solidFill>
            <a:srgbClr val="ED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80560" y="1965960"/>
            <a:ext cx="3209544" cy="292608"/>
          </a:xfrm>
          <a:prstGeom prst="rect">
            <a:avLst/>
          </a:prstGeom>
          <a:noFill/>
        </p:spPr>
        <p:txBody>
          <a:bodyPr wrap="none" lIns="0" rIns="0" tIns="0" bIns="0" anchor="t">
            <a:noAutofit/>
          </a:bodyPr>
          <a:lstStyle/>
          <a:p>
            <a:pPr>
              <a:lnSpc>
                <a:spcPts val="2074"/>
              </a:lnSpc>
              <a:spcBef>
                <a:spcPts val="0"/>
              </a:spcBef>
              <a:spcAft>
                <a:spcPts val="0"/>
              </a:spcAft>
            </a:pPr>
            <a:r>
              <a:rPr sz="1700" b="1">
                <a:solidFill>
                  <a:srgbClr val="0070C0"/>
                </a:solidFill>
                <a:latin typeface="Liberation Sans"/>
              </a:rPr>
              <a:t>Statistical evaluation</a:t>
            </a:r>
          </a:p>
        </p:txBody>
      </p:sp>
      <p:sp>
        <p:nvSpPr>
          <p:cNvPr id="24" name="TextBox 23"/>
          <p:cNvSpPr txBox="1"/>
          <p:nvPr/>
        </p:nvSpPr>
        <p:spPr>
          <a:xfrm>
            <a:off x="4480560" y="2359152"/>
            <a:ext cx="3209544" cy="448056"/>
          </a:xfrm>
          <a:prstGeom prst="rect">
            <a:avLst/>
          </a:prstGeom>
          <a:noFill/>
        </p:spPr>
        <p:txBody>
          <a:bodyPr wrap="none" lIns="0" rIns="0" tIns="0" bIns="0" anchor="t">
            <a:noAutofit/>
          </a:bodyPr>
          <a:lstStyle/>
          <a:p>
            <a:pPr>
              <a:lnSpc>
                <a:spcPts val="1707"/>
              </a:lnSpc>
              <a:spcBef>
                <a:spcPts val="0"/>
              </a:spcBef>
              <a:spcAft>
                <a:spcPts val="0"/>
              </a:spcAft>
            </a:pPr>
            <a:r>
              <a:rPr sz="1400" b="0">
                <a:solidFill>
                  <a:srgbClr val="17344B"/>
                </a:solidFill>
                <a:latin typeface="Liberation Sans"/>
              </a:rPr>
              <a:t>Seeded Monte Carlo experiments</a:t>
            </a:r>
          </a:p>
          <a:p>
            <a:pPr>
              <a:lnSpc>
                <a:spcPts val="1707"/>
              </a:lnSpc>
              <a:spcBef>
                <a:spcPts val="0"/>
              </a:spcBef>
              <a:spcAft>
                <a:spcPts val="0"/>
              </a:spcAft>
            </a:pPr>
            <a:r>
              <a:rPr sz="1400" b="0">
                <a:solidFill>
                  <a:srgbClr val="17344B"/>
                </a:solidFill>
                <a:latin typeface="Liberation Sans"/>
              </a:rPr>
              <a:t>Paired baseline comparisons</a:t>
            </a:r>
          </a:p>
        </p:txBody>
      </p:sp>
      <p:sp>
        <p:nvSpPr>
          <p:cNvPr id="25" name="Rectangle 24"/>
          <p:cNvSpPr/>
          <p:nvPr/>
        </p:nvSpPr>
        <p:spPr>
          <a:xfrm>
            <a:off x="8101583" y="1828800"/>
            <a:ext cx="3520440" cy="1005840"/>
          </a:xfrm>
          <a:prstGeom prst="rect">
            <a:avLst/>
          </a:prstGeom>
          <a:solidFill>
            <a:srgbClr val="ED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7031" y="1965960"/>
            <a:ext cx="3209544" cy="292608"/>
          </a:xfrm>
          <a:prstGeom prst="rect">
            <a:avLst/>
          </a:prstGeom>
          <a:noFill/>
        </p:spPr>
        <p:txBody>
          <a:bodyPr wrap="none" lIns="0" rIns="0" tIns="0" bIns="0" anchor="t">
            <a:noAutofit/>
          </a:bodyPr>
          <a:lstStyle/>
          <a:p>
            <a:pPr>
              <a:lnSpc>
                <a:spcPts val="2074"/>
              </a:lnSpc>
              <a:spcBef>
                <a:spcPts val="0"/>
              </a:spcBef>
              <a:spcAft>
                <a:spcPts val="0"/>
              </a:spcAft>
            </a:pPr>
            <a:r>
              <a:rPr sz="1700" b="1">
                <a:solidFill>
                  <a:srgbClr val="0070C0"/>
                </a:solidFill>
                <a:latin typeface="Liberation Sans"/>
              </a:rPr>
              <a:t>Planned stress testing</a:t>
            </a:r>
          </a:p>
        </p:txBody>
      </p:sp>
      <p:sp>
        <p:nvSpPr>
          <p:cNvPr id="27" name="TextBox 26"/>
          <p:cNvSpPr txBox="1"/>
          <p:nvPr/>
        </p:nvSpPr>
        <p:spPr>
          <a:xfrm>
            <a:off x="8257031" y="2359152"/>
            <a:ext cx="3209544" cy="448056"/>
          </a:xfrm>
          <a:prstGeom prst="rect">
            <a:avLst/>
          </a:prstGeom>
          <a:noFill/>
        </p:spPr>
        <p:txBody>
          <a:bodyPr wrap="none" lIns="0" rIns="0" tIns="0" bIns="0" anchor="t">
            <a:noAutofit/>
          </a:bodyPr>
          <a:lstStyle/>
          <a:p>
            <a:pPr>
              <a:lnSpc>
                <a:spcPts val="1707"/>
              </a:lnSpc>
              <a:spcBef>
                <a:spcPts val="0"/>
              </a:spcBef>
              <a:spcAft>
                <a:spcPts val="0"/>
              </a:spcAft>
            </a:pPr>
            <a:r>
              <a:rPr sz="1400" b="0">
                <a:solidFill>
                  <a:srgbClr val="17344B"/>
                </a:solidFill>
                <a:latin typeface="Liberation Sans"/>
              </a:rPr>
              <a:t>Noise and distribution-shift tests</a:t>
            </a:r>
          </a:p>
          <a:p>
            <a:pPr>
              <a:lnSpc>
                <a:spcPts val="1707"/>
              </a:lnSpc>
              <a:spcBef>
                <a:spcPts val="0"/>
              </a:spcBef>
              <a:spcAft>
                <a:spcPts val="0"/>
              </a:spcAft>
            </a:pPr>
            <a:r>
              <a:rPr sz="1400" b="0">
                <a:solidFill>
                  <a:srgbClr val="17344B"/>
                </a:solidFill>
                <a:latin typeface="Liberation Sans"/>
              </a:rPr>
              <a:t>Latency and memory profiling</a:t>
            </a:r>
          </a:p>
        </p:txBody>
      </p:sp>
      <p:sp>
        <p:nvSpPr>
          <p:cNvPr id="28" name="TextBox 27"/>
          <p:cNvSpPr txBox="1"/>
          <p:nvPr/>
        </p:nvSpPr>
        <p:spPr>
          <a:xfrm>
            <a:off x="548640" y="3044952"/>
            <a:ext cx="11064240" cy="329184"/>
          </a:xfrm>
          <a:prstGeom prst="rect">
            <a:avLst/>
          </a:prstGeom>
          <a:noFill/>
        </p:spPr>
        <p:txBody>
          <a:bodyPr wrap="none" lIns="0" rIns="0" tIns="0" bIns="0" anchor="t">
            <a:noAutofit/>
          </a:bodyPr>
          <a:lstStyle/>
          <a:p>
            <a:pPr>
              <a:lnSpc>
                <a:spcPts val="2013"/>
              </a:lnSpc>
              <a:spcBef>
                <a:spcPts val="0"/>
              </a:spcBef>
              <a:spcAft>
                <a:spcPts val="0"/>
              </a:spcAft>
            </a:pPr>
            <a:r>
              <a:rPr sz="1650" b="0">
                <a:solidFill>
                  <a:srgbClr val="17344B"/>
                </a:solidFill>
                <a:latin typeface="Liberation Sans"/>
              </a:rPr>
              <a:t>Engineering foundation: modular receiver simulation, deterministic replay and parallel evaluation.</a:t>
            </a:r>
          </a:p>
        </p:txBody>
      </p:sp>
      <p:sp>
        <p:nvSpPr>
          <p:cNvPr id="29" name="Rectangle 28"/>
          <p:cNvSpPr/>
          <p:nvPr/>
        </p:nvSpPr>
        <p:spPr>
          <a:xfrm>
            <a:off x="548640" y="3557016"/>
            <a:ext cx="11073384" cy="384048"/>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3232" y="3639312"/>
            <a:ext cx="4654296" cy="246888"/>
          </a:xfrm>
          <a:prstGeom prst="rect">
            <a:avLst/>
          </a:prstGeom>
          <a:noFill/>
        </p:spPr>
        <p:txBody>
          <a:bodyPr wrap="none" lIns="0" rIns="0" tIns="0" bIns="0" anchor="t">
            <a:noAutofit/>
          </a:bodyPr>
          <a:lstStyle/>
          <a:p>
            <a:pPr>
              <a:lnSpc>
                <a:spcPts val="1707"/>
              </a:lnSpc>
              <a:spcBef>
                <a:spcPts val="0"/>
              </a:spcBef>
              <a:spcAft>
                <a:spcPts val="0"/>
              </a:spcAft>
            </a:pPr>
            <a:r>
              <a:rPr sz="1400" b="1">
                <a:solidFill>
                  <a:srgbClr val="FFFFFF"/>
                </a:solidFill>
                <a:latin typeface="Liberation Sans"/>
              </a:rPr>
              <a:t>Potential challenges and risks</a:t>
            </a:r>
          </a:p>
        </p:txBody>
      </p:sp>
      <p:sp>
        <p:nvSpPr>
          <p:cNvPr id="31" name="TextBox 30"/>
          <p:cNvSpPr txBox="1"/>
          <p:nvPr/>
        </p:nvSpPr>
        <p:spPr>
          <a:xfrm>
            <a:off x="5532120" y="3639312"/>
            <a:ext cx="5843016" cy="246888"/>
          </a:xfrm>
          <a:prstGeom prst="rect">
            <a:avLst/>
          </a:prstGeom>
          <a:noFill/>
        </p:spPr>
        <p:txBody>
          <a:bodyPr wrap="none" lIns="0" rIns="0" tIns="0" bIns="0" anchor="t">
            <a:noAutofit/>
          </a:bodyPr>
          <a:lstStyle/>
          <a:p>
            <a:pPr>
              <a:lnSpc>
                <a:spcPts val="1707"/>
              </a:lnSpc>
              <a:spcBef>
                <a:spcPts val="0"/>
              </a:spcBef>
              <a:spcAft>
                <a:spcPts val="0"/>
              </a:spcAft>
            </a:pPr>
            <a:r>
              <a:rPr sz="1400" b="1">
                <a:solidFill>
                  <a:srgbClr val="FFFFFF"/>
                </a:solidFill>
                <a:latin typeface="Liberation Sans"/>
              </a:rPr>
              <a:t>Strategies for overcoming these challenges</a:t>
            </a:r>
          </a:p>
        </p:txBody>
      </p:sp>
      <p:sp>
        <p:nvSpPr>
          <p:cNvPr id="32" name="Rectangle 31"/>
          <p:cNvSpPr/>
          <p:nvPr/>
        </p:nvSpPr>
        <p:spPr>
          <a:xfrm>
            <a:off x="548640" y="3941063"/>
            <a:ext cx="11073384" cy="438912"/>
          </a:xfrm>
          <a:prstGeom prst="rect">
            <a:avLst/>
          </a:prstGeom>
          <a:solidFill>
            <a:srgbClr val="ED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4050791"/>
            <a:ext cx="4663440" cy="256032"/>
          </a:xfrm>
          <a:prstGeom prst="rect">
            <a:avLst/>
          </a:prstGeom>
          <a:noFill/>
        </p:spPr>
        <p:txBody>
          <a:bodyPr wrap="none" lIns="0" rIns="0" tIns="0" bIns="0" anchor="t">
            <a:noAutofit/>
          </a:bodyPr>
          <a:lstStyle/>
          <a:p>
            <a:pPr>
              <a:lnSpc>
                <a:spcPts val="1707"/>
              </a:lnSpc>
              <a:spcBef>
                <a:spcPts val="0"/>
              </a:spcBef>
              <a:spcAft>
                <a:spcPts val="0"/>
              </a:spcAft>
            </a:pPr>
            <a:r>
              <a:rPr sz="1400" b="0">
                <a:solidFill>
                  <a:srgbClr val="17344B"/>
                </a:solidFill>
                <a:latin typeface="Liberation Sans"/>
              </a:rPr>
              <a:t>Dataset scale and memory pressure</a:t>
            </a:r>
          </a:p>
        </p:txBody>
      </p:sp>
      <p:sp>
        <p:nvSpPr>
          <p:cNvPr id="34" name="TextBox 33"/>
          <p:cNvSpPr txBox="1"/>
          <p:nvPr/>
        </p:nvSpPr>
        <p:spPr>
          <a:xfrm>
            <a:off x="5532120" y="4050791"/>
            <a:ext cx="5870448" cy="256032"/>
          </a:xfrm>
          <a:prstGeom prst="rect">
            <a:avLst/>
          </a:prstGeom>
          <a:noFill/>
        </p:spPr>
        <p:txBody>
          <a:bodyPr wrap="none" lIns="0" rIns="0" tIns="0" bIns="0" anchor="t">
            <a:noAutofit/>
          </a:bodyPr>
          <a:lstStyle/>
          <a:p>
            <a:pPr>
              <a:lnSpc>
                <a:spcPts val="1707"/>
              </a:lnSpc>
              <a:spcBef>
                <a:spcPts val="0"/>
              </a:spcBef>
              <a:spcAft>
                <a:spcPts val="0"/>
              </a:spcAft>
            </a:pPr>
            <a:r>
              <a:rPr sz="1400" b="0">
                <a:solidFill>
                  <a:srgbClr val="17344B"/>
                </a:solidFill>
                <a:latin typeface="Liberation Sans"/>
              </a:rPr>
              <a:t>Chunked HDF5 ingestion; profiling-led native acceleration.</a:t>
            </a:r>
          </a:p>
        </p:txBody>
      </p:sp>
      <p:sp>
        <p:nvSpPr>
          <p:cNvPr id="35" name="Rectangle 34"/>
          <p:cNvSpPr/>
          <p:nvPr/>
        </p:nvSpPr>
        <p:spPr>
          <a:xfrm>
            <a:off x="548640" y="4379975"/>
            <a:ext cx="11073384" cy="438912"/>
          </a:xfrm>
          <a:prstGeom prst="rect">
            <a:avLst/>
          </a:prstGeom>
          <a:solidFill>
            <a:srgbClr val="F7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3232" y="4489703"/>
            <a:ext cx="4663440" cy="256032"/>
          </a:xfrm>
          <a:prstGeom prst="rect">
            <a:avLst/>
          </a:prstGeom>
          <a:noFill/>
        </p:spPr>
        <p:txBody>
          <a:bodyPr wrap="none" lIns="0" rIns="0" tIns="0" bIns="0" anchor="t">
            <a:noAutofit/>
          </a:bodyPr>
          <a:lstStyle/>
          <a:p>
            <a:pPr>
              <a:lnSpc>
                <a:spcPts val="1707"/>
              </a:lnSpc>
              <a:spcBef>
                <a:spcPts val="0"/>
              </a:spcBef>
              <a:spcAft>
                <a:spcPts val="0"/>
              </a:spcAft>
            </a:pPr>
            <a:r>
              <a:rPr sz="1400" b="0">
                <a:solidFill>
                  <a:srgbClr val="17344B"/>
                </a:solidFill>
                <a:latin typeface="Liberation Sans"/>
              </a:rPr>
              <a:t>Ambiguous pulse signatures and fragmentation</a:t>
            </a:r>
          </a:p>
        </p:txBody>
      </p:sp>
      <p:sp>
        <p:nvSpPr>
          <p:cNvPr id="37" name="TextBox 36"/>
          <p:cNvSpPr txBox="1"/>
          <p:nvPr/>
        </p:nvSpPr>
        <p:spPr>
          <a:xfrm>
            <a:off x="5532120" y="4489703"/>
            <a:ext cx="5870448" cy="256032"/>
          </a:xfrm>
          <a:prstGeom prst="rect">
            <a:avLst/>
          </a:prstGeom>
          <a:noFill/>
        </p:spPr>
        <p:txBody>
          <a:bodyPr wrap="none" lIns="0" rIns="0" tIns="0" bIns="0" anchor="t">
            <a:noAutofit/>
          </a:bodyPr>
          <a:lstStyle/>
          <a:p>
            <a:pPr>
              <a:lnSpc>
                <a:spcPts val="1707"/>
              </a:lnSpc>
              <a:spcBef>
                <a:spcPts val="0"/>
              </a:spcBef>
              <a:spcAft>
                <a:spcPts val="0"/>
              </a:spcAft>
            </a:pPr>
            <a:r>
              <a:rPr sz="1400" b="0">
                <a:solidFill>
                  <a:srgbClr val="17344B"/>
                </a:solidFill>
                <a:latin typeface="Liberation Sans"/>
              </a:rPr>
              <a:t>Multi-feature association; pairwise F1 and V-measure analysis.</a:t>
            </a:r>
          </a:p>
        </p:txBody>
      </p:sp>
      <p:sp>
        <p:nvSpPr>
          <p:cNvPr id="38" name="Rectangle 37"/>
          <p:cNvSpPr/>
          <p:nvPr/>
        </p:nvSpPr>
        <p:spPr>
          <a:xfrm>
            <a:off x="548640" y="4818888"/>
            <a:ext cx="11073384" cy="438912"/>
          </a:xfrm>
          <a:prstGeom prst="rect">
            <a:avLst/>
          </a:prstGeom>
          <a:solidFill>
            <a:srgbClr val="ED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13232" y="4928616"/>
            <a:ext cx="4663440" cy="256032"/>
          </a:xfrm>
          <a:prstGeom prst="rect">
            <a:avLst/>
          </a:prstGeom>
          <a:noFill/>
        </p:spPr>
        <p:txBody>
          <a:bodyPr wrap="none" lIns="0" rIns="0" tIns="0" bIns="0" anchor="t">
            <a:noAutofit/>
          </a:bodyPr>
          <a:lstStyle/>
          <a:p>
            <a:pPr>
              <a:lnSpc>
                <a:spcPts val="1707"/>
              </a:lnSpc>
              <a:spcBef>
                <a:spcPts val="0"/>
              </a:spcBef>
              <a:spcAft>
                <a:spcPts val="0"/>
              </a:spcAft>
            </a:pPr>
            <a:r>
              <a:rPr sz="1400" b="0">
                <a:solidFill>
                  <a:srgbClr val="17344B"/>
                </a:solidFill>
                <a:latin typeface="Liberation Sans"/>
              </a:rPr>
              <a:t>Concept drift and simulator overfitting</a:t>
            </a:r>
          </a:p>
        </p:txBody>
      </p:sp>
      <p:sp>
        <p:nvSpPr>
          <p:cNvPr id="40" name="TextBox 39"/>
          <p:cNvSpPr txBox="1"/>
          <p:nvPr/>
        </p:nvSpPr>
        <p:spPr>
          <a:xfrm>
            <a:off x="5532120" y="4928616"/>
            <a:ext cx="5870448" cy="256032"/>
          </a:xfrm>
          <a:prstGeom prst="rect">
            <a:avLst/>
          </a:prstGeom>
          <a:noFill/>
        </p:spPr>
        <p:txBody>
          <a:bodyPr wrap="none" lIns="0" rIns="0" tIns="0" bIns="0" anchor="t">
            <a:noAutofit/>
          </a:bodyPr>
          <a:lstStyle/>
          <a:p>
            <a:pPr>
              <a:lnSpc>
                <a:spcPts val="1707"/>
              </a:lnSpc>
              <a:spcBef>
                <a:spcPts val="0"/>
              </a:spcBef>
              <a:spcAft>
                <a:spcPts val="0"/>
              </a:spcAft>
            </a:pPr>
            <a:r>
              <a:rPr sz="1400" b="0">
                <a:solidFill>
                  <a:srgbClr val="17344B"/>
                </a:solidFill>
                <a:latin typeface="Liberation Sans"/>
              </a:rPr>
              <a:t>Held-out scenarios, sensitivity analysis and policy ablations.</a:t>
            </a:r>
          </a:p>
        </p:txBody>
      </p:sp>
      <p:sp>
        <p:nvSpPr>
          <p:cNvPr id="41" name="Rectangle 40"/>
          <p:cNvSpPr/>
          <p:nvPr/>
        </p:nvSpPr>
        <p:spPr>
          <a:xfrm>
            <a:off x="548640" y="5257800"/>
            <a:ext cx="11073384" cy="438912"/>
          </a:xfrm>
          <a:prstGeom prst="rect">
            <a:avLst/>
          </a:prstGeom>
          <a:solidFill>
            <a:srgbClr val="F7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13232" y="5367528"/>
            <a:ext cx="4663440" cy="256032"/>
          </a:xfrm>
          <a:prstGeom prst="rect">
            <a:avLst/>
          </a:prstGeom>
          <a:noFill/>
        </p:spPr>
        <p:txBody>
          <a:bodyPr wrap="none" lIns="0" rIns="0" tIns="0" bIns="0" anchor="t">
            <a:noAutofit/>
          </a:bodyPr>
          <a:lstStyle/>
          <a:p>
            <a:pPr>
              <a:lnSpc>
                <a:spcPts val="1707"/>
              </a:lnSpc>
              <a:spcBef>
                <a:spcPts val="0"/>
              </a:spcBef>
              <a:spcAft>
                <a:spcPts val="0"/>
              </a:spcAft>
            </a:pPr>
            <a:r>
              <a:rPr sz="1400" b="0">
                <a:solidFill>
                  <a:srgbClr val="17344B"/>
                </a:solidFill>
                <a:latin typeface="Liberation Sans"/>
              </a:rPr>
              <a:t>Observation bias in recorded scan data</a:t>
            </a:r>
          </a:p>
        </p:txBody>
      </p:sp>
      <p:sp>
        <p:nvSpPr>
          <p:cNvPr id="43" name="TextBox 42"/>
          <p:cNvSpPr txBox="1"/>
          <p:nvPr/>
        </p:nvSpPr>
        <p:spPr>
          <a:xfrm>
            <a:off x="5532120" y="5367528"/>
            <a:ext cx="5870448" cy="256032"/>
          </a:xfrm>
          <a:prstGeom prst="rect">
            <a:avLst/>
          </a:prstGeom>
          <a:noFill/>
        </p:spPr>
        <p:txBody>
          <a:bodyPr wrap="none" lIns="0" rIns="0" tIns="0" bIns="0" anchor="t">
            <a:noAutofit/>
          </a:bodyPr>
          <a:lstStyle/>
          <a:p>
            <a:pPr>
              <a:lnSpc>
                <a:spcPts val="1707"/>
              </a:lnSpc>
              <a:spcBef>
                <a:spcPts val="0"/>
              </a:spcBef>
              <a:spcAft>
                <a:spcPts val="0"/>
              </a:spcAft>
            </a:pPr>
            <a:r>
              <a:rPr sz="1400" b="0">
                <a:solidFill>
                  <a:srgbClr val="17344B"/>
                </a:solidFill>
                <a:latin typeface="Liberation Sans"/>
              </a:rPr>
              <a:t>Separate offline association from closed-loop policy evaluation.</a:t>
            </a:r>
          </a:p>
        </p:txBody>
      </p:sp>
      <p:sp>
        <p:nvSpPr>
          <p:cNvPr id="44" name="TextBox 43"/>
          <p:cNvSpPr txBox="1"/>
          <p:nvPr/>
        </p:nvSpPr>
        <p:spPr>
          <a:xfrm>
            <a:off x="548640" y="5815584"/>
            <a:ext cx="11064240" cy="466344"/>
          </a:xfrm>
          <a:prstGeom prst="rect">
            <a:avLst/>
          </a:prstGeom>
          <a:noFill/>
        </p:spPr>
        <p:txBody>
          <a:bodyPr wrap="none" lIns="0" rIns="0" tIns="0" bIns="0" anchor="t">
            <a:noAutofit/>
          </a:bodyPr>
          <a:lstStyle/>
          <a:p>
            <a:pPr>
              <a:lnSpc>
                <a:spcPts val="1647"/>
              </a:lnSpc>
              <a:spcBef>
                <a:spcPts val="0"/>
              </a:spcBef>
              <a:spcAft>
                <a:spcPts val="0"/>
              </a:spcAft>
            </a:pPr>
            <a:r>
              <a:rPr sz="1350" b="1">
                <a:solidFill>
                  <a:srgbClr val="0070C0"/>
                </a:solidFill>
                <a:latin typeface="Liberation Sans"/>
              </a:rPr>
              <a:t>Delivery plan: data pipeline &gt; association benchmark &gt; learned scheduler &gt; optimisation &gt; API / dashboard.</a:t>
            </a:r>
          </a:p>
          <a:p>
            <a:pPr>
              <a:lnSpc>
                <a:spcPts val="1647"/>
              </a:lnSpc>
              <a:spcBef>
                <a:spcPts val="0"/>
              </a:spcBef>
              <a:spcAft>
                <a:spcPts val="0"/>
              </a:spcAft>
            </a:pPr>
            <a:r>
              <a:rPr sz="1350" b="1">
                <a:solidFill>
                  <a:srgbClr val="0070C0"/>
                </a:solidFill>
                <a:latin typeface="Liberation Sans"/>
              </a:rPr>
              <a:t>Validation gate: held-out gains over the strongest baseline, bounded memory and measured decision latency.</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2" name="TextBox 11"/>
          <p:cNvSpPr txBox="1"/>
          <p:nvPr/>
        </p:nvSpPr>
        <p:spPr>
          <a:xfrm>
            <a:off x="530352" y="320040"/>
            <a:ext cx="1371600" cy="320040"/>
          </a:xfrm>
          <a:prstGeom prst="rect">
            <a:avLst/>
          </a:prstGeom>
          <a:noFill/>
        </p:spPr>
        <p:txBody>
          <a:bodyPr wrap="none" lIns="0" rIns="0" tIns="0" bIns="0" anchor="t">
            <a:noAutofit/>
          </a:bodyPr>
          <a:lstStyle/>
          <a:p>
            <a:pPr>
              <a:lnSpc>
                <a:spcPts val="1830"/>
              </a:lnSpc>
              <a:spcBef>
                <a:spcPts val="0"/>
              </a:spcBef>
              <a:spcAft>
                <a:spcPts val="0"/>
              </a:spcAft>
            </a:pPr>
            <a:r>
              <a:rPr sz="1500" b="1">
                <a:solidFill>
                  <a:srgbClr val="0070C0"/>
                </a:solidFill>
                <a:latin typeface="Liberation Sans"/>
              </a:rPr>
              <a:t>SIH26055</a:t>
            </a:r>
          </a:p>
        </p:txBody>
      </p:sp>
      <p:sp>
        <p:nvSpPr>
          <p:cNvPr id="13" name="TextBox 12"/>
          <p:cNvSpPr txBox="1"/>
          <p:nvPr/>
        </p:nvSpPr>
        <p:spPr>
          <a:xfrm>
            <a:off x="1965960" y="429768"/>
            <a:ext cx="7726679" cy="548640"/>
          </a:xfrm>
          <a:prstGeom prst="rect">
            <a:avLst/>
          </a:prstGeom>
          <a:noFill/>
        </p:spPr>
        <p:txBody>
          <a:bodyPr wrap="none" lIns="0" rIns="0" tIns="0" bIns="0" anchor="t">
            <a:noAutofit/>
          </a:bodyPr>
          <a:lstStyle/>
          <a:p>
            <a:pPr>
              <a:lnSpc>
                <a:spcPts val="3294"/>
              </a:lnSpc>
              <a:spcBef>
                <a:spcPts val="0"/>
              </a:spcBef>
              <a:spcAft>
                <a:spcPts val="0"/>
              </a:spcAft>
            </a:pPr>
            <a:r>
              <a:rPr sz="2700" b="1">
                <a:solidFill>
                  <a:srgbClr val="17344B"/>
                </a:solidFill>
                <a:latin typeface="Liberation Serif"/>
              </a:rPr>
              <a:t>IMPACT AND BENEFITS</a:t>
            </a:r>
          </a:p>
        </p:txBody>
      </p:sp>
      <p:sp>
        <p:nvSpPr>
          <p:cNvPr id="14" name="TextBox 13"/>
          <p:cNvSpPr txBox="1"/>
          <p:nvPr/>
        </p:nvSpPr>
        <p:spPr>
          <a:xfrm>
            <a:off x="530352" y="6483096"/>
            <a:ext cx="3383280" cy="228600"/>
          </a:xfrm>
          <a:prstGeom prst="rect">
            <a:avLst/>
          </a:prstGeom>
          <a:noFill/>
        </p:spPr>
        <p:txBody>
          <a:bodyPr wrap="none" lIns="0" rIns="0" tIns="0" bIns="0" anchor="t">
            <a:noAutofit/>
          </a:bodyPr>
          <a:lstStyle/>
          <a:p>
            <a:pPr>
              <a:lnSpc>
                <a:spcPts val="1342"/>
              </a:lnSpc>
              <a:spcBef>
                <a:spcPts val="0"/>
              </a:spcBef>
              <a:spcAft>
                <a:spcPts val="0"/>
              </a:spcAft>
            </a:pPr>
            <a:r>
              <a:rPr sz="1100" b="1">
                <a:solidFill>
                  <a:srgbClr val="FFFFFF"/>
                </a:solidFill>
                <a:latin typeface="Liberation Sans"/>
              </a:rPr>
              <a:t>SPECTRA SCHEDULER</a:t>
            </a:r>
          </a:p>
        </p:txBody>
      </p:sp>
      <p:sp>
        <p:nvSpPr>
          <p:cNvPr id="15" name="TextBox 14"/>
          <p:cNvSpPr txBox="1"/>
          <p:nvPr/>
        </p:nvSpPr>
        <p:spPr>
          <a:xfrm>
            <a:off x="4590288" y="6483096"/>
            <a:ext cx="4389120" cy="228600"/>
          </a:xfrm>
          <a:prstGeom prst="rect">
            <a:avLst/>
          </a:prstGeom>
          <a:noFill/>
        </p:spPr>
        <p:txBody>
          <a:bodyPr wrap="none" lIns="0" rIns="0" tIns="0" bIns="0" anchor="t">
            <a:noAutofit/>
          </a:bodyPr>
          <a:lstStyle/>
          <a:p>
            <a:pPr>
              <a:lnSpc>
                <a:spcPts val="1342"/>
              </a:lnSpc>
              <a:spcBef>
                <a:spcPts val="0"/>
              </a:spcBef>
              <a:spcAft>
                <a:spcPts val="0"/>
              </a:spcAft>
            </a:pPr>
            <a:r>
              <a:rPr sz="1100" b="0">
                <a:solidFill>
                  <a:srgbClr val="FFFFFF"/>
                </a:solidFill>
                <a:latin typeface="Liberation Sans"/>
              </a:rPr>
              <a:t>@SIH Idea submission- Template</a:t>
            </a:r>
          </a:p>
        </p:txBody>
      </p:sp>
      <p:sp>
        <p:nvSpPr>
          <p:cNvPr id="16" name="TextBox 15"/>
          <p:cNvSpPr txBox="1"/>
          <p:nvPr/>
        </p:nvSpPr>
        <p:spPr>
          <a:xfrm>
            <a:off x="11384280" y="6483096"/>
            <a:ext cx="320040" cy="228600"/>
          </a:xfrm>
          <a:prstGeom prst="rect">
            <a:avLst/>
          </a:prstGeom>
          <a:noFill/>
        </p:spPr>
        <p:txBody>
          <a:bodyPr wrap="none" lIns="0" rIns="0" tIns="0" bIns="0" anchor="t">
            <a:noAutofit/>
          </a:bodyPr>
          <a:lstStyle/>
          <a:p>
            <a:pPr>
              <a:lnSpc>
                <a:spcPts val="1342"/>
              </a:lnSpc>
              <a:spcBef>
                <a:spcPts val="0"/>
              </a:spcBef>
              <a:spcAft>
                <a:spcPts val="0"/>
              </a:spcAft>
            </a:pPr>
            <a:r>
              <a:rPr sz="1100" b="1">
                <a:solidFill>
                  <a:srgbClr val="FFFFFF"/>
                </a:solidFill>
                <a:latin typeface="Liberation Sans"/>
              </a:rPr>
              <a:t>5</a:t>
            </a:r>
          </a:p>
        </p:txBody>
      </p:sp>
      <p:cxnSp>
        <p:nvCxnSpPr>
          <p:cNvPr id="17" name="Connector 16"/>
          <p:cNvCxnSpPr/>
          <p:nvPr/>
        </p:nvCxnSpPr>
        <p:spPr>
          <a:xfrm>
            <a:off x="530352" y="1161288"/>
            <a:ext cx="11128248" cy="0"/>
          </a:xfrm>
          <a:prstGeom prst="line">
            <a:avLst/>
          </a:prstGeom>
          <a:ln w="12700">
            <a:solidFill>
              <a:srgbClr val="D4E2E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1325880"/>
            <a:ext cx="11064240" cy="365760"/>
          </a:xfrm>
          <a:prstGeom prst="rect">
            <a:avLst/>
          </a:prstGeom>
          <a:noFill/>
        </p:spPr>
        <p:txBody>
          <a:bodyPr wrap="none" lIns="0" rIns="0" tIns="0" bIns="0" anchor="t">
            <a:noAutofit/>
          </a:bodyPr>
          <a:lstStyle/>
          <a:p>
            <a:pPr>
              <a:lnSpc>
                <a:spcPts val="2318"/>
              </a:lnSpc>
              <a:spcBef>
                <a:spcPts val="0"/>
              </a:spcBef>
              <a:spcAft>
                <a:spcPts val="0"/>
              </a:spcAft>
            </a:pPr>
            <a:r>
              <a:rPr sz="1900" b="1">
                <a:solidFill>
                  <a:srgbClr val="0070C0"/>
                </a:solidFill>
                <a:latin typeface="Liberation Sans"/>
              </a:rPr>
              <a:t>Potential impact on the target audience</a:t>
            </a:r>
          </a:p>
        </p:txBody>
      </p:sp>
      <p:sp>
        <p:nvSpPr>
          <p:cNvPr id="19" name="TextBox 18"/>
          <p:cNvSpPr txBox="1"/>
          <p:nvPr/>
        </p:nvSpPr>
        <p:spPr>
          <a:xfrm>
            <a:off x="548640" y="1856231"/>
            <a:ext cx="11064240" cy="621792"/>
          </a:xfrm>
          <a:prstGeom prst="rect">
            <a:avLst/>
          </a:prstGeom>
          <a:noFill/>
        </p:spPr>
        <p:txBody>
          <a:bodyPr wrap="none" lIns="0" rIns="0" tIns="0" bIns="0" anchor="t">
            <a:noAutofit/>
          </a:bodyPr>
          <a:lstStyle/>
          <a:p>
            <a:pPr>
              <a:lnSpc>
                <a:spcPts val="2196"/>
              </a:lnSpc>
              <a:spcBef>
                <a:spcPts val="0"/>
              </a:spcBef>
              <a:spcAft>
                <a:spcPts val="0"/>
              </a:spcAft>
            </a:pPr>
            <a:r>
              <a:rPr sz="1800" b="0">
                <a:solidFill>
                  <a:srgbClr val="17344B"/>
                </a:solidFill>
                <a:latin typeface="Liberation Sans"/>
              </a:rPr>
              <a:t>For electronic-support R&amp;D teams, receiver-system developers and RF research laboratories:</a:t>
            </a:r>
          </a:p>
          <a:p>
            <a:pPr>
              <a:lnSpc>
                <a:spcPts val="2196"/>
              </a:lnSpc>
              <a:spcBef>
                <a:spcPts val="0"/>
              </a:spcBef>
              <a:spcAft>
                <a:spcPts val="0"/>
              </a:spcAft>
            </a:pPr>
            <a:r>
              <a:rPr sz="1800" b="0">
                <a:solidFill>
                  <a:srgbClr val="17344B"/>
                </a:solidFill>
                <a:latin typeface="Liberation Sans"/>
              </a:rPr>
              <a:t>a software-defined evaluation platform for adaptive spectrum-management strategies.</a:t>
            </a:r>
          </a:p>
        </p:txBody>
      </p:sp>
      <p:sp>
        <p:nvSpPr>
          <p:cNvPr id="20" name="Rectangle 19"/>
          <p:cNvSpPr/>
          <p:nvPr/>
        </p:nvSpPr>
        <p:spPr>
          <a:xfrm>
            <a:off x="548640" y="2752344"/>
            <a:ext cx="3520440" cy="1911095"/>
          </a:xfrm>
          <a:prstGeom prst="rect">
            <a:avLst/>
          </a:prstGeom>
          <a:solidFill>
            <a:srgbClr val="ED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2752344"/>
            <a:ext cx="41148" cy="1911095"/>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2898648"/>
            <a:ext cx="3209544" cy="548640"/>
          </a:xfrm>
          <a:prstGeom prst="rect">
            <a:avLst/>
          </a:prstGeom>
          <a:noFill/>
        </p:spPr>
        <p:txBody>
          <a:bodyPr wrap="none" lIns="0" rIns="0" tIns="0" bIns="0" anchor="t">
            <a:noAutofit/>
          </a:bodyPr>
          <a:lstStyle/>
          <a:p>
            <a:pPr>
              <a:lnSpc>
                <a:spcPts val="2196"/>
              </a:lnSpc>
              <a:spcBef>
                <a:spcPts val="0"/>
              </a:spcBef>
              <a:spcAft>
                <a:spcPts val="0"/>
              </a:spcAft>
            </a:pPr>
            <a:r>
              <a:rPr sz="1800" b="1">
                <a:solidFill>
                  <a:srgbClr val="0070C0"/>
                </a:solidFill>
                <a:latin typeface="Liberation Sans"/>
              </a:rPr>
              <a:t>Technical benefits</a:t>
            </a:r>
          </a:p>
        </p:txBody>
      </p:sp>
      <p:sp>
        <p:nvSpPr>
          <p:cNvPr id="23" name="TextBox 22"/>
          <p:cNvSpPr txBox="1"/>
          <p:nvPr/>
        </p:nvSpPr>
        <p:spPr>
          <a:xfrm>
            <a:off x="713232" y="3557015"/>
            <a:ext cx="3200400" cy="1042415"/>
          </a:xfrm>
          <a:prstGeom prst="rect">
            <a:avLst/>
          </a:prstGeom>
          <a:noFill/>
        </p:spPr>
        <p:txBody>
          <a:bodyPr wrap="none" lIns="0" rIns="0" tIns="0" bIns="0" anchor="t">
            <a:noAutofit/>
          </a:bodyPr>
          <a:lstStyle/>
          <a:p>
            <a:pPr>
              <a:lnSpc>
                <a:spcPts val="1952"/>
              </a:lnSpc>
              <a:spcBef>
                <a:spcPts val="0"/>
              </a:spcBef>
              <a:spcAft>
                <a:spcPts val="0"/>
              </a:spcAft>
            </a:pPr>
            <a:r>
              <a:rPr sz="1600" b="0">
                <a:solidFill>
                  <a:srgbClr val="17344B"/>
                </a:solidFill>
                <a:latin typeface="Liberation Sans"/>
              </a:rPr>
              <a:t>Lower time to first interception.</a:t>
            </a:r>
          </a:p>
          <a:p>
            <a:pPr>
              <a:lnSpc>
                <a:spcPts val="1952"/>
              </a:lnSpc>
              <a:spcBef>
                <a:spcPts val="0"/>
              </a:spcBef>
              <a:spcAft>
                <a:spcPts val="0"/>
              </a:spcAft>
            </a:pPr>
            <a:r>
              <a:rPr sz="1600" b="0">
                <a:solidFill>
                  <a:srgbClr val="17344B"/>
                </a:solidFill>
                <a:latin typeface="Liberation Sans"/>
              </a:rPr>
              <a:t>Improve interception probability.</a:t>
            </a:r>
          </a:p>
          <a:p>
            <a:pPr>
              <a:lnSpc>
                <a:spcPts val="1952"/>
              </a:lnSpc>
              <a:spcBef>
                <a:spcPts val="0"/>
              </a:spcBef>
              <a:spcAft>
                <a:spcPts val="0"/>
              </a:spcAft>
            </a:pPr>
            <a:r>
              <a:rPr sz="1600" b="0">
                <a:solidFill>
                  <a:srgbClr val="17344B"/>
                </a:solidFill>
                <a:latin typeface="Liberation Sans"/>
              </a:rPr>
              <a:t>Preserve wide-spectrum coverage.</a:t>
            </a:r>
          </a:p>
        </p:txBody>
      </p:sp>
      <p:sp>
        <p:nvSpPr>
          <p:cNvPr id="24" name="Rectangle 23"/>
          <p:cNvSpPr/>
          <p:nvPr/>
        </p:nvSpPr>
        <p:spPr>
          <a:xfrm>
            <a:off x="4325112" y="2752344"/>
            <a:ext cx="3520440" cy="1911095"/>
          </a:xfrm>
          <a:prstGeom prst="rect">
            <a:avLst/>
          </a:prstGeom>
          <a:solidFill>
            <a:srgbClr val="ED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25112" y="2752344"/>
            <a:ext cx="41148" cy="1911095"/>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89704" y="2898648"/>
            <a:ext cx="3209544" cy="548640"/>
          </a:xfrm>
          <a:prstGeom prst="rect">
            <a:avLst/>
          </a:prstGeom>
          <a:noFill/>
        </p:spPr>
        <p:txBody>
          <a:bodyPr wrap="none" lIns="0" rIns="0" tIns="0" bIns="0" anchor="t">
            <a:noAutofit/>
          </a:bodyPr>
          <a:lstStyle/>
          <a:p>
            <a:pPr>
              <a:lnSpc>
                <a:spcPts val="2196"/>
              </a:lnSpc>
              <a:spcBef>
                <a:spcPts val="0"/>
              </a:spcBef>
              <a:spcAft>
                <a:spcPts val="0"/>
              </a:spcAft>
            </a:pPr>
            <a:r>
              <a:rPr sz="1800" b="1">
                <a:solidFill>
                  <a:srgbClr val="0070C0"/>
                </a:solidFill>
                <a:latin typeface="Liberation Sans"/>
              </a:rPr>
              <a:t>Economic benefits</a:t>
            </a:r>
          </a:p>
        </p:txBody>
      </p:sp>
      <p:sp>
        <p:nvSpPr>
          <p:cNvPr id="27" name="TextBox 26"/>
          <p:cNvSpPr txBox="1"/>
          <p:nvPr/>
        </p:nvSpPr>
        <p:spPr>
          <a:xfrm>
            <a:off x="4489704" y="3557015"/>
            <a:ext cx="3200400" cy="1042415"/>
          </a:xfrm>
          <a:prstGeom prst="rect">
            <a:avLst/>
          </a:prstGeom>
          <a:noFill/>
        </p:spPr>
        <p:txBody>
          <a:bodyPr wrap="none" lIns="0" rIns="0" tIns="0" bIns="0" anchor="t">
            <a:noAutofit/>
          </a:bodyPr>
          <a:lstStyle/>
          <a:p>
            <a:pPr>
              <a:lnSpc>
                <a:spcPts val="1952"/>
              </a:lnSpc>
              <a:spcBef>
                <a:spcPts val="0"/>
              </a:spcBef>
              <a:spcAft>
                <a:spcPts val="0"/>
              </a:spcAft>
            </a:pPr>
            <a:r>
              <a:rPr sz="1600" b="0">
                <a:solidFill>
                  <a:srgbClr val="17344B"/>
                </a:solidFill>
                <a:latin typeface="Liberation Sans"/>
              </a:rPr>
              <a:t>Reduce reliance on RF testbeds.</a:t>
            </a:r>
          </a:p>
          <a:p>
            <a:pPr>
              <a:lnSpc>
                <a:spcPts val="1952"/>
              </a:lnSpc>
              <a:spcBef>
                <a:spcPts val="0"/>
              </a:spcBef>
              <a:spcAft>
                <a:spcPts val="0"/>
              </a:spcAft>
            </a:pPr>
            <a:r>
              <a:rPr sz="1600" b="0">
                <a:solidFill>
                  <a:srgbClr val="17344B"/>
                </a:solidFill>
                <a:latin typeface="Liberation Sans"/>
              </a:rPr>
              <a:t>Accelerate policy benchmarking.</a:t>
            </a:r>
          </a:p>
          <a:p>
            <a:pPr>
              <a:lnSpc>
                <a:spcPts val="1952"/>
              </a:lnSpc>
              <a:spcBef>
                <a:spcPts val="0"/>
              </a:spcBef>
              <a:spcAft>
                <a:spcPts val="0"/>
              </a:spcAft>
            </a:pPr>
            <a:r>
              <a:rPr sz="1600" b="0">
                <a:solidFill>
                  <a:srgbClr val="17344B"/>
                </a:solidFill>
                <a:latin typeface="Liberation Sans"/>
              </a:rPr>
              <a:t>Reuse compute and test scenarios.</a:t>
            </a:r>
          </a:p>
        </p:txBody>
      </p:sp>
      <p:sp>
        <p:nvSpPr>
          <p:cNvPr id="28" name="Rectangle 27"/>
          <p:cNvSpPr/>
          <p:nvPr/>
        </p:nvSpPr>
        <p:spPr>
          <a:xfrm>
            <a:off x="8101583" y="2752344"/>
            <a:ext cx="3520440" cy="1911095"/>
          </a:xfrm>
          <a:prstGeom prst="rect">
            <a:avLst/>
          </a:prstGeom>
          <a:solidFill>
            <a:srgbClr val="ED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01583" y="2752344"/>
            <a:ext cx="41148" cy="1911095"/>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66175" y="2898648"/>
            <a:ext cx="3209544" cy="548640"/>
          </a:xfrm>
          <a:prstGeom prst="rect">
            <a:avLst/>
          </a:prstGeom>
          <a:noFill/>
        </p:spPr>
        <p:txBody>
          <a:bodyPr wrap="none" lIns="0" rIns="0" tIns="0" bIns="0" anchor="t">
            <a:noAutofit/>
          </a:bodyPr>
          <a:lstStyle/>
          <a:p>
            <a:pPr>
              <a:lnSpc>
                <a:spcPts val="2196"/>
              </a:lnSpc>
              <a:spcBef>
                <a:spcPts val="0"/>
              </a:spcBef>
              <a:spcAft>
                <a:spcPts val="0"/>
              </a:spcAft>
            </a:pPr>
            <a:r>
              <a:rPr sz="1800" b="1">
                <a:solidFill>
                  <a:srgbClr val="0070C0"/>
                </a:solidFill>
                <a:latin typeface="Liberation Sans"/>
              </a:rPr>
              <a:t>Planned capabilities</a:t>
            </a:r>
          </a:p>
        </p:txBody>
      </p:sp>
      <p:sp>
        <p:nvSpPr>
          <p:cNvPr id="31" name="TextBox 30"/>
          <p:cNvSpPr txBox="1"/>
          <p:nvPr/>
        </p:nvSpPr>
        <p:spPr>
          <a:xfrm>
            <a:off x="8266175" y="3557015"/>
            <a:ext cx="3200400" cy="1042415"/>
          </a:xfrm>
          <a:prstGeom prst="rect">
            <a:avLst/>
          </a:prstGeom>
          <a:noFill/>
        </p:spPr>
        <p:txBody>
          <a:bodyPr wrap="none" lIns="0" rIns="0" tIns="0" bIns="0" anchor="t">
            <a:noAutofit/>
          </a:bodyPr>
          <a:lstStyle/>
          <a:p>
            <a:pPr>
              <a:lnSpc>
                <a:spcPts val="1952"/>
              </a:lnSpc>
              <a:spcBef>
                <a:spcPts val="0"/>
              </a:spcBef>
              <a:spcAft>
                <a:spcPts val="0"/>
              </a:spcAft>
            </a:pPr>
            <a:r>
              <a:rPr sz="1600" b="0">
                <a:solidFill>
                  <a:srgbClr val="17344B"/>
                </a:solidFill>
                <a:latin typeface="Liberation Sans"/>
              </a:rPr>
              <a:t>Scalable offline data processing.</a:t>
            </a:r>
          </a:p>
          <a:p>
            <a:pPr>
              <a:lnSpc>
                <a:spcPts val="1952"/>
              </a:lnSpc>
              <a:spcBef>
                <a:spcPts val="0"/>
              </a:spcBef>
              <a:spcAft>
                <a:spcPts val="0"/>
              </a:spcAft>
            </a:pPr>
            <a:r>
              <a:rPr sz="1600" b="0">
                <a:solidFill>
                  <a:srgbClr val="17344B"/>
                </a:solidFill>
                <a:latin typeface="Liberation Sans"/>
              </a:rPr>
              <a:t>Modular receiver integration.</a:t>
            </a:r>
          </a:p>
          <a:p>
            <a:pPr>
              <a:lnSpc>
                <a:spcPts val="1952"/>
              </a:lnSpc>
              <a:spcBef>
                <a:spcPts val="0"/>
              </a:spcBef>
              <a:spcAft>
                <a:spcPts val="0"/>
              </a:spcAft>
            </a:pPr>
            <a:r>
              <a:rPr sz="1600" b="0">
                <a:solidFill>
                  <a:srgbClr val="17344B"/>
                </a:solidFill>
                <a:latin typeface="Liberation Sans"/>
              </a:rPr>
              <a:t>Analyst-facing visual diagnostics.</a:t>
            </a:r>
          </a:p>
        </p:txBody>
      </p:sp>
      <p:sp>
        <p:nvSpPr>
          <p:cNvPr id="32" name="TextBox 31"/>
          <p:cNvSpPr txBox="1"/>
          <p:nvPr/>
        </p:nvSpPr>
        <p:spPr>
          <a:xfrm>
            <a:off x="548640" y="4910328"/>
            <a:ext cx="11064240" cy="320040"/>
          </a:xfrm>
          <a:prstGeom prst="rect">
            <a:avLst/>
          </a:prstGeom>
          <a:noFill/>
        </p:spPr>
        <p:txBody>
          <a:bodyPr wrap="none" lIns="0" rIns="0" tIns="0" bIns="0" anchor="t">
            <a:noAutofit/>
          </a:bodyPr>
          <a:lstStyle/>
          <a:p>
            <a:pPr>
              <a:lnSpc>
                <a:spcPts val="2196"/>
              </a:lnSpc>
              <a:spcBef>
                <a:spcPts val="0"/>
              </a:spcBef>
              <a:spcAft>
                <a:spcPts val="0"/>
              </a:spcAft>
            </a:pPr>
            <a:r>
              <a:rPr sz="1800" b="1">
                <a:solidFill>
                  <a:srgbClr val="0070C0"/>
                </a:solidFill>
                <a:latin typeface="Liberation Sans"/>
              </a:rPr>
              <a:t>Performance objectives and acceptance criteria</a:t>
            </a:r>
          </a:p>
        </p:txBody>
      </p:sp>
      <p:sp>
        <p:nvSpPr>
          <p:cNvPr id="33" name="TextBox 32"/>
          <p:cNvSpPr txBox="1"/>
          <p:nvPr/>
        </p:nvSpPr>
        <p:spPr>
          <a:xfrm>
            <a:off x="548640" y="5404104"/>
            <a:ext cx="11064240" cy="813816"/>
          </a:xfrm>
          <a:prstGeom prst="rect">
            <a:avLst/>
          </a:prstGeom>
          <a:noFill/>
        </p:spPr>
        <p:txBody>
          <a:bodyPr wrap="none" lIns="0" rIns="0" tIns="0" bIns="0" anchor="t">
            <a:noAutofit/>
          </a:bodyPr>
          <a:lstStyle/>
          <a:p>
            <a:pPr>
              <a:lnSpc>
                <a:spcPts val="1830"/>
              </a:lnSpc>
              <a:spcBef>
                <a:spcPts val="0"/>
              </a:spcBef>
              <a:spcAft>
                <a:spcPts val="0"/>
              </a:spcAft>
            </a:pPr>
            <a:r>
              <a:rPr sz="1500" b="0">
                <a:solidFill>
                  <a:srgbClr val="17344B"/>
                </a:solidFill>
                <a:latin typeface="Liberation Sans"/>
              </a:rPr>
              <a:t>Target: improve the interception–latency trade-off against the strongest baseline at equal receiver budgets.</a:t>
            </a:r>
          </a:p>
          <a:p>
            <a:pPr>
              <a:lnSpc>
                <a:spcPts val="1830"/>
              </a:lnSpc>
              <a:spcBef>
                <a:spcPts val="0"/>
              </a:spcBef>
              <a:spcAft>
                <a:spcPts val="0"/>
              </a:spcAft>
            </a:pPr>
            <a:r>
              <a:rPr sz="1500" b="0">
                <a:solidFill>
                  <a:srgbClr val="17344B"/>
                </a:solidFill>
                <a:latin typeface="Liberation Sans"/>
              </a:rPr>
              <a:t>Measure detection / false-alarm probability, sensitivity, interception rate, reward/cost and prediction accuracy.</a:t>
            </a:r>
          </a:p>
          <a:p>
            <a:pPr>
              <a:lnSpc>
                <a:spcPts val="1830"/>
              </a:lnSpc>
              <a:spcBef>
                <a:spcPts val="0"/>
              </a:spcBef>
              <a:spcAft>
                <a:spcPts val="0"/>
              </a:spcAft>
            </a:pPr>
            <a:r>
              <a:rPr sz="1500" b="0">
                <a:solidFill>
                  <a:srgbClr val="17344B"/>
                </a:solidFill>
                <a:latin typeface="Liberation Sans"/>
              </a:rPr>
              <a:t>Track intercept-time error, coverage gaps, association F1 / V-measure, peak memory and decision latency.</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3" name="TextBox 12"/>
          <p:cNvSpPr txBox="1"/>
          <p:nvPr/>
        </p:nvSpPr>
        <p:spPr>
          <a:xfrm>
            <a:off x="530352" y="320040"/>
            <a:ext cx="1371600" cy="320040"/>
          </a:xfrm>
          <a:prstGeom prst="rect">
            <a:avLst/>
          </a:prstGeom>
          <a:noFill/>
        </p:spPr>
        <p:txBody>
          <a:bodyPr wrap="none" lIns="0" rIns="0" tIns="0" bIns="0" anchor="t">
            <a:noAutofit/>
          </a:bodyPr>
          <a:lstStyle/>
          <a:p>
            <a:pPr>
              <a:lnSpc>
                <a:spcPts val="1830"/>
              </a:lnSpc>
              <a:spcBef>
                <a:spcPts val="0"/>
              </a:spcBef>
              <a:spcAft>
                <a:spcPts val="0"/>
              </a:spcAft>
            </a:pPr>
            <a:r>
              <a:rPr sz="1500" b="1">
                <a:solidFill>
                  <a:srgbClr val="0070C0"/>
                </a:solidFill>
                <a:latin typeface="Liberation Sans"/>
              </a:rPr>
              <a:t>SIH26055</a:t>
            </a:r>
          </a:p>
        </p:txBody>
      </p:sp>
      <p:sp>
        <p:nvSpPr>
          <p:cNvPr id="14" name="TextBox 13"/>
          <p:cNvSpPr txBox="1"/>
          <p:nvPr/>
        </p:nvSpPr>
        <p:spPr>
          <a:xfrm>
            <a:off x="1965960" y="429768"/>
            <a:ext cx="7726679" cy="548640"/>
          </a:xfrm>
          <a:prstGeom prst="rect">
            <a:avLst/>
          </a:prstGeom>
          <a:noFill/>
        </p:spPr>
        <p:txBody>
          <a:bodyPr wrap="none" lIns="0" rIns="0" tIns="0" bIns="0" anchor="t">
            <a:noAutofit/>
          </a:bodyPr>
          <a:lstStyle/>
          <a:p>
            <a:pPr>
              <a:lnSpc>
                <a:spcPts val="3294"/>
              </a:lnSpc>
              <a:spcBef>
                <a:spcPts val="0"/>
              </a:spcBef>
              <a:spcAft>
                <a:spcPts val="0"/>
              </a:spcAft>
            </a:pPr>
            <a:r>
              <a:rPr sz="2700" b="1">
                <a:solidFill>
                  <a:srgbClr val="17344B"/>
                </a:solidFill>
                <a:latin typeface="Liberation Serif"/>
              </a:rPr>
              <a:t>RESEARCH AND REFERENCES</a:t>
            </a:r>
          </a:p>
        </p:txBody>
      </p:sp>
      <p:sp>
        <p:nvSpPr>
          <p:cNvPr id="15" name="TextBox 14"/>
          <p:cNvSpPr txBox="1"/>
          <p:nvPr/>
        </p:nvSpPr>
        <p:spPr>
          <a:xfrm>
            <a:off x="530352" y="6483096"/>
            <a:ext cx="3383280" cy="228600"/>
          </a:xfrm>
          <a:prstGeom prst="rect">
            <a:avLst/>
          </a:prstGeom>
          <a:noFill/>
        </p:spPr>
        <p:txBody>
          <a:bodyPr wrap="none" lIns="0" rIns="0" tIns="0" bIns="0" anchor="t">
            <a:noAutofit/>
          </a:bodyPr>
          <a:lstStyle/>
          <a:p>
            <a:pPr>
              <a:lnSpc>
                <a:spcPts val="1342"/>
              </a:lnSpc>
              <a:spcBef>
                <a:spcPts val="0"/>
              </a:spcBef>
              <a:spcAft>
                <a:spcPts val="0"/>
              </a:spcAft>
            </a:pPr>
            <a:r>
              <a:rPr sz="1100" b="1">
                <a:solidFill>
                  <a:srgbClr val="FFFFFF"/>
                </a:solidFill>
                <a:latin typeface="Liberation Sans"/>
              </a:rPr>
              <a:t>SPECTRA SCHEDULER</a:t>
            </a:r>
          </a:p>
        </p:txBody>
      </p:sp>
      <p:sp>
        <p:nvSpPr>
          <p:cNvPr id="16" name="TextBox 15"/>
          <p:cNvSpPr txBox="1"/>
          <p:nvPr/>
        </p:nvSpPr>
        <p:spPr>
          <a:xfrm>
            <a:off x="4590288" y="6483096"/>
            <a:ext cx="4389120" cy="228600"/>
          </a:xfrm>
          <a:prstGeom prst="rect">
            <a:avLst/>
          </a:prstGeom>
          <a:noFill/>
        </p:spPr>
        <p:txBody>
          <a:bodyPr wrap="none" lIns="0" rIns="0" tIns="0" bIns="0" anchor="t">
            <a:noAutofit/>
          </a:bodyPr>
          <a:lstStyle/>
          <a:p>
            <a:pPr>
              <a:lnSpc>
                <a:spcPts val="1342"/>
              </a:lnSpc>
              <a:spcBef>
                <a:spcPts val="0"/>
              </a:spcBef>
              <a:spcAft>
                <a:spcPts val="0"/>
              </a:spcAft>
            </a:pPr>
            <a:r>
              <a:rPr sz="1100" b="0">
                <a:solidFill>
                  <a:srgbClr val="FFFFFF"/>
                </a:solidFill>
                <a:latin typeface="Liberation Sans"/>
              </a:rPr>
              <a:t>@SIH Idea submission- Template</a:t>
            </a:r>
          </a:p>
        </p:txBody>
      </p:sp>
      <p:sp>
        <p:nvSpPr>
          <p:cNvPr id="17" name="TextBox 16"/>
          <p:cNvSpPr txBox="1"/>
          <p:nvPr/>
        </p:nvSpPr>
        <p:spPr>
          <a:xfrm>
            <a:off x="11384280" y="6483096"/>
            <a:ext cx="320040" cy="228600"/>
          </a:xfrm>
          <a:prstGeom prst="rect">
            <a:avLst/>
          </a:prstGeom>
          <a:noFill/>
        </p:spPr>
        <p:txBody>
          <a:bodyPr wrap="none" lIns="0" rIns="0" tIns="0" bIns="0" anchor="t">
            <a:noAutofit/>
          </a:bodyPr>
          <a:lstStyle/>
          <a:p>
            <a:pPr>
              <a:lnSpc>
                <a:spcPts val="1342"/>
              </a:lnSpc>
              <a:spcBef>
                <a:spcPts val="0"/>
              </a:spcBef>
              <a:spcAft>
                <a:spcPts val="0"/>
              </a:spcAft>
            </a:pPr>
            <a:r>
              <a:rPr sz="1100" b="1">
                <a:solidFill>
                  <a:srgbClr val="FFFFFF"/>
                </a:solidFill>
                <a:latin typeface="Liberation Sans"/>
              </a:rPr>
              <a:t>6</a:t>
            </a:r>
          </a:p>
        </p:txBody>
      </p:sp>
      <p:cxnSp>
        <p:nvCxnSpPr>
          <p:cNvPr id="18" name="Connector 17"/>
          <p:cNvCxnSpPr/>
          <p:nvPr/>
        </p:nvCxnSpPr>
        <p:spPr>
          <a:xfrm>
            <a:off x="530352" y="1161288"/>
            <a:ext cx="11128248" cy="0"/>
          </a:xfrm>
          <a:prstGeom prst="line">
            <a:avLst/>
          </a:prstGeom>
          <a:ln w="12700">
            <a:solidFill>
              <a:srgbClr val="D4E2E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1325880"/>
            <a:ext cx="11064240" cy="320040"/>
          </a:xfrm>
          <a:prstGeom prst="rect">
            <a:avLst/>
          </a:prstGeom>
          <a:noFill/>
        </p:spPr>
        <p:txBody>
          <a:bodyPr wrap="none" lIns="0" rIns="0" tIns="0" bIns="0" anchor="t">
            <a:noAutofit/>
          </a:bodyPr>
          <a:lstStyle/>
          <a:p>
            <a:pPr>
              <a:lnSpc>
                <a:spcPts val="2318"/>
              </a:lnSpc>
              <a:spcBef>
                <a:spcPts val="0"/>
              </a:spcBef>
              <a:spcAft>
                <a:spcPts val="0"/>
              </a:spcAft>
            </a:pPr>
            <a:r>
              <a:rPr sz="1900" b="1">
                <a:solidFill>
                  <a:srgbClr val="0070C0"/>
                </a:solidFill>
                <a:latin typeface="Liberation Sans"/>
              </a:rPr>
              <a:t>Details / links of the reference and research work</a:t>
            </a:r>
          </a:p>
        </p:txBody>
      </p:sp>
      <p:sp>
        <p:nvSpPr>
          <p:cNvPr id="20" name="Rectangle 19"/>
          <p:cNvSpPr/>
          <p:nvPr/>
        </p:nvSpPr>
        <p:spPr>
          <a:xfrm>
            <a:off x="548640" y="1883664"/>
            <a:ext cx="402336" cy="36576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1952244"/>
            <a:ext cx="192024" cy="237744"/>
          </a:xfrm>
          <a:prstGeom prst="rect">
            <a:avLst/>
          </a:prstGeom>
          <a:noFill/>
        </p:spPr>
        <p:txBody>
          <a:bodyPr wrap="none" lIns="0" rIns="0" tIns="0" bIns="0" anchor="t">
            <a:noAutofit/>
          </a:bodyPr>
          <a:lstStyle/>
          <a:p>
            <a:pPr>
              <a:lnSpc>
                <a:spcPts val="1707"/>
              </a:lnSpc>
              <a:spcBef>
                <a:spcPts val="0"/>
              </a:spcBef>
              <a:spcAft>
                <a:spcPts val="0"/>
              </a:spcAft>
            </a:pPr>
            <a:r>
              <a:rPr sz="1400" b="1">
                <a:solidFill>
                  <a:srgbClr val="FFFFFF"/>
                </a:solidFill>
                <a:latin typeface="Liberation Sans"/>
              </a:rPr>
              <a:t>1</a:t>
            </a:r>
          </a:p>
        </p:txBody>
      </p:sp>
      <p:sp>
        <p:nvSpPr>
          <p:cNvPr id="22" name="TextBox 21"/>
          <p:cNvSpPr txBox="1"/>
          <p:nvPr/>
        </p:nvSpPr>
        <p:spPr>
          <a:xfrm>
            <a:off x="1133856" y="1883664"/>
            <a:ext cx="10424160" cy="301752"/>
          </a:xfrm>
          <a:prstGeom prst="rect">
            <a:avLst/>
          </a:prstGeom>
          <a:noFill/>
        </p:spPr>
        <p:txBody>
          <a:bodyPr wrap="none" lIns="0" rIns="0" tIns="0" bIns="0" anchor="t">
            <a:noAutofit/>
          </a:bodyPr>
          <a:lstStyle/>
          <a:p>
            <a:pPr>
              <a:lnSpc>
                <a:spcPts val="2074"/>
              </a:lnSpc>
              <a:spcBef>
                <a:spcPts val="0"/>
              </a:spcBef>
              <a:spcAft>
                <a:spcPts val="0"/>
              </a:spcAft>
            </a:pPr>
            <a:r>
              <a:rPr sz="1700" b="1">
                <a:solidFill>
                  <a:srgbClr val="17344B"/>
                </a:solidFill>
                <a:latin typeface="Liberation Sans"/>
              </a:rPr>
              <a:t>Gunn et al. — The Turing Synthetic Radar Dataset</a:t>
            </a:r>
          </a:p>
        </p:txBody>
      </p:sp>
      <p:sp>
        <p:nvSpPr>
          <p:cNvPr id="23" name="TextBox 22"/>
          <p:cNvSpPr txBox="1"/>
          <p:nvPr/>
        </p:nvSpPr>
        <p:spPr>
          <a:xfrm>
            <a:off x="1133856" y="2240280"/>
            <a:ext cx="10424160" cy="274320"/>
          </a:xfrm>
          <a:prstGeom prst="rect">
            <a:avLst/>
          </a:prstGeom>
          <a:noFill/>
        </p:spPr>
        <p:txBody>
          <a:bodyPr wrap="none" lIns="0" rIns="0" tIns="0" bIns="0" anchor="t">
            <a:noAutofit/>
          </a:bodyPr>
          <a:lstStyle/>
          <a:p>
            <a:pPr>
              <a:lnSpc>
                <a:spcPts val="1830"/>
              </a:lnSpc>
              <a:spcBef>
                <a:spcPts val="0"/>
              </a:spcBef>
              <a:spcAft>
                <a:spcPts val="0"/>
              </a:spcAft>
            </a:pPr>
            <a:r>
              <a:rPr sz="1500" b="0">
                <a:solidFill>
                  <a:srgbClr val="526574"/>
                </a:solidFill>
                <a:latin typeface="Liberation Sans"/>
              </a:rPr>
              <a:t>Benchmark design, scan/stare receiver modes and pulse-association evaluation.</a:t>
            </a:r>
          </a:p>
        </p:txBody>
      </p:sp>
      <p:sp>
        <p:nvSpPr>
          <p:cNvPr id="24" name="TextBox 23"/>
          <p:cNvSpPr txBox="1"/>
          <p:nvPr/>
        </p:nvSpPr>
        <p:spPr>
          <a:xfrm>
            <a:off x="1133856" y="2578608"/>
            <a:ext cx="10424160" cy="237744"/>
          </a:xfrm>
          <a:prstGeom prst="rect">
            <a:avLst/>
          </a:prstGeom>
          <a:noFill/>
        </p:spPr>
        <p:txBody>
          <a:bodyPr wrap="none" lIns="0" rIns="0" tIns="0" bIns="0" anchor="t">
            <a:noAutofit/>
          </a:bodyPr>
          <a:lstStyle/>
          <a:p>
            <a:pPr>
              <a:lnSpc>
                <a:spcPts val="1586"/>
              </a:lnSpc>
              <a:spcBef>
                <a:spcPts val="0"/>
              </a:spcBef>
              <a:spcAft>
                <a:spcPts val="0"/>
              </a:spcAft>
            </a:pPr>
            <a:r>
              <a:rPr sz="1300" b="0">
                <a:solidFill>
                  <a:srgbClr val="0070C0"/>
                </a:solidFill>
                <a:latin typeface="Liberation Sans"/>
                <a:hlinkClick r:id="rId4"/>
              </a:rPr>
              <a:t>arxiv.org/abs/2602.03856</a:t>
            </a:r>
          </a:p>
        </p:txBody>
      </p:sp>
      <p:sp>
        <p:nvSpPr>
          <p:cNvPr id="25" name="Rectangle 24"/>
          <p:cNvSpPr/>
          <p:nvPr/>
        </p:nvSpPr>
        <p:spPr>
          <a:xfrm>
            <a:off x="548640" y="2880360"/>
            <a:ext cx="402336" cy="36576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6656" y="2948940"/>
            <a:ext cx="192024" cy="237744"/>
          </a:xfrm>
          <a:prstGeom prst="rect">
            <a:avLst/>
          </a:prstGeom>
          <a:noFill/>
        </p:spPr>
        <p:txBody>
          <a:bodyPr wrap="none" lIns="0" rIns="0" tIns="0" bIns="0" anchor="t">
            <a:noAutofit/>
          </a:bodyPr>
          <a:lstStyle/>
          <a:p>
            <a:pPr>
              <a:lnSpc>
                <a:spcPts val="1707"/>
              </a:lnSpc>
              <a:spcBef>
                <a:spcPts val="0"/>
              </a:spcBef>
              <a:spcAft>
                <a:spcPts val="0"/>
              </a:spcAft>
            </a:pPr>
            <a:r>
              <a:rPr sz="1400" b="1">
                <a:solidFill>
                  <a:srgbClr val="FFFFFF"/>
                </a:solidFill>
                <a:latin typeface="Liberation Sans"/>
              </a:rPr>
              <a:t>2</a:t>
            </a:r>
          </a:p>
        </p:txBody>
      </p:sp>
      <p:sp>
        <p:nvSpPr>
          <p:cNvPr id="27" name="TextBox 26"/>
          <p:cNvSpPr txBox="1"/>
          <p:nvPr/>
        </p:nvSpPr>
        <p:spPr>
          <a:xfrm>
            <a:off x="1133856" y="2880360"/>
            <a:ext cx="10424160" cy="301752"/>
          </a:xfrm>
          <a:prstGeom prst="rect">
            <a:avLst/>
          </a:prstGeom>
          <a:noFill/>
        </p:spPr>
        <p:txBody>
          <a:bodyPr wrap="none" lIns="0" rIns="0" tIns="0" bIns="0" anchor="t">
            <a:noAutofit/>
          </a:bodyPr>
          <a:lstStyle/>
          <a:p>
            <a:pPr>
              <a:lnSpc>
                <a:spcPts val="2074"/>
              </a:lnSpc>
              <a:spcBef>
                <a:spcPts val="0"/>
              </a:spcBef>
              <a:spcAft>
                <a:spcPts val="0"/>
              </a:spcAft>
            </a:pPr>
            <a:r>
              <a:rPr sz="1700" b="1">
                <a:solidFill>
                  <a:srgbClr val="17344B"/>
                </a:solidFill>
                <a:latin typeface="Liberation Sans"/>
              </a:rPr>
              <a:t>Alan Turing Institute — TSRD dataset and companion code</a:t>
            </a:r>
          </a:p>
        </p:txBody>
      </p:sp>
      <p:sp>
        <p:nvSpPr>
          <p:cNvPr id="28" name="TextBox 27"/>
          <p:cNvSpPr txBox="1"/>
          <p:nvPr/>
        </p:nvSpPr>
        <p:spPr>
          <a:xfrm>
            <a:off x="1133856" y="3236976"/>
            <a:ext cx="10424160" cy="274320"/>
          </a:xfrm>
          <a:prstGeom prst="rect">
            <a:avLst/>
          </a:prstGeom>
          <a:noFill/>
        </p:spPr>
        <p:txBody>
          <a:bodyPr wrap="none" lIns="0" rIns="0" tIns="0" bIns="0" anchor="t">
            <a:noAutofit/>
          </a:bodyPr>
          <a:lstStyle/>
          <a:p>
            <a:pPr>
              <a:lnSpc>
                <a:spcPts val="1830"/>
              </a:lnSpc>
              <a:spcBef>
                <a:spcPts val="0"/>
              </a:spcBef>
              <a:spcAft>
                <a:spcPts val="0"/>
              </a:spcAft>
            </a:pPr>
            <a:r>
              <a:rPr sz="1500" b="0">
                <a:solidFill>
                  <a:srgbClr val="526574"/>
                </a:solidFill>
                <a:latin typeface="Liberation Sans"/>
              </a:rPr>
              <a:t>Five pulse features; file-level splits; HDF5 loading and reference evaluation.</a:t>
            </a:r>
          </a:p>
        </p:txBody>
      </p:sp>
      <p:sp>
        <p:nvSpPr>
          <p:cNvPr id="29" name="TextBox 28"/>
          <p:cNvSpPr txBox="1"/>
          <p:nvPr/>
        </p:nvSpPr>
        <p:spPr>
          <a:xfrm>
            <a:off x="1133856" y="3575304"/>
            <a:ext cx="1841735" cy="237744"/>
          </a:xfrm>
          <a:prstGeom prst="rect">
            <a:avLst/>
          </a:prstGeom>
          <a:noFill/>
        </p:spPr>
        <p:txBody>
          <a:bodyPr wrap="none" lIns="0" rIns="0" tIns="0" bIns="0" anchor="t">
            <a:noAutofit/>
          </a:bodyPr>
          <a:lstStyle/>
          <a:p>
            <a:pPr>
              <a:lnSpc>
                <a:spcPts val="1586"/>
              </a:lnSpc>
              <a:spcBef>
                <a:spcPts val="0"/>
              </a:spcBef>
              <a:spcAft>
                <a:spcPts val="0"/>
              </a:spcAft>
            </a:pPr>
            <a:r>
              <a:rPr sz="1300" b="0">
                <a:solidFill>
                  <a:srgbClr val="0070C0"/>
                </a:solidFill>
                <a:latin typeface="Liberation Sans"/>
                <a:hlinkClick r:id="rId5"/>
              </a:rPr>
              <a:t>Hugging Face dataset  |  </a:t>
            </a:r>
          </a:p>
        </p:txBody>
      </p:sp>
      <p:sp>
        <p:nvSpPr>
          <p:cNvPr id="30" name="TextBox 29"/>
          <p:cNvSpPr txBox="1"/>
          <p:nvPr/>
        </p:nvSpPr>
        <p:spPr>
          <a:xfrm>
            <a:off x="2975591" y="3575304"/>
            <a:ext cx="8582424" cy="237744"/>
          </a:xfrm>
          <a:prstGeom prst="rect">
            <a:avLst/>
          </a:prstGeom>
          <a:noFill/>
        </p:spPr>
        <p:txBody>
          <a:bodyPr wrap="none" lIns="0" rIns="0" tIns="0" bIns="0" anchor="t">
            <a:noAutofit/>
          </a:bodyPr>
          <a:lstStyle/>
          <a:p>
            <a:pPr>
              <a:lnSpc>
                <a:spcPts val="1586"/>
              </a:lnSpc>
              <a:spcBef>
                <a:spcPts val="0"/>
              </a:spcBef>
              <a:spcAft>
                <a:spcPts val="0"/>
              </a:spcAft>
            </a:pPr>
            <a:r>
              <a:rPr sz="1300" b="0">
                <a:solidFill>
                  <a:srgbClr val="0070C0"/>
                </a:solidFill>
                <a:latin typeface="Liberation Sans"/>
                <a:hlinkClick r:id="rId6"/>
              </a:rPr>
              <a:t>Turing Deinterleaving Challenge</a:t>
            </a:r>
          </a:p>
        </p:txBody>
      </p:sp>
      <p:sp>
        <p:nvSpPr>
          <p:cNvPr id="31" name="Rectangle 30"/>
          <p:cNvSpPr/>
          <p:nvPr/>
        </p:nvSpPr>
        <p:spPr>
          <a:xfrm>
            <a:off x="548640" y="3877056"/>
            <a:ext cx="402336" cy="36576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6656" y="3945636"/>
            <a:ext cx="192024" cy="237744"/>
          </a:xfrm>
          <a:prstGeom prst="rect">
            <a:avLst/>
          </a:prstGeom>
          <a:noFill/>
        </p:spPr>
        <p:txBody>
          <a:bodyPr wrap="none" lIns="0" rIns="0" tIns="0" bIns="0" anchor="t">
            <a:noAutofit/>
          </a:bodyPr>
          <a:lstStyle/>
          <a:p>
            <a:pPr>
              <a:lnSpc>
                <a:spcPts val="1707"/>
              </a:lnSpc>
              <a:spcBef>
                <a:spcPts val="0"/>
              </a:spcBef>
              <a:spcAft>
                <a:spcPts val="0"/>
              </a:spcAft>
            </a:pPr>
            <a:r>
              <a:rPr sz="1400" b="1">
                <a:solidFill>
                  <a:srgbClr val="FFFFFF"/>
                </a:solidFill>
                <a:latin typeface="Liberation Sans"/>
              </a:rPr>
              <a:t>3</a:t>
            </a:r>
          </a:p>
        </p:txBody>
      </p:sp>
      <p:sp>
        <p:nvSpPr>
          <p:cNvPr id="33" name="TextBox 32"/>
          <p:cNvSpPr txBox="1"/>
          <p:nvPr/>
        </p:nvSpPr>
        <p:spPr>
          <a:xfrm>
            <a:off x="1133856" y="3877056"/>
            <a:ext cx="10424160" cy="301752"/>
          </a:xfrm>
          <a:prstGeom prst="rect">
            <a:avLst/>
          </a:prstGeom>
          <a:noFill/>
        </p:spPr>
        <p:txBody>
          <a:bodyPr wrap="none" lIns="0" rIns="0" tIns="0" bIns="0" anchor="t">
            <a:noAutofit/>
          </a:bodyPr>
          <a:lstStyle/>
          <a:p>
            <a:pPr>
              <a:lnSpc>
                <a:spcPts val="2074"/>
              </a:lnSpc>
              <a:spcBef>
                <a:spcPts val="0"/>
              </a:spcBef>
              <a:spcAft>
                <a:spcPts val="0"/>
              </a:spcAft>
            </a:pPr>
            <a:r>
              <a:rPr sz="1700" b="1">
                <a:solidFill>
                  <a:srgbClr val="17344B"/>
                </a:solidFill>
                <a:latin typeface="Liberation Sans"/>
              </a:rPr>
              <a:t>Gunn et al. — Transformer-based deep metric learning</a:t>
            </a:r>
          </a:p>
        </p:txBody>
      </p:sp>
      <p:sp>
        <p:nvSpPr>
          <p:cNvPr id="34" name="TextBox 33"/>
          <p:cNvSpPr txBox="1"/>
          <p:nvPr/>
        </p:nvSpPr>
        <p:spPr>
          <a:xfrm>
            <a:off x="1133856" y="4233672"/>
            <a:ext cx="10424160" cy="274320"/>
          </a:xfrm>
          <a:prstGeom prst="rect">
            <a:avLst/>
          </a:prstGeom>
          <a:noFill/>
        </p:spPr>
        <p:txBody>
          <a:bodyPr wrap="none" lIns="0" rIns="0" tIns="0" bIns="0" anchor="t">
            <a:noAutofit/>
          </a:bodyPr>
          <a:lstStyle/>
          <a:p>
            <a:pPr>
              <a:lnSpc>
                <a:spcPts val="1830"/>
              </a:lnSpc>
              <a:spcBef>
                <a:spcPts val="0"/>
              </a:spcBef>
              <a:spcAft>
                <a:spcPts val="0"/>
              </a:spcAft>
            </a:pPr>
            <a:r>
              <a:rPr sz="1500" b="0">
                <a:solidFill>
                  <a:srgbClr val="526574"/>
                </a:solidFill>
                <a:latin typeface="Liberation Sans"/>
              </a:rPr>
              <a:t>Research basis for feature embeddings and context-aware pulse association.</a:t>
            </a:r>
          </a:p>
        </p:txBody>
      </p:sp>
      <p:sp>
        <p:nvSpPr>
          <p:cNvPr id="35" name="TextBox 34"/>
          <p:cNvSpPr txBox="1"/>
          <p:nvPr/>
        </p:nvSpPr>
        <p:spPr>
          <a:xfrm>
            <a:off x="1133856" y="4572000"/>
            <a:ext cx="10424160" cy="237744"/>
          </a:xfrm>
          <a:prstGeom prst="rect">
            <a:avLst/>
          </a:prstGeom>
          <a:noFill/>
        </p:spPr>
        <p:txBody>
          <a:bodyPr wrap="none" lIns="0" rIns="0" tIns="0" bIns="0" anchor="t">
            <a:noAutofit/>
          </a:bodyPr>
          <a:lstStyle/>
          <a:p>
            <a:pPr>
              <a:lnSpc>
                <a:spcPts val="1586"/>
              </a:lnSpc>
              <a:spcBef>
                <a:spcPts val="0"/>
              </a:spcBef>
              <a:spcAft>
                <a:spcPts val="0"/>
              </a:spcAft>
            </a:pPr>
            <a:r>
              <a:rPr sz="1300" b="0">
                <a:solidFill>
                  <a:srgbClr val="0070C0"/>
                </a:solidFill>
                <a:latin typeface="Liberation Sans"/>
                <a:hlinkClick r:id="rId7"/>
              </a:rPr>
              <a:t>arxiv.org/abs/2503.13476</a:t>
            </a:r>
          </a:p>
        </p:txBody>
      </p:sp>
      <p:sp>
        <p:nvSpPr>
          <p:cNvPr id="36" name="Rectangle 35"/>
          <p:cNvSpPr/>
          <p:nvPr/>
        </p:nvSpPr>
        <p:spPr>
          <a:xfrm>
            <a:off x="548640" y="4873752"/>
            <a:ext cx="402336" cy="36576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4942332"/>
            <a:ext cx="192024" cy="237744"/>
          </a:xfrm>
          <a:prstGeom prst="rect">
            <a:avLst/>
          </a:prstGeom>
          <a:noFill/>
        </p:spPr>
        <p:txBody>
          <a:bodyPr wrap="none" lIns="0" rIns="0" tIns="0" bIns="0" anchor="t">
            <a:noAutofit/>
          </a:bodyPr>
          <a:lstStyle/>
          <a:p>
            <a:pPr>
              <a:lnSpc>
                <a:spcPts val="1707"/>
              </a:lnSpc>
              <a:spcBef>
                <a:spcPts val="0"/>
              </a:spcBef>
              <a:spcAft>
                <a:spcPts val="0"/>
              </a:spcAft>
            </a:pPr>
            <a:r>
              <a:rPr sz="1400" b="1">
                <a:solidFill>
                  <a:srgbClr val="FFFFFF"/>
                </a:solidFill>
                <a:latin typeface="Liberation Sans"/>
              </a:rPr>
              <a:t>4</a:t>
            </a:r>
          </a:p>
        </p:txBody>
      </p:sp>
      <p:sp>
        <p:nvSpPr>
          <p:cNvPr id="38" name="TextBox 37"/>
          <p:cNvSpPr txBox="1"/>
          <p:nvPr/>
        </p:nvSpPr>
        <p:spPr>
          <a:xfrm>
            <a:off x="1133856" y="4873752"/>
            <a:ext cx="10424160" cy="301752"/>
          </a:xfrm>
          <a:prstGeom prst="rect">
            <a:avLst/>
          </a:prstGeom>
          <a:noFill/>
        </p:spPr>
        <p:txBody>
          <a:bodyPr wrap="none" lIns="0" rIns="0" tIns="0" bIns="0" anchor="t">
            <a:noAutofit/>
          </a:bodyPr>
          <a:lstStyle/>
          <a:p>
            <a:pPr>
              <a:lnSpc>
                <a:spcPts val="2074"/>
              </a:lnSpc>
              <a:spcBef>
                <a:spcPts val="0"/>
              </a:spcBef>
              <a:spcAft>
                <a:spcPts val="0"/>
              </a:spcAft>
            </a:pPr>
            <a:r>
              <a:rPr sz="1700" b="1">
                <a:solidFill>
                  <a:srgbClr val="17344B"/>
                </a:solidFill>
                <a:latin typeface="Liberation Sans"/>
              </a:rPr>
              <a:t>SIH26055 — Smart Scan strategy for Electronic Warfare</a:t>
            </a:r>
          </a:p>
        </p:txBody>
      </p:sp>
      <p:sp>
        <p:nvSpPr>
          <p:cNvPr id="39" name="TextBox 38"/>
          <p:cNvSpPr txBox="1"/>
          <p:nvPr/>
        </p:nvSpPr>
        <p:spPr>
          <a:xfrm>
            <a:off x="1133856" y="5230368"/>
            <a:ext cx="10424160" cy="274320"/>
          </a:xfrm>
          <a:prstGeom prst="rect">
            <a:avLst/>
          </a:prstGeom>
          <a:noFill/>
        </p:spPr>
        <p:txBody>
          <a:bodyPr wrap="none" lIns="0" rIns="0" tIns="0" bIns="0" anchor="t">
            <a:noAutofit/>
          </a:bodyPr>
          <a:lstStyle/>
          <a:p>
            <a:pPr>
              <a:lnSpc>
                <a:spcPts val="1830"/>
              </a:lnSpc>
              <a:spcBef>
                <a:spcPts val="0"/>
              </a:spcBef>
              <a:spcAft>
                <a:spcPts val="0"/>
              </a:spcAft>
            </a:pPr>
            <a:r>
              <a:rPr sz="1500" b="0">
                <a:solidFill>
                  <a:srgbClr val="526574"/>
                </a:solidFill>
                <a:latin typeface="Liberation Sans"/>
              </a:rPr>
              <a:t>Problem requirements: receiver simulation, feedback learning and interception metrics.</a:t>
            </a:r>
          </a:p>
        </p:txBody>
      </p:sp>
      <p:sp>
        <p:nvSpPr>
          <p:cNvPr id="40" name="TextBox 39"/>
          <p:cNvSpPr txBox="1"/>
          <p:nvPr/>
        </p:nvSpPr>
        <p:spPr>
          <a:xfrm>
            <a:off x="1133856" y="5568696"/>
            <a:ext cx="960449" cy="237744"/>
          </a:xfrm>
          <a:prstGeom prst="rect">
            <a:avLst/>
          </a:prstGeom>
          <a:noFill/>
        </p:spPr>
        <p:txBody>
          <a:bodyPr wrap="none" lIns="0" rIns="0" tIns="0" bIns="0" anchor="t">
            <a:noAutofit/>
          </a:bodyPr>
          <a:lstStyle/>
          <a:p>
            <a:pPr>
              <a:lnSpc>
                <a:spcPts val="1586"/>
              </a:lnSpc>
              <a:spcBef>
                <a:spcPts val="0"/>
              </a:spcBef>
              <a:spcAft>
                <a:spcPts val="0"/>
              </a:spcAft>
            </a:pPr>
            <a:r>
              <a:rPr sz="1300" b="0">
                <a:solidFill>
                  <a:srgbClr val="0070C0"/>
                </a:solidFill>
                <a:latin typeface="Liberation Sans"/>
                <a:hlinkClick r:id="rId8"/>
              </a:rPr>
              <a:t>SIH portal  |  </a:t>
            </a:r>
          </a:p>
        </p:txBody>
      </p:sp>
      <p:sp>
        <p:nvSpPr>
          <p:cNvPr id="41" name="TextBox 40"/>
          <p:cNvSpPr txBox="1"/>
          <p:nvPr/>
        </p:nvSpPr>
        <p:spPr>
          <a:xfrm>
            <a:off x="2094305" y="5568696"/>
            <a:ext cx="9463710" cy="237744"/>
          </a:xfrm>
          <a:prstGeom prst="rect">
            <a:avLst/>
          </a:prstGeom>
          <a:noFill/>
        </p:spPr>
        <p:txBody>
          <a:bodyPr wrap="none" lIns="0" rIns="0" tIns="0" bIns="0" anchor="t">
            <a:noAutofit/>
          </a:bodyPr>
          <a:lstStyle/>
          <a:p>
            <a:pPr>
              <a:lnSpc>
                <a:spcPts val="1586"/>
              </a:lnSpc>
              <a:spcBef>
                <a:spcPts val="0"/>
              </a:spcBef>
              <a:spcAft>
                <a:spcPts val="0"/>
              </a:spcAft>
            </a:pPr>
            <a:r>
              <a:rPr sz="1300" b="0">
                <a:solidFill>
                  <a:srgbClr val="0070C0"/>
                </a:solidFill>
                <a:latin typeface="Liberation Sans"/>
                <a:hlinkClick r:id="rId9"/>
              </a:rPr>
              <a:t>Accessible statement copy (community mirror)</a:t>
            </a:r>
          </a:p>
        </p:txBody>
      </p:sp>
      <p:sp>
        <p:nvSpPr>
          <p:cNvPr id="42" name="TextBox 41"/>
          <p:cNvSpPr txBox="1"/>
          <p:nvPr/>
        </p:nvSpPr>
        <p:spPr>
          <a:xfrm>
            <a:off x="548640" y="6044184"/>
            <a:ext cx="11064240" cy="228600"/>
          </a:xfrm>
          <a:prstGeom prst="rect">
            <a:avLst/>
          </a:prstGeom>
          <a:noFill/>
        </p:spPr>
        <p:txBody>
          <a:bodyPr wrap="none" lIns="0" rIns="0" tIns="0" bIns="0" anchor="t">
            <a:noAutofit/>
          </a:bodyPr>
          <a:lstStyle/>
          <a:p>
            <a:pPr>
              <a:lnSpc>
                <a:spcPts val="1525"/>
              </a:lnSpc>
              <a:spcBef>
                <a:spcPts val="0"/>
              </a:spcBef>
              <a:spcAft>
                <a:spcPts val="0"/>
              </a:spcAft>
            </a:pPr>
            <a:r>
              <a:rPr sz="1250" b="0">
                <a:solidFill>
                  <a:srgbClr val="526574"/>
                </a:solidFill>
                <a:latin typeface="Liberation Sans"/>
              </a:rPr>
              <a:t>Research foundation: reproducible benchmarking, contextual learning and multi-feature pulse association.</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Spectra Scheduler | SIH26055</dc:title>
  <dc:subject>Adaptive spectrum scheduling: technical proposal</dc:subject>
  <dc:creator/>
  <cp:keywords>SIH26055, spectrum scanning, simulation</cp:keywords>
  <dc:description/>
  <cp:lastModifiedBy/>
  <cp:revision>148</cp:revision>
  <cp:category/>
</cp:coreProperties>
</file>