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frozen timing forecaster uses receiver-visible masks, counts and calibrated power when available. The planner chooses band and native listening dwell from observations and public receiver settings. Synthetic simulation and external synthetic TSRD replay share this causal timing path through timing_replay.py. Replay explicitly marks calibrated power unavailable and retains raw delivered counts. Model weights remain frozen during evaluation; labels, emitter identity, known periods/phases and future truth are excluded from runtime inputs. The GUI currently displays synthetic comparisons; the replay CLI runs recordings independently.</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Selected checkpoint: artifacts/timing-refine-v1/seed-0/best.pt, epoch 24; SHA256 f821a7672b5b378154caa89d981893b77a62ddc0119ea74053483aa611ca744f. The band-shared TCN learns generic timing hypotheses (2–144 ms) and an aperiodic expert from 288 ms of causal receiver history, forecasting the next 80 ms. These are learned hypotheses, not supplied emitter intelligence. Receding-horizon planning accounts for retune delay, executes the first action and replans after feedback. Eight bands times 1/10/50-ms dwell gives 24 actions. Age-based coverage probes remain enabled. The synthetic CLI and browser load this selected forecaster; the replay CLI uses the corrected missing-power adapter. CUDA training, bounded memmaps, pinned staging, batched inference and configurable workers are implemented. Trajectory RL, neural MPC and other learning branches are comparison or experimental methods; the major learned contribution is temporal forecasting. External intercept-time calibration and hardware deadlines are not established.</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Frozen synthetic benchmark: 300 fresh worlds, 100 per emitter family, identical physical-time receiver budgets. Timing mean capture is 34.37% agile, 51.56% spatial and 67.66% periodic versus fixed sweep 11.10%, 11.17%, 10.87%. Strong phase planning achieves 27.57%, 45.85%, 64.15%; periodic superiority to phase planning is not established. Spatial discovery is 86.0% versus sweep 97.5%. External synthetic TSRD validation uses 32 previously unseen recordings, 10 seconds per recording, 8 bands, 2-ms retuning and detection probability 0.9. Corrected frozen timing capture is 43.4882% versus sweep 10.4465%, a ratio of mean recording capture of 4.16294; paired gain is 33.04 percentage points, 95% interval [28.19, 38.12]. Discovery is 93.35% versus rate-probe 84.39%, while rate-probe capture remains higher at 51.66%. The legacy adapter gave 9.85% capture. The improvement fixes missing-power gating and clipped counts; it is not a new neural architecture. A CUDA fine-tune on 64 train recordings with 16 disjoint train-split development recordings reached 42.72% on the new validation set and did not improve the corrected frozen model. The test split was untouched. TSRD is external synthetic data, not real RF. Sources: reports/timing-selected-summary.json and reports/timing-pdw-summary.json.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 browser provides synchronized receiver views, historical detections, causal future opportunities, selected band/dwell and live capture/discovery metrics with JSON export. A selected periodic seed-42 video example captures 62/86 versus fixed sweep 13/86, or 4.77 times, with both discovering all emitters. This is one illustrative simulation, separate from aggregate benchmarks. Optional compiled planning plus captured CUDA inference recorded warmed serial full scheduler p99 0.464–0.532 ms over 5986 decisions on the RTX 5070 Laptop GPU, below a declared 1-ms software budget. The measured path includes feedback ingestion, history encoding, neural inference, planning and forecast creation. It excludes checkpoint loading, warmup, simulator truth generation, receiver I/O and GUI serialization; it is not a hardware deadline guarantee. CI verifies correctness lint, CPU tests, HTTP/frontend checks and a deterministic CLI smoke benchmark. Coverage acquisition remains experimental: fresh spatial discovery increased 81.0% to 83.5%, but the paired 95% interval [-2.5, 7.5] percentage points crosses zero. Sources: reports/timing-latency-summary.json, reports/timing-acquisition-summary.json, web/README.md and docs/timing-model-findings.md.</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Primary related work: TSRD paper arXiv:2602.03856 and the Alan Turing Institute dataset card; TCN sequence modeling arXiv:1803.01271; RLOO/REINFORCE learning from human feedback arXiv:2402.14740. RLOO informs an implemented trajectory-policy experiment; no LLM runs in the receiver scheduler. Project evidence: reports/timing-selected-summary.json, reports/timing-pdw-summary.json and reports/timing-latency-summary.json. docs/project_scope.md defines the requirements. Main implemented system: temporal forecaster, band/dwell planner, passive receiver simulation, PDW replay, CLI and browser demo. Results are synthetic development and external synthetic validation evidence; real RF, hardware calibration and final test reporting remain open. Repository and demonstration links are supplied project links.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Passive, receive-only software for SIH26055. Team Axiom X, ID 157808, theme Robotics and Drones and the official SIH template are retained. Requirements authority: docs/project_scope.md.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hyperlink" Target="https://github.com/Siwach777/spectra-schedule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arxiv.org/abs/2602.03856" TargetMode="External"/><Relationship Id="rId5" Type="http://schemas.openxmlformats.org/officeDocument/2006/relationships/hyperlink" Target="https://huggingface.co/datasets/alan-turing-institute/turing-synthetic-radar-dataset" TargetMode="External"/><Relationship Id="rId6" Type="http://schemas.openxmlformats.org/officeDocument/2006/relationships/hyperlink" Target="https://arxiv.org/abs/1803.01271" TargetMode="External"/><Relationship Id="rId7" Type="http://schemas.openxmlformats.org/officeDocument/2006/relationships/hyperlink" Target="https://arxiv.org/abs/2402.14740" TargetMode="External"/><Relationship Id="rId8" Type="http://schemas.openxmlformats.org/officeDocument/2006/relationships/hyperlink" Target="https://github.com/Siwach777/spectra-scheduler" TargetMode="External"/><Relationship Id="rId9" Type="http://schemas.openxmlformats.org/officeDocument/2006/relationships/hyperlink" Target="https://youtu.be/G0SuhfmfhfM?si=QQJBI2hEc8rlcnzo"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SMART INDIA HACKATHON 2026</a:t>
            </a:r>
          </a:p>
        </p:txBody>
      </p:sp>
      <p:pic>
        <p:nvPicPr>
          <p:cNvPr id="4" name="Picture 3" descr="image.png"/>
          <p:cNvPicPr>
            <a:picLocks noChangeAspect="1"/>
          </p:cNvPicPr>
          <p:nvPr/>
        </p:nvPicPr>
        <p:blipFill>
          <a:blip r:embed="rId4"/>
          <a:stretch>
            <a:fillRect/>
          </a:stretch>
        </p:blipFill>
        <p:spPr>
          <a:xfrm>
            <a:off x="9780086" y="1500"/>
            <a:ext cx="2249850" cy="1062337"/>
          </a:xfrm>
          <a:prstGeom prst="rect">
            <a:avLst/>
          </a:prstGeom>
        </p:spPr>
      </p:pic>
      <p:cxnSp>
        <p:nvCxnSpPr>
          <p:cNvPr id="5" name="Connector 4"/>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6"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12000" y="1498600"/>
            <a:ext cx="4081972" cy="4536370"/>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p:cNvSpPr txBox="1"/>
          <p:nvPr/>
        </p:nvSpPr>
        <p:spPr>
          <a:xfrm>
            <a:off x="508000" y="1917700"/>
            <a:ext cx="6096000" cy="3810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Problem Statement ID – SIH26055</a:t>
            </a:r>
          </a:p>
        </p:txBody>
      </p:sp>
      <p:sp>
        <p:nvSpPr>
          <p:cNvPr id="8" name="TextBox 7"/>
          <p:cNvSpPr txBox="1"/>
          <p:nvPr/>
        </p:nvSpPr>
        <p:spPr>
          <a:xfrm>
            <a:off x="508000" y="2552700"/>
            <a:ext cx="6096000" cy="7112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Problem Statement Title –</a:t>
            </a:r>
          </a:p>
          <a:p>
            <a:pPr algn="l">
              <a:lnSpc>
                <a:spcPts val="2600"/>
              </a:lnSpc>
              <a:spcBef>
                <a:spcPts val="0"/>
              </a:spcBef>
              <a:spcAft>
                <a:spcPts val="0"/>
              </a:spcAft>
            </a:pPr>
            <a:r>
              <a:rPr sz="2000" b="1">
                <a:solidFill>
                  <a:srgbClr val="172B3A"/>
                </a:solidFill>
                <a:latin typeface="Noto Sans"/>
              </a:rPr>
              <a:t>Smart Scan Strategy for Electronic Warfare</a:t>
            </a:r>
          </a:p>
        </p:txBody>
      </p:sp>
      <p:sp>
        <p:nvSpPr>
          <p:cNvPr id="9" name="TextBox 8"/>
          <p:cNvSpPr txBox="1"/>
          <p:nvPr/>
        </p:nvSpPr>
        <p:spPr>
          <a:xfrm>
            <a:off x="508000" y="3594100"/>
            <a:ext cx="6096000" cy="3810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Theme – Robotics and Drones</a:t>
            </a:r>
          </a:p>
        </p:txBody>
      </p:sp>
      <p:sp>
        <p:nvSpPr>
          <p:cNvPr id="10" name="TextBox 9"/>
          <p:cNvSpPr txBox="1"/>
          <p:nvPr/>
        </p:nvSpPr>
        <p:spPr>
          <a:xfrm>
            <a:off x="508000" y="4152900"/>
            <a:ext cx="6096000" cy="3810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PS Category – Software</a:t>
            </a:r>
          </a:p>
        </p:txBody>
      </p:sp>
      <p:sp>
        <p:nvSpPr>
          <p:cNvPr id="11" name="TextBox 10"/>
          <p:cNvSpPr txBox="1"/>
          <p:nvPr/>
        </p:nvSpPr>
        <p:spPr>
          <a:xfrm>
            <a:off x="508000" y="4711700"/>
            <a:ext cx="6096000" cy="3810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Team ID – 157808</a:t>
            </a:r>
          </a:p>
        </p:txBody>
      </p:sp>
      <p:sp>
        <p:nvSpPr>
          <p:cNvPr id="12" name="TextBox 11"/>
          <p:cNvSpPr txBox="1"/>
          <p:nvPr/>
        </p:nvSpPr>
        <p:spPr>
          <a:xfrm>
            <a:off x="508000" y="5270500"/>
            <a:ext cx="6096000" cy="381000"/>
          </a:xfrm>
          <a:prstGeom prst="rect">
            <a:avLst/>
          </a:prstGeom>
          <a:noFill/>
        </p:spPr>
        <p:txBody>
          <a:bodyPr wrap="none" lIns="0" rIns="0" tIns="0" bIns="0">
            <a:spAutoFit/>
          </a:bodyPr>
          <a:lstStyle/>
          <a:p>
            <a:pPr algn="l">
              <a:lnSpc>
                <a:spcPts val="2600"/>
              </a:lnSpc>
              <a:spcBef>
                <a:spcPts val="0"/>
              </a:spcBef>
              <a:spcAft>
                <a:spcPts val="0"/>
              </a:spcAft>
            </a:pPr>
            <a:r>
              <a:rPr sz="2000" b="1">
                <a:solidFill>
                  <a:srgbClr val="172B3A"/>
                </a:solidFill>
                <a:latin typeface="Noto Sans"/>
              </a:rPr>
              <a:t>Team Name – Axiom X</a:t>
            </a:r>
          </a:p>
        </p:txBody>
      </p:sp>
      <p:pic>
        <p:nvPicPr>
          <p:cNvPr id="13"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8166337" y="2259236"/>
            <a:ext cx="2819087" cy="3015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279400"/>
            <a:ext cx="1371600" cy="508000"/>
          </a:xfrm>
          <a:prstGeom prst="roundRect">
            <a:avLst>
              <a:gd name="adj" fmla="val 10000"/>
            </a:avLst>
          </a:prstGeom>
          <a:solidFill>
            <a:srgbClr val="EAF1F5"/>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Bef>
                <a:spcPts val="0"/>
              </a:spcBef>
              <a:spcAft>
                <a:spcPts val="0"/>
              </a:spcAft>
            </a:pPr>
            <a:r>
              <a:rPr sz="1600" b="1">
                <a:solidFill>
                  <a:srgbClr val="285A7A"/>
                </a:solidFill>
                <a:latin typeface="Noto Sans"/>
              </a:rPr>
              <a:t>Axiom X</a:t>
            </a:r>
          </a:p>
        </p:txBody>
      </p:sp>
      <p:sp>
        <p:nvSpPr>
          <p:cNvPr id="4" name="TextBox 3"/>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IDEA TITLE</a:t>
            </a:r>
          </a:p>
        </p:txBody>
      </p:sp>
      <p:pic>
        <p:nvPicPr>
          <p:cNvPr id="5" name="Picture 4" descr="image.png"/>
          <p:cNvPicPr>
            <a:picLocks noChangeAspect="1"/>
          </p:cNvPicPr>
          <p:nvPr/>
        </p:nvPicPr>
        <p:blipFill>
          <a:blip r:embed="rId3"/>
          <a:stretch>
            <a:fillRect/>
          </a:stretch>
        </p:blipFill>
        <p:spPr>
          <a:xfrm>
            <a:off x="9780086" y="1500"/>
            <a:ext cx="2249850" cy="1062337"/>
          </a:xfrm>
          <a:prstGeom prst="rect">
            <a:avLst/>
          </a:prstGeom>
        </p:spPr>
      </p:pic>
      <p:cxnSp>
        <p:nvCxnSpPr>
          <p:cNvPr id="6" name="Connector 5"/>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1219200"/>
            <a:ext cx="11176000" cy="480060"/>
          </a:xfrm>
          <a:prstGeom prst="rect">
            <a:avLst/>
          </a:prstGeom>
          <a:noFill/>
        </p:spPr>
        <p:txBody>
          <a:bodyPr wrap="none" lIns="0" rIns="0" tIns="0" bIns="0">
            <a:spAutoFit/>
          </a:bodyPr>
          <a:lstStyle/>
          <a:p>
            <a:pPr algn="l">
              <a:lnSpc>
                <a:spcPts val="3380"/>
              </a:lnSpc>
              <a:spcBef>
                <a:spcPts val="0"/>
              </a:spcBef>
              <a:spcAft>
                <a:spcPts val="0"/>
              </a:spcAft>
            </a:pPr>
            <a:r>
              <a:rPr sz="2600" b="1">
                <a:solidFill>
                  <a:srgbClr val="172B3A"/>
                </a:solidFill>
                <a:latin typeface="Noto Sans"/>
              </a:rPr>
              <a:t>Intercept the right band at the right time.</a:t>
            </a:r>
          </a:p>
        </p:txBody>
      </p:sp>
      <p:sp>
        <p:nvSpPr>
          <p:cNvPr id="8"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9" name="TextBox 8"/>
          <p:cNvSpPr txBox="1"/>
          <p:nvPr/>
        </p:nvSpPr>
        <p:spPr>
          <a:xfrm>
            <a:off x="508000" y="6527800"/>
            <a:ext cx="5461000" cy="191135"/>
          </a:xfrm>
          <a:prstGeom prst="rect">
            <a:avLst/>
          </a:prstGeom>
          <a:noFill/>
        </p:spPr>
        <p:txBody>
          <a:bodyPr wrap="none" lIns="0" rIns="0" tIns="0" bIns="0">
            <a:spAutoFit/>
          </a:bodyPr>
          <a:lstStyle/>
          <a:p>
            <a:pPr algn="l">
              <a:lnSpc>
                <a:spcPts val="1105"/>
              </a:lnSpc>
              <a:spcBef>
                <a:spcPts val="0"/>
              </a:spcBef>
              <a:spcAft>
                <a:spcPts val="0"/>
              </a:spcAft>
            </a:pPr>
            <a:r>
              <a:rPr sz="850" b="1">
                <a:solidFill>
                  <a:srgbClr val="FFFFFF"/>
                </a:solidFill>
                <a:latin typeface="Noto Sans"/>
              </a:rPr>
              <a:t>SIH 2026 • IDEA SUBMISSION</a:t>
            </a:r>
          </a:p>
        </p:txBody>
      </p:sp>
      <p:sp>
        <p:nvSpPr>
          <p:cNvPr id="10" name="TextBox 9"/>
          <p:cNvSpPr txBox="1"/>
          <p:nvPr/>
        </p:nvSpPr>
        <p:spPr>
          <a:xfrm>
            <a:off x="10718800" y="6527800"/>
            <a:ext cx="965200" cy="191135"/>
          </a:xfrm>
          <a:prstGeom prst="rect">
            <a:avLst/>
          </a:prstGeom>
          <a:noFill/>
        </p:spPr>
        <p:txBody>
          <a:bodyPr wrap="none" lIns="0" rIns="0" tIns="0" bIns="0">
            <a:spAutoFit/>
          </a:bodyPr>
          <a:lstStyle/>
          <a:p>
            <a:pPr algn="r">
              <a:lnSpc>
                <a:spcPts val="1105"/>
              </a:lnSpc>
              <a:spcBef>
                <a:spcPts val="0"/>
              </a:spcBef>
              <a:spcAft>
                <a:spcPts val="0"/>
              </a:spcAft>
            </a:pPr>
            <a:r>
              <a:rPr sz="850" b="0">
                <a:solidFill>
                  <a:srgbClr val="FFFFFF"/>
                </a:solidFill>
                <a:latin typeface="Noto Sans"/>
              </a:rPr>
              <a:t>2/6</a:t>
            </a:r>
          </a:p>
        </p:txBody>
      </p:sp>
      <p:sp>
        <p:nvSpPr>
          <p:cNvPr id="11" name="TextBox 10"/>
          <p:cNvSpPr txBox="1"/>
          <p:nvPr/>
        </p:nvSpPr>
        <p:spPr>
          <a:xfrm>
            <a:off x="508000" y="1790700"/>
            <a:ext cx="11176000" cy="513080"/>
          </a:xfrm>
          <a:prstGeom prst="rect">
            <a:avLst/>
          </a:prstGeom>
          <a:noFill/>
        </p:spPr>
        <p:txBody>
          <a:bodyPr wrap="none" lIns="0" rIns="0" tIns="0" bIns="0">
            <a:spAutoFit/>
          </a:bodyPr>
          <a:lstStyle/>
          <a:p>
            <a:pPr algn="l">
              <a:lnSpc>
                <a:spcPts val="1820"/>
              </a:lnSpc>
              <a:spcBef>
                <a:spcPts val="0"/>
              </a:spcBef>
              <a:spcAft>
                <a:spcPts val="0"/>
              </a:spcAft>
            </a:pPr>
            <a:r>
              <a:rPr sz="1400" b="0">
                <a:solidFill>
                  <a:srgbClr val="172B3A"/>
                </a:solidFill>
                <a:latin typeface="Noto Sans"/>
              </a:rPr>
              <a:t>Spectra Scheduler learns from receiver hits and misses to decide which frequency band to observe,</a:t>
            </a:r>
          </a:p>
          <a:p>
            <a:pPr algn="l">
              <a:lnSpc>
                <a:spcPts val="1820"/>
              </a:lnSpc>
              <a:spcBef>
                <a:spcPts val="0"/>
              </a:spcBef>
              <a:spcAft>
                <a:spcPts val="0"/>
              </a:spcAft>
            </a:pPr>
            <a:r>
              <a:rPr sz="1400" b="0">
                <a:solidFill>
                  <a:srgbClr val="172B3A"/>
                </a:solidFill>
                <a:latin typeface="Noto Sans"/>
              </a:rPr>
              <a:t>when to revisit it, and how long to listen—without reliable prior emitter intelligence.</a:t>
            </a:r>
          </a:p>
        </p:txBody>
      </p:sp>
      <p:sp>
        <p:nvSpPr>
          <p:cNvPr id="12" name="Rounded Rectangle 11"/>
          <p:cNvSpPr/>
          <p:nvPr/>
        </p:nvSpPr>
        <p:spPr>
          <a:xfrm>
            <a:off x="508000" y="2476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3100" y="2654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2603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CHALLENGE</a:t>
            </a:r>
          </a:p>
        </p:txBody>
      </p:sp>
      <p:sp>
        <p:nvSpPr>
          <p:cNvPr id="15" name="TextBox 14"/>
          <p:cNvSpPr txBox="1"/>
          <p:nvPr/>
        </p:nvSpPr>
        <p:spPr>
          <a:xfrm>
            <a:off x="673100" y="2946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Fixed sweeps miss windows</a:t>
            </a:r>
          </a:p>
        </p:txBody>
      </p:sp>
      <p:sp>
        <p:nvSpPr>
          <p:cNvPr id="16" name="TextBox 15"/>
          <p:cNvSpPr txBox="1"/>
          <p:nvPr/>
        </p:nvSpPr>
        <p:spPr>
          <a:xfrm>
            <a:off x="673100" y="3327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Wide spectrum; narrow receiver.</a:t>
            </a:r>
          </a:p>
          <a:p>
            <a:pPr algn="l">
              <a:lnSpc>
                <a:spcPts val="1755"/>
              </a:lnSpc>
              <a:spcBef>
                <a:spcPts val="0"/>
              </a:spcBef>
              <a:spcAft>
                <a:spcPts val="0"/>
              </a:spcAft>
            </a:pPr>
            <a:r>
              <a:rPr sz="1300" b="0">
                <a:solidFill>
                  <a:srgbClr val="526676"/>
                </a:solidFill>
                <a:latin typeface="Noto Sans"/>
              </a:rPr>
              <a:t>Brief activity between revisits.</a:t>
            </a:r>
          </a:p>
        </p:txBody>
      </p:sp>
      <p:sp>
        <p:nvSpPr>
          <p:cNvPr id="17" name="Rounded Rectangle 16"/>
          <p:cNvSpPr/>
          <p:nvPr/>
        </p:nvSpPr>
        <p:spPr>
          <a:xfrm>
            <a:off x="4318000" y="2476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3100" y="2654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51400" y="2603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SOLUTION</a:t>
            </a:r>
          </a:p>
        </p:txBody>
      </p:sp>
      <p:sp>
        <p:nvSpPr>
          <p:cNvPr id="20" name="TextBox 19"/>
          <p:cNvSpPr txBox="1"/>
          <p:nvPr/>
        </p:nvSpPr>
        <p:spPr>
          <a:xfrm>
            <a:off x="4483100" y="2946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Learn from hits and misses</a:t>
            </a:r>
          </a:p>
        </p:txBody>
      </p:sp>
      <p:sp>
        <p:nvSpPr>
          <p:cNvPr id="21" name="TextBox 20"/>
          <p:cNvSpPr txBox="1"/>
          <p:nvPr/>
        </p:nvSpPr>
        <p:spPr>
          <a:xfrm>
            <a:off x="4483100" y="3327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Forecast activity from scan history.</a:t>
            </a:r>
          </a:p>
          <a:p>
            <a:pPr algn="l">
              <a:lnSpc>
                <a:spcPts val="1755"/>
              </a:lnSpc>
              <a:spcBef>
                <a:spcPts val="0"/>
              </a:spcBef>
              <a:spcAft>
                <a:spcPts val="0"/>
              </a:spcAft>
            </a:pPr>
            <a:r>
              <a:rPr sz="1300" b="0">
                <a:solidFill>
                  <a:srgbClr val="526676"/>
                </a:solidFill>
                <a:latin typeface="Noto Sans"/>
              </a:rPr>
              <a:t>Adapt band choice and dwell.</a:t>
            </a:r>
          </a:p>
        </p:txBody>
      </p:sp>
      <p:sp>
        <p:nvSpPr>
          <p:cNvPr id="22" name="Rounded Rectangle 21"/>
          <p:cNvSpPr/>
          <p:nvPr/>
        </p:nvSpPr>
        <p:spPr>
          <a:xfrm>
            <a:off x="8128000" y="2476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93100" y="2654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61400" y="2603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DIFFERENTIATOR</a:t>
            </a:r>
          </a:p>
        </p:txBody>
      </p:sp>
      <p:sp>
        <p:nvSpPr>
          <p:cNvPr id="25" name="TextBox 24"/>
          <p:cNvSpPr txBox="1"/>
          <p:nvPr/>
        </p:nvSpPr>
        <p:spPr>
          <a:xfrm>
            <a:off x="8293100" y="2946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Coordinate frequency and time</a:t>
            </a:r>
          </a:p>
        </p:txBody>
      </p:sp>
      <p:sp>
        <p:nvSpPr>
          <p:cNvPr id="26" name="TextBox 25"/>
          <p:cNvSpPr txBox="1"/>
          <p:nvPr/>
        </p:nvSpPr>
        <p:spPr>
          <a:xfrm>
            <a:off x="8293100" y="3327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Timing forecasts guide listening.</a:t>
            </a:r>
          </a:p>
          <a:p>
            <a:pPr algn="l">
              <a:lnSpc>
                <a:spcPts val="1755"/>
              </a:lnSpc>
              <a:spcBef>
                <a:spcPts val="0"/>
              </a:spcBef>
              <a:spcAft>
                <a:spcPts val="0"/>
              </a:spcAft>
            </a:pPr>
            <a:r>
              <a:rPr sz="1300" b="0">
                <a:solidFill>
                  <a:srgbClr val="526676"/>
                </a:solidFill>
                <a:latin typeface="Noto Sans"/>
              </a:rPr>
              <a:t>Retune cost and coverage matter.</a:t>
            </a:r>
          </a:p>
        </p:txBody>
      </p:sp>
      <p:sp>
        <p:nvSpPr>
          <p:cNvPr id="27" name="Rounded Rectangle 26"/>
          <p:cNvSpPr/>
          <p:nvPr/>
        </p:nvSpPr>
        <p:spPr>
          <a:xfrm>
            <a:off x="508000" y="4343400"/>
            <a:ext cx="2565400" cy="1155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8000" y="4546600"/>
            <a:ext cx="38100" cy="7493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8500" y="45466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Observe</a:t>
            </a:r>
          </a:p>
        </p:txBody>
      </p:sp>
      <p:sp>
        <p:nvSpPr>
          <p:cNvPr id="30" name="TextBox 29"/>
          <p:cNvSpPr txBox="1"/>
          <p:nvPr/>
        </p:nvSpPr>
        <p:spPr>
          <a:xfrm>
            <a:off x="698500" y="4940300"/>
            <a:ext cx="21844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Listening mask + detections</a:t>
            </a:r>
          </a:p>
        </p:txBody>
      </p:sp>
      <p:sp>
        <p:nvSpPr>
          <p:cNvPr id="31" name="Rounded Rectangle 30"/>
          <p:cNvSpPr/>
          <p:nvPr/>
        </p:nvSpPr>
        <p:spPr>
          <a:xfrm>
            <a:off x="3378200" y="4343400"/>
            <a:ext cx="2565400" cy="1155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78200" y="4546600"/>
            <a:ext cx="38100" cy="7493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68700" y="45466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Predict</a:t>
            </a:r>
          </a:p>
        </p:txBody>
      </p:sp>
      <p:sp>
        <p:nvSpPr>
          <p:cNvPr id="34" name="TextBox 33"/>
          <p:cNvSpPr txBox="1"/>
          <p:nvPr/>
        </p:nvSpPr>
        <p:spPr>
          <a:xfrm>
            <a:off x="3568700" y="4940300"/>
            <a:ext cx="21844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Activity and intercept time</a:t>
            </a:r>
          </a:p>
        </p:txBody>
      </p:sp>
      <p:sp>
        <p:nvSpPr>
          <p:cNvPr id="35" name="Rounded Rectangle 34"/>
          <p:cNvSpPr/>
          <p:nvPr/>
        </p:nvSpPr>
        <p:spPr>
          <a:xfrm>
            <a:off x="6248400" y="4343400"/>
            <a:ext cx="2565400" cy="1155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48400" y="4546600"/>
            <a:ext cx="38100" cy="7493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8900" y="45466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Schedule</a:t>
            </a:r>
          </a:p>
        </p:txBody>
      </p:sp>
      <p:sp>
        <p:nvSpPr>
          <p:cNvPr id="38" name="TextBox 37"/>
          <p:cNvSpPr txBox="1"/>
          <p:nvPr/>
        </p:nvSpPr>
        <p:spPr>
          <a:xfrm>
            <a:off x="6438900" y="4940300"/>
            <a:ext cx="21844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Band + listening dwell</a:t>
            </a:r>
          </a:p>
        </p:txBody>
      </p:sp>
      <p:sp>
        <p:nvSpPr>
          <p:cNvPr id="39" name="Rounded Rectangle 38"/>
          <p:cNvSpPr/>
          <p:nvPr/>
        </p:nvSpPr>
        <p:spPr>
          <a:xfrm>
            <a:off x="9118600" y="4343400"/>
            <a:ext cx="2565400" cy="1155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118600" y="4546600"/>
            <a:ext cx="38100" cy="7493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9100" y="45466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Listen</a:t>
            </a:r>
          </a:p>
        </p:txBody>
      </p:sp>
      <p:sp>
        <p:nvSpPr>
          <p:cNvPr id="42" name="TextBox 41"/>
          <p:cNvSpPr txBox="1"/>
          <p:nvPr/>
        </p:nvSpPr>
        <p:spPr>
          <a:xfrm>
            <a:off x="9309100" y="4940300"/>
            <a:ext cx="21844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Retune, then hold</a:t>
            </a:r>
          </a:p>
        </p:txBody>
      </p:sp>
      <p:cxnSp>
        <p:nvCxnSpPr>
          <p:cNvPr id="43" name="Connector 42"/>
          <p:cNvCxnSpPr/>
          <p:nvPr/>
        </p:nvCxnSpPr>
        <p:spPr>
          <a:xfrm>
            <a:off x="3086100" y="4902200"/>
            <a:ext cx="279400" cy="0"/>
          </a:xfrm>
          <a:prstGeom prst="line">
            <a:avLst/>
          </a:prstGeom>
          <a:ln w="2159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56300" y="4902200"/>
            <a:ext cx="279400" cy="0"/>
          </a:xfrm>
          <a:prstGeom prst="line">
            <a:avLst/>
          </a:prstGeom>
          <a:ln w="2159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826500" y="4902200"/>
            <a:ext cx="279400" cy="0"/>
          </a:xfrm>
          <a:prstGeom prst="line">
            <a:avLst/>
          </a:prstGeom>
          <a:ln w="2159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401300" y="5511800"/>
            <a:ext cx="0" cy="35560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7065473" y="5867400"/>
            <a:ext cx="3335827" cy="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790700" y="5867400"/>
            <a:ext cx="3335826" cy="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90700" y="5511800"/>
            <a:ext cx="0" cy="355600"/>
          </a:xfrm>
          <a:prstGeom prst="line">
            <a:avLst/>
          </a:prstGeom>
          <a:ln w="17780">
            <a:solidFill>
              <a:srgbClr val="285A7A"/>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202726" y="5763387"/>
            <a:ext cx="1824647"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285A7A"/>
                </a:solidFill>
                <a:latin typeface="Noto Sans"/>
              </a:rPr>
              <a:t>Learn from each revisit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279400"/>
            <a:ext cx="1371600" cy="508000"/>
          </a:xfrm>
          <a:prstGeom prst="roundRect">
            <a:avLst>
              <a:gd name="adj" fmla="val 10000"/>
            </a:avLst>
          </a:prstGeom>
          <a:solidFill>
            <a:srgbClr val="EAF1F5"/>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Bef>
                <a:spcPts val="0"/>
              </a:spcBef>
              <a:spcAft>
                <a:spcPts val="0"/>
              </a:spcAft>
            </a:pPr>
            <a:r>
              <a:rPr sz="1600" b="1">
                <a:solidFill>
                  <a:srgbClr val="285A7A"/>
                </a:solidFill>
                <a:latin typeface="Noto Sans"/>
              </a:rPr>
              <a:t>Axiom X</a:t>
            </a:r>
          </a:p>
        </p:txBody>
      </p:sp>
      <p:sp>
        <p:nvSpPr>
          <p:cNvPr id="4" name="TextBox 3"/>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TECHNICAL APPROACH</a:t>
            </a:r>
          </a:p>
        </p:txBody>
      </p:sp>
      <p:pic>
        <p:nvPicPr>
          <p:cNvPr id="5" name="Picture 4" descr="image.png"/>
          <p:cNvPicPr>
            <a:picLocks noChangeAspect="1"/>
          </p:cNvPicPr>
          <p:nvPr/>
        </p:nvPicPr>
        <p:blipFill>
          <a:blip r:embed="rId3"/>
          <a:stretch>
            <a:fillRect/>
          </a:stretch>
        </p:blipFill>
        <p:spPr>
          <a:xfrm>
            <a:off x="9780086" y="1500"/>
            <a:ext cx="2249850" cy="1062337"/>
          </a:xfrm>
          <a:prstGeom prst="rect">
            <a:avLst/>
          </a:prstGeom>
        </p:spPr>
      </p:pic>
      <p:cxnSp>
        <p:nvCxnSpPr>
          <p:cNvPr id="6" name="Connector 5"/>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1219200"/>
            <a:ext cx="11176000" cy="480060"/>
          </a:xfrm>
          <a:prstGeom prst="rect">
            <a:avLst/>
          </a:prstGeom>
          <a:noFill/>
        </p:spPr>
        <p:txBody>
          <a:bodyPr wrap="none" lIns="0" rIns="0" tIns="0" bIns="0">
            <a:spAutoFit/>
          </a:bodyPr>
          <a:lstStyle/>
          <a:p>
            <a:pPr algn="l">
              <a:lnSpc>
                <a:spcPts val="3380"/>
              </a:lnSpc>
              <a:spcBef>
                <a:spcPts val="0"/>
              </a:spcBef>
              <a:spcAft>
                <a:spcPts val="0"/>
              </a:spcAft>
            </a:pPr>
            <a:r>
              <a:rPr sz="2600" b="1">
                <a:solidFill>
                  <a:srgbClr val="172B3A"/>
                </a:solidFill>
                <a:latin typeface="Noto Sans"/>
              </a:rPr>
              <a:t>Predict activity. Choose the next scan.</a:t>
            </a:r>
          </a:p>
        </p:txBody>
      </p:sp>
      <p:sp>
        <p:nvSpPr>
          <p:cNvPr id="8" name="TextBox 7"/>
          <p:cNvSpPr txBox="1"/>
          <p:nvPr/>
        </p:nvSpPr>
        <p:spPr>
          <a:xfrm>
            <a:off x="508000" y="1727200"/>
            <a:ext cx="111760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Selected scheduler: causal temporal forecasts with retune-aware planning.</a:t>
            </a:r>
          </a:p>
        </p:txBody>
      </p:sp>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0" name="TextBox 9"/>
          <p:cNvSpPr txBox="1"/>
          <p:nvPr/>
        </p:nvSpPr>
        <p:spPr>
          <a:xfrm>
            <a:off x="508000" y="6527800"/>
            <a:ext cx="5461000" cy="191135"/>
          </a:xfrm>
          <a:prstGeom prst="rect">
            <a:avLst/>
          </a:prstGeom>
          <a:noFill/>
        </p:spPr>
        <p:txBody>
          <a:bodyPr wrap="none" lIns="0" rIns="0" tIns="0" bIns="0">
            <a:spAutoFit/>
          </a:bodyPr>
          <a:lstStyle/>
          <a:p>
            <a:pPr algn="l">
              <a:lnSpc>
                <a:spcPts val="1105"/>
              </a:lnSpc>
              <a:spcBef>
                <a:spcPts val="0"/>
              </a:spcBef>
              <a:spcAft>
                <a:spcPts val="0"/>
              </a:spcAft>
            </a:pPr>
            <a:r>
              <a:rPr sz="850" b="1">
                <a:solidFill>
                  <a:srgbClr val="FFFFFF"/>
                </a:solidFill>
                <a:latin typeface="Noto Sans"/>
              </a:rPr>
              <a:t>SIH 2026 • IDEA SUBMISSION</a:t>
            </a:r>
          </a:p>
        </p:txBody>
      </p:sp>
      <p:sp>
        <p:nvSpPr>
          <p:cNvPr id="11" name="TextBox 10"/>
          <p:cNvSpPr txBox="1"/>
          <p:nvPr/>
        </p:nvSpPr>
        <p:spPr>
          <a:xfrm>
            <a:off x="10718800" y="6527800"/>
            <a:ext cx="965200" cy="191135"/>
          </a:xfrm>
          <a:prstGeom prst="rect">
            <a:avLst/>
          </a:prstGeom>
          <a:noFill/>
        </p:spPr>
        <p:txBody>
          <a:bodyPr wrap="none" lIns="0" rIns="0" tIns="0" bIns="0">
            <a:spAutoFit/>
          </a:bodyPr>
          <a:lstStyle/>
          <a:p>
            <a:pPr algn="r">
              <a:lnSpc>
                <a:spcPts val="1105"/>
              </a:lnSpc>
              <a:spcBef>
                <a:spcPts val="0"/>
              </a:spcBef>
              <a:spcAft>
                <a:spcPts val="0"/>
              </a:spcAft>
            </a:pPr>
            <a:r>
              <a:rPr sz="850" b="0">
                <a:solidFill>
                  <a:srgbClr val="FFFFFF"/>
                </a:solidFill>
                <a:latin typeface="Noto Sans"/>
              </a:rPr>
              <a:t>3/6</a:t>
            </a:r>
          </a:p>
        </p:txBody>
      </p:sp>
      <p:sp>
        <p:nvSpPr>
          <p:cNvPr id="12" name="TextBox 11"/>
          <p:cNvSpPr txBox="1"/>
          <p:nvPr/>
        </p:nvSpPr>
        <p:spPr>
          <a:xfrm>
            <a:off x="508000" y="2082800"/>
            <a:ext cx="11176000" cy="240665"/>
          </a:xfrm>
          <a:prstGeom prst="rect">
            <a:avLst/>
          </a:prstGeom>
          <a:noFill/>
        </p:spPr>
        <p:txBody>
          <a:bodyPr wrap="none" lIns="0" rIns="0" tIns="0" bIns="0">
            <a:spAutoFit/>
          </a:bodyPr>
          <a:lstStyle/>
          <a:p>
            <a:pPr algn="l">
              <a:lnSpc>
                <a:spcPts val="1495"/>
              </a:lnSpc>
              <a:spcBef>
                <a:spcPts val="0"/>
              </a:spcBef>
              <a:spcAft>
                <a:spcPts val="0"/>
              </a:spcAft>
            </a:pPr>
            <a:r>
              <a:rPr sz="1150" b="0">
                <a:solidFill>
                  <a:srgbClr val="285A7A"/>
                </a:solidFill>
                <a:latin typeface="Noto Sans"/>
                <a:hlinkClick r:id="rId4"/>
              </a:rPr>
              <a:t>Repository: github.com/Siwach777/spectra-scheduler</a:t>
            </a:r>
          </a:p>
        </p:txBody>
      </p:sp>
      <p:sp>
        <p:nvSpPr>
          <p:cNvPr id="13" name="Rounded Rectangle 12"/>
          <p:cNvSpPr/>
          <p:nvPr/>
        </p:nvSpPr>
        <p:spPr>
          <a:xfrm>
            <a:off x="508000" y="2425700"/>
            <a:ext cx="2565400" cy="12700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8000" y="2628900"/>
            <a:ext cx="38100" cy="8636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8500" y="26289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Receiver history</a:t>
            </a:r>
          </a:p>
        </p:txBody>
      </p:sp>
      <p:sp>
        <p:nvSpPr>
          <p:cNvPr id="16" name="TextBox 15"/>
          <p:cNvSpPr txBox="1"/>
          <p:nvPr/>
        </p:nvSpPr>
        <p:spPr>
          <a:xfrm>
            <a:off x="698500" y="3022600"/>
            <a:ext cx="21844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Previous 288 ms</a:t>
            </a:r>
          </a:p>
          <a:p>
            <a:pPr algn="l">
              <a:lnSpc>
                <a:spcPts val="1690"/>
              </a:lnSpc>
              <a:spcBef>
                <a:spcPts val="0"/>
              </a:spcBef>
              <a:spcAft>
                <a:spcPts val="0"/>
              </a:spcAft>
            </a:pPr>
            <a:r>
              <a:rPr sz="1300" b="0">
                <a:solidFill>
                  <a:srgbClr val="526676"/>
                </a:solidFill>
                <a:latin typeface="Noto Sans"/>
              </a:rPr>
              <a:t>Mask + observed counts</a:t>
            </a:r>
          </a:p>
        </p:txBody>
      </p:sp>
      <p:sp>
        <p:nvSpPr>
          <p:cNvPr id="17" name="Rounded Rectangle 16"/>
          <p:cNvSpPr/>
          <p:nvPr/>
        </p:nvSpPr>
        <p:spPr>
          <a:xfrm>
            <a:off x="3378200" y="2425700"/>
            <a:ext cx="2565400" cy="12700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78200" y="2628900"/>
            <a:ext cx="38100" cy="8636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68700" y="26289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Forecast</a:t>
            </a:r>
          </a:p>
        </p:txBody>
      </p:sp>
      <p:sp>
        <p:nvSpPr>
          <p:cNvPr id="20" name="TextBox 19"/>
          <p:cNvSpPr txBox="1"/>
          <p:nvPr/>
        </p:nvSpPr>
        <p:spPr>
          <a:xfrm>
            <a:off x="3568700" y="3022600"/>
            <a:ext cx="21844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Next 80 ms / all bands</a:t>
            </a:r>
          </a:p>
          <a:p>
            <a:pPr algn="l">
              <a:lnSpc>
                <a:spcPts val="1690"/>
              </a:lnSpc>
              <a:spcBef>
                <a:spcPts val="0"/>
              </a:spcBef>
              <a:spcAft>
                <a:spcPts val="0"/>
              </a:spcAft>
            </a:pPr>
            <a:r>
              <a:rPr sz="1300" b="0">
                <a:solidFill>
                  <a:srgbClr val="526676"/>
                </a:solidFill>
                <a:latin typeface="Noto Sans"/>
              </a:rPr>
              <a:t>Temporal CNN + phase mix</a:t>
            </a:r>
          </a:p>
        </p:txBody>
      </p:sp>
      <p:sp>
        <p:nvSpPr>
          <p:cNvPr id="21" name="Rounded Rectangle 20"/>
          <p:cNvSpPr/>
          <p:nvPr/>
        </p:nvSpPr>
        <p:spPr>
          <a:xfrm>
            <a:off x="6248400" y="2425700"/>
            <a:ext cx="2565400" cy="12700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8400" y="2628900"/>
            <a:ext cx="38100" cy="8636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8900" y="26289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Scan planner</a:t>
            </a:r>
          </a:p>
        </p:txBody>
      </p:sp>
      <p:sp>
        <p:nvSpPr>
          <p:cNvPr id="24" name="TextBox 23"/>
          <p:cNvSpPr txBox="1"/>
          <p:nvPr/>
        </p:nvSpPr>
        <p:spPr>
          <a:xfrm>
            <a:off x="6438900" y="3022600"/>
            <a:ext cx="21844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Retune-aware planning</a:t>
            </a:r>
          </a:p>
          <a:p>
            <a:pPr algn="l">
              <a:lnSpc>
                <a:spcPts val="1690"/>
              </a:lnSpc>
              <a:spcBef>
                <a:spcPts val="0"/>
              </a:spcBef>
              <a:spcAft>
                <a:spcPts val="0"/>
              </a:spcAft>
            </a:pPr>
            <a:r>
              <a:rPr sz="1300" b="0">
                <a:solidFill>
                  <a:srgbClr val="526676"/>
                </a:solidFill>
                <a:latin typeface="Noto Sans"/>
              </a:rPr>
              <a:t>Band + 1 / 10 / 50-ms dwell</a:t>
            </a:r>
          </a:p>
        </p:txBody>
      </p:sp>
      <p:sp>
        <p:nvSpPr>
          <p:cNvPr id="25" name="Rounded Rectangle 24"/>
          <p:cNvSpPr/>
          <p:nvPr/>
        </p:nvSpPr>
        <p:spPr>
          <a:xfrm>
            <a:off x="9118600" y="2425700"/>
            <a:ext cx="2565400" cy="12700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18600" y="2628900"/>
            <a:ext cx="38100" cy="863600"/>
          </a:xfrm>
          <a:prstGeom prst="rect">
            <a:avLst/>
          </a:prstGeom>
          <a:solidFill>
            <a:srgbClr val="28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09100" y="2628900"/>
            <a:ext cx="2184400" cy="331470"/>
          </a:xfrm>
          <a:prstGeom prst="rect">
            <a:avLst/>
          </a:prstGeom>
          <a:noFill/>
        </p:spPr>
        <p:txBody>
          <a:bodyPr wrap="none" lIns="0" rIns="0" tIns="0" bIns="0">
            <a:spAutoFit/>
          </a:bodyPr>
          <a:lstStyle/>
          <a:p>
            <a:pPr algn="l">
              <a:lnSpc>
                <a:spcPts val="2210"/>
              </a:lnSpc>
              <a:spcBef>
                <a:spcPts val="0"/>
              </a:spcBef>
              <a:spcAft>
                <a:spcPts val="0"/>
              </a:spcAft>
            </a:pPr>
            <a:r>
              <a:rPr sz="1700" b="1">
                <a:solidFill>
                  <a:srgbClr val="172B3A"/>
                </a:solidFill>
                <a:latin typeface="Noto Sans"/>
              </a:rPr>
              <a:t>Receiver</a:t>
            </a:r>
          </a:p>
        </p:txBody>
      </p:sp>
      <p:sp>
        <p:nvSpPr>
          <p:cNvPr id="28" name="TextBox 27"/>
          <p:cNvSpPr txBox="1"/>
          <p:nvPr/>
        </p:nvSpPr>
        <p:spPr>
          <a:xfrm>
            <a:off x="9309100" y="3022600"/>
            <a:ext cx="21844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Simulation or PDW replay</a:t>
            </a:r>
          </a:p>
          <a:p>
            <a:pPr algn="l">
              <a:lnSpc>
                <a:spcPts val="1690"/>
              </a:lnSpc>
              <a:spcBef>
                <a:spcPts val="0"/>
              </a:spcBef>
              <a:spcAft>
                <a:spcPts val="0"/>
              </a:spcAft>
            </a:pPr>
            <a:r>
              <a:rPr sz="1300" b="0">
                <a:solidFill>
                  <a:srgbClr val="526676"/>
                </a:solidFill>
                <a:latin typeface="Noto Sans"/>
              </a:rPr>
              <a:t>Listen, then update history</a:t>
            </a:r>
          </a:p>
        </p:txBody>
      </p:sp>
      <p:cxnSp>
        <p:nvCxnSpPr>
          <p:cNvPr id="29" name="Connector 28"/>
          <p:cNvCxnSpPr/>
          <p:nvPr/>
        </p:nvCxnSpPr>
        <p:spPr>
          <a:xfrm>
            <a:off x="3086100" y="3035300"/>
            <a:ext cx="279400" cy="0"/>
          </a:xfrm>
          <a:prstGeom prst="line">
            <a:avLst/>
          </a:prstGeom>
          <a:ln w="2032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56300" y="3035300"/>
            <a:ext cx="279400" cy="0"/>
          </a:xfrm>
          <a:prstGeom prst="line">
            <a:avLst/>
          </a:prstGeom>
          <a:ln w="2032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26500" y="3035300"/>
            <a:ext cx="279400" cy="0"/>
          </a:xfrm>
          <a:prstGeom prst="line">
            <a:avLst/>
          </a:prstGeom>
          <a:ln w="20320">
            <a:solidFill>
              <a:srgbClr val="285A7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401300" y="3708400"/>
            <a:ext cx="0" cy="30480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645955" y="4013200"/>
            <a:ext cx="2755345" cy="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790700" y="4013200"/>
            <a:ext cx="2755344" cy="0"/>
          </a:xfrm>
          <a:prstGeom prst="line">
            <a:avLst/>
          </a:prstGeom>
          <a:ln w="17780">
            <a:solidFill>
              <a:srgbClr val="285A7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790700" y="3708400"/>
            <a:ext cx="0" cy="304800"/>
          </a:xfrm>
          <a:prstGeom prst="line">
            <a:avLst/>
          </a:prstGeom>
          <a:ln w="17780">
            <a:solidFill>
              <a:srgbClr val="285A7A"/>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622244" y="3913187"/>
            <a:ext cx="2985611" cy="257175"/>
          </a:xfrm>
          <a:prstGeom prst="rect">
            <a:avLst/>
          </a:prstGeom>
          <a:noFill/>
        </p:spPr>
        <p:txBody>
          <a:bodyPr wrap="none" lIns="0" rIns="0" tIns="0" bIns="0">
            <a:spAutoFit/>
          </a:bodyPr>
          <a:lstStyle/>
          <a:p>
            <a:pPr algn="l">
              <a:lnSpc>
                <a:spcPts val="1625"/>
              </a:lnSpc>
              <a:spcBef>
                <a:spcPts val="0"/>
              </a:spcBef>
              <a:spcAft>
                <a:spcPts val="0"/>
              </a:spcAft>
            </a:pPr>
            <a:r>
              <a:rPr sz="1250" b="0">
                <a:solidFill>
                  <a:srgbClr val="285A7A"/>
                </a:solidFill>
                <a:latin typeface="Noto Sans"/>
              </a:rPr>
              <a:t>Hits and misses update the model state</a:t>
            </a:r>
          </a:p>
        </p:txBody>
      </p:sp>
      <p:sp>
        <p:nvSpPr>
          <p:cNvPr id="37" name="TextBox 36"/>
          <p:cNvSpPr txBox="1"/>
          <p:nvPr/>
        </p:nvSpPr>
        <p:spPr>
          <a:xfrm>
            <a:off x="508000" y="4419600"/>
            <a:ext cx="11176000" cy="265430"/>
          </a:xfrm>
          <a:prstGeom prst="rect">
            <a:avLst/>
          </a:prstGeom>
          <a:noFill/>
        </p:spPr>
        <p:txBody>
          <a:bodyPr wrap="none" lIns="0" rIns="0" tIns="0" bIns="0">
            <a:spAutoFit/>
          </a:bodyPr>
          <a:lstStyle/>
          <a:p>
            <a:pPr algn="l">
              <a:lnSpc>
                <a:spcPts val="1690"/>
              </a:lnSpc>
              <a:spcBef>
                <a:spcPts val="0"/>
              </a:spcBef>
              <a:spcAft>
                <a:spcPts val="0"/>
              </a:spcAft>
            </a:pPr>
            <a:r>
              <a:rPr sz="1300" b="1">
                <a:solidFill>
                  <a:srgbClr val="285A7A"/>
                </a:solidFill>
                <a:latin typeface="Noto Sans"/>
              </a:rPr>
              <a:t>OUTPUTS   Capture probability • intercept time • interception ratio</a:t>
            </a:r>
          </a:p>
        </p:txBody>
      </p:sp>
      <p:sp>
        <p:nvSpPr>
          <p:cNvPr id="38" name="TextBox 37"/>
          <p:cNvSpPr txBox="1"/>
          <p:nvPr/>
        </p:nvSpPr>
        <p:spPr>
          <a:xfrm>
            <a:off x="508000" y="4864100"/>
            <a:ext cx="111760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CAUSAL INPUTS   No emitter identity • no supplied period / phase • no future information</a:t>
            </a:r>
          </a:p>
        </p:txBody>
      </p:sp>
      <p:cxnSp>
        <p:nvCxnSpPr>
          <p:cNvPr id="39" name="Connector 38"/>
          <p:cNvCxnSpPr/>
          <p:nvPr/>
        </p:nvCxnSpPr>
        <p:spPr>
          <a:xfrm>
            <a:off x="508000" y="52959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8000" y="55245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Simulation + learning</a:t>
            </a:r>
          </a:p>
        </p:txBody>
      </p:sp>
      <p:sp>
        <p:nvSpPr>
          <p:cNvPr id="41" name="TextBox 40"/>
          <p:cNvSpPr txBox="1"/>
          <p:nvPr/>
        </p:nvSpPr>
        <p:spPr>
          <a:xfrm>
            <a:off x="508000" y="58420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Python / NumPy</a:t>
            </a:r>
          </a:p>
          <a:p>
            <a:pPr algn="l">
              <a:lnSpc>
                <a:spcPts val="1439"/>
              </a:lnSpc>
              <a:spcBef>
                <a:spcPts val="0"/>
              </a:spcBef>
              <a:spcAft>
                <a:spcPts val="0"/>
              </a:spcAft>
            </a:pPr>
            <a:r>
              <a:rPr sz="1200" b="0">
                <a:solidFill>
                  <a:srgbClr val="526676"/>
                </a:solidFill>
                <a:latin typeface="Noto Sans"/>
              </a:rPr>
              <a:t>PyTorch / CUDA</a:t>
            </a:r>
          </a:p>
        </p:txBody>
      </p:sp>
      <p:sp>
        <p:nvSpPr>
          <p:cNvPr id="42" name="TextBox 41"/>
          <p:cNvSpPr txBox="1"/>
          <p:nvPr/>
        </p:nvSpPr>
        <p:spPr>
          <a:xfrm>
            <a:off x="4318000" y="55245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Pulse replay + data</a:t>
            </a:r>
          </a:p>
        </p:txBody>
      </p:sp>
      <p:sp>
        <p:nvSpPr>
          <p:cNvPr id="43" name="TextBox 42"/>
          <p:cNvSpPr txBox="1"/>
          <p:nvPr/>
        </p:nvSpPr>
        <p:spPr>
          <a:xfrm>
            <a:off x="4318000" y="58420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HDF5 / h5py</a:t>
            </a:r>
          </a:p>
          <a:p>
            <a:pPr algn="l">
              <a:lnSpc>
                <a:spcPts val="1439"/>
              </a:lnSpc>
              <a:spcBef>
                <a:spcPts val="0"/>
              </a:spcBef>
              <a:spcAft>
                <a:spcPts val="0"/>
              </a:spcAft>
            </a:pPr>
            <a:r>
              <a:rPr sz="1200" b="0">
                <a:solidFill>
                  <a:srgbClr val="526676"/>
                </a:solidFill>
                <a:latin typeface="Noto Sans"/>
              </a:rPr>
              <a:t>scikit-learn</a:t>
            </a:r>
          </a:p>
        </p:txBody>
      </p:sp>
      <p:sp>
        <p:nvSpPr>
          <p:cNvPr id="44" name="TextBox 43"/>
          <p:cNvSpPr txBox="1"/>
          <p:nvPr/>
        </p:nvSpPr>
        <p:spPr>
          <a:xfrm>
            <a:off x="8128000" y="55245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API + visualization</a:t>
            </a:r>
          </a:p>
        </p:txBody>
      </p:sp>
      <p:sp>
        <p:nvSpPr>
          <p:cNvPr id="45" name="TextBox 44"/>
          <p:cNvSpPr txBox="1"/>
          <p:nvPr/>
        </p:nvSpPr>
        <p:spPr>
          <a:xfrm>
            <a:off x="8128000" y="58420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JSON / HTTP</a:t>
            </a:r>
          </a:p>
          <a:p>
            <a:pPr algn="l">
              <a:lnSpc>
                <a:spcPts val="1439"/>
              </a:lnSpc>
              <a:spcBef>
                <a:spcPts val="0"/>
              </a:spcBef>
              <a:spcAft>
                <a:spcPts val="0"/>
              </a:spcAft>
            </a:pPr>
            <a:r>
              <a:rPr sz="1200" b="0">
                <a:solidFill>
                  <a:srgbClr val="526676"/>
                </a:solidFill>
                <a:latin typeface="Noto Sans"/>
              </a:rPr>
              <a:t>JavaScript / Canvas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279400"/>
            <a:ext cx="1371600" cy="508000"/>
          </a:xfrm>
          <a:prstGeom prst="roundRect">
            <a:avLst>
              <a:gd name="adj" fmla="val 10000"/>
            </a:avLst>
          </a:prstGeom>
          <a:solidFill>
            <a:srgbClr val="EAF1F5"/>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Bef>
                <a:spcPts val="0"/>
              </a:spcBef>
              <a:spcAft>
                <a:spcPts val="0"/>
              </a:spcAft>
            </a:pPr>
            <a:r>
              <a:rPr sz="1600" b="1">
                <a:solidFill>
                  <a:srgbClr val="285A7A"/>
                </a:solidFill>
                <a:latin typeface="Noto Sans"/>
              </a:rPr>
              <a:t>Axiom X</a:t>
            </a:r>
          </a:p>
        </p:txBody>
      </p:sp>
      <p:sp>
        <p:nvSpPr>
          <p:cNvPr id="4" name="TextBox 3"/>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FEASIBILITY AND VIABILITY</a:t>
            </a:r>
          </a:p>
        </p:txBody>
      </p:sp>
      <p:pic>
        <p:nvPicPr>
          <p:cNvPr id="5" name="Picture 4" descr="image.png"/>
          <p:cNvPicPr>
            <a:picLocks noChangeAspect="1"/>
          </p:cNvPicPr>
          <p:nvPr/>
        </p:nvPicPr>
        <p:blipFill>
          <a:blip r:embed="rId3"/>
          <a:stretch>
            <a:fillRect/>
          </a:stretch>
        </p:blipFill>
        <p:spPr>
          <a:xfrm>
            <a:off x="9780086" y="1500"/>
            <a:ext cx="2249850" cy="1062337"/>
          </a:xfrm>
          <a:prstGeom prst="rect">
            <a:avLst/>
          </a:prstGeom>
        </p:spPr>
      </p:pic>
      <p:cxnSp>
        <p:nvCxnSpPr>
          <p:cNvPr id="6" name="Connector 5"/>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1219200"/>
            <a:ext cx="11176000" cy="480060"/>
          </a:xfrm>
          <a:prstGeom prst="rect">
            <a:avLst/>
          </a:prstGeom>
          <a:noFill/>
        </p:spPr>
        <p:txBody>
          <a:bodyPr wrap="none" lIns="0" rIns="0" tIns="0" bIns="0">
            <a:spAutoFit/>
          </a:bodyPr>
          <a:lstStyle/>
          <a:p>
            <a:pPr algn="l">
              <a:lnSpc>
                <a:spcPts val="3380"/>
              </a:lnSpc>
              <a:spcBef>
                <a:spcPts val="0"/>
              </a:spcBef>
              <a:spcAft>
                <a:spcPts val="0"/>
              </a:spcAft>
            </a:pPr>
            <a:r>
              <a:rPr sz="2600" b="1">
                <a:solidFill>
                  <a:srgbClr val="172B3A"/>
                </a:solidFill>
                <a:latin typeface="Noto Sans"/>
              </a:rPr>
              <a:t>Validated in simulation and external pulse replay.</a:t>
            </a:r>
          </a:p>
        </p:txBody>
      </p:sp>
      <p:sp>
        <p:nvSpPr>
          <p:cNvPr id="8" name="TextBox 7"/>
          <p:cNvSpPr txBox="1"/>
          <p:nvPr/>
        </p:nvSpPr>
        <p:spPr>
          <a:xfrm>
            <a:off x="508000" y="1727200"/>
            <a:ext cx="111760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Matched receiver budgets, stronger controls and a working closed-loop demo.</a:t>
            </a:r>
          </a:p>
        </p:txBody>
      </p:sp>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0" name="TextBox 9"/>
          <p:cNvSpPr txBox="1"/>
          <p:nvPr/>
        </p:nvSpPr>
        <p:spPr>
          <a:xfrm>
            <a:off x="508000" y="6527800"/>
            <a:ext cx="5461000" cy="191135"/>
          </a:xfrm>
          <a:prstGeom prst="rect">
            <a:avLst/>
          </a:prstGeom>
          <a:noFill/>
        </p:spPr>
        <p:txBody>
          <a:bodyPr wrap="none" lIns="0" rIns="0" tIns="0" bIns="0">
            <a:spAutoFit/>
          </a:bodyPr>
          <a:lstStyle/>
          <a:p>
            <a:pPr algn="l">
              <a:lnSpc>
                <a:spcPts val="1105"/>
              </a:lnSpc>
              <a:spcBef>
                <a:spcPts val="0"/>
              </a:spcBef>
              <a:spcAft>
                <a:spcPts val="0"/>
              </a:spcAft>
            </a:pPr>
            <a:r>
              <a:rPr sz="850" b="1">
                <a:solidFill>
                  <a:srgbClr val="FFFFFF"/>
                </a:solidFill>
                <a:latin typeface="Noto Sans"/>
              </a:rPr>
              <a:t>SIH 2026 • IDEA SUBMISSION</a:t>
            </a:r>
          </a:p>
        </p:txBody>
      </p:sp>
      <p:sp>
        <p:nvSpPr>
          <p:cNvPr id="11" name="TextBox 10"/>
          <p:cNvSpPr txBox="1"/>
          <p:nvPr/>
        </p:nvSpPr>
        <p:spPr>
          <a:xfrm>
            <a:off x="10718800" y="6527800"/>
            <a:ext cx="965200" cy="191135"/>
          </a:xfrm>
          <a:prstGeom prst="rect">
            <a:avLst/>
          </a:prstGeom>
          <a:noFill/>
        </p:spPr>
        <p:txBody>
          <a:bodyPr wrap="none" lIns="0" rIns="0" tIns="0" bIns="0">
            <a:spAutoFit/>
          </a:bodyPr>
          <a:lstStyle/>
          <a:p>
            <a:pPr algn="r">
              <a:lnSpc>
                <a:spcPts val="1105"/>
              </a:lnSpc>
              <a:spcBef>
                <a:spcPts val="0"/>
              </a:spcBef>
              <a:spcAft>
                <a:spcPts val="0"/>
              </a:spcAft>
            </a:pPr>
            <a:r>
              <a:rPr sz="850" b="0">
                <a:solidFill>
                  <a:srgbClr val="FFFFFF"/>
                </a:solidFill>
                <a:latin typeface="Noto Sans"/>
              </a:rPr>
              <a:t>4/6</a:t>
            </a:r>
          </a:p>
        </p:txBody>
      </p:sp>
      <p:sp>
        <p:nvSpPr>
          <p:cNvPr id="12" name="Rounded Rectangle 11"/>
          <p:cNvSpPr/>
          <p:nvPr/>
        </p:nvSpPr>
        <p:spPr>
          <a:xfrm>
            <a:off x="508000" y="2095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3100" y="2273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2222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ENGINEERING</a:t>
            </a:r>
          </a:p>
        </p:txBody>
      </p:sp>
      <p:sp>
        <p:nvSpPr>
          <p:cNvPr id="15" name="TextBox 14"/>
          <p:cNvSpPr txBox="1"/>
          <p:nvPr/>
        </p:nvSpPr>
        <p:spPr>
          <a:xfrm>
            <a:off x="673100" y="2565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Receiver simulation</a:t>
            </a:r>
          </a:p>
        </p:txBody>
      </p:sp>
      <p:sp>
        <p:nvSpPr>
          <p:cNvPr id="16" name="TextBox 15"/>
          <p:cNvSpPr txBox="1"/>
          <p:nvPr/>
        </p:nvSpPr>
        <p:spPr>
          <a:xfrm>
            <a:off x="673100" y="2946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Agile, spatial and periodic emitters.</a:t>
            </a:r>
          </a:p>
          <a:p>
            <a:pPr algn="l">
              <a:lnSpc>
                <a:spcPts val="1755"/>
              </a:lnSpc>
              <a:spcBef>
                <a:spcPts val="0"/>
              </a:spcBef>
              <a:spcAft>
                <a:spcPts val="0"/>
              </a:spcAft>
            </a:pPr>
            <a:r>
              <a:rPr sz="1300" b="0">
                <a:solidFill>
                  <a:srgbClr val="526676"/>
                </a:solidFill>
                <a:latin typeface="Noto Sans"/>
              </a:rPr>
              <a:t>Noise, sensitivity and retuning.</a:t>
            </a:r>
          </a:p>
        </p:txBody>
      </p:sp>
      <p:sp>
        <p:nvSpPr>
          <p:cNvPr id="17" name="Rounded Rectangle 16"/>
          <p:cNvSpPr/>
          <p:nvPr/>
        </p:nvSpPr>
        <p:spPr>
          <a:xfrm>
            <a:off x="4318000" y="2095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3100" y="2273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51400" y="2222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LEARNING</a:t>
            </a:r>
          </a:p>
        </p:txBody>
      </p:sp>
      <p:sp>
        <p:nvSpPr>
          <p:cNvPr id="20" name="TextBox 19"/>
          <p:cNvSpPr txBox="1"/>
          <p:nvPr/>
        </p:nvSpPr>
        <p:spPr>
          <a:xfrm>
            <a:off x="4483100" y="2565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Trained scheduler</a:t>
            </a:r>
          </a:p>
        </p:txBody>
      </p:sp>
      <p:sp>
        <p:nvSpPr>
          <p:cNvPr id="21" name="TextBox 20"/>
          <p:cNvSpPr txBox="1"/>
          <p:nvPr/>
        </p:nvSpPr>
        <p:spPr>
          <a:xfrm>
            <a:off x="4483100" y="2946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Causal forecasts and scan control.</a:t>
            </a:r>
          </a:p>
          <a:p>
            <a:pPr algn="l">
              <a:lnSpc>
                <a:spcPts val="1755"/>
              </a:lnSpc>
              <a:spcBef>
                <a:spcPts val="0"/>
              </a:spcBef>
              <a:spcAft>
                <a:spcPts val="0"/>
              </a:spcAft>
            </a:pPr>
            <a:r>
              <a:rPr sz="1300" b="0">
                <a:solidFill>
                  <a:srgbClr val="526676"/>
                </a:solidFill>
                <a:latin typeface="Noto Sans"/>
              </a:rPr>
              <a:t>CUDA training; held-out checks.</a:t>
            </a:r>
          </a:p>
        </p:txBody>
      </p:sp>
      <p:sp>
        <p:nvSpPr>
          <p:cNvPr id="22" name="Rounded Rectangle 21"/>
          <p:cNvSpPr/>
          <p:nvPr/>
        </p:nvSpPr>
        <p:spPr>
          <a:xfrm>
            <a:off x="8128000" y="2095500"/>
            <a:ext cx="3556000" cy="15367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93100" y="22733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61400" y="22225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DATA AND SOFTWARE</a:t>
            </a:r>
          </a:p>
        </p:txBody>
      </p:sp>
      <p:sp>
        <p:nvSpPr>
          <p:cNvPr id="25" name="TextBox 24"/>
          <p:cNvSpPr txBox="1"/>
          <p:nvPr/>
        </p:nvSpPr>
        <p:spPr>
          <a:xfrm>
            <a:off x="8293100" y="25654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Replay + analyst console</a:t>
            </a:r>
          </a:p>
        </p:txBody>
      </p:sp>
      <p:sp>
        <p:nvSpPr>
          <p:cNvPr id="26" name="TextBox 25"/>
          <p:cNvSpPr txBox="1"/>
          <p:nvPr/>
        </p:nvSpPr>
        <p:spPr>
          <a:xfrm>
            <a:off x="8293100" y="29464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32 unseen recordings evaluated.</a:t>
            </a:r>
          </a:p>
          <a:p>
            <a:pPr algn="l">
              <a:lnSpc>
                <a:spcPts val="1755"/>
              </a:lnSpc>
              <a:spcBef>
                <a:spcPts val="0"/>
              </a:spcBef>
              <a:spcAft>
                <a:spcPts val="0"/>
              </a:spcAft>
            </a:pPr>
            <a:r>
              <a:rPr sz="1300" b="0">
                <a:solidFill>
                  <a:srgbClr val="526676"/>
                </a:solidFill>
                <a:latin typeface="Noto Sans"/>
              </a:rPr>
              <a:t>Replay CLI + trained-policy GUI.</a:t>
            </a:r>
          </a:p>
        </p:txBody>
      </p:sp>
      <p:sp>
        <p:nvSpPr>
          <p:cNvPr id="27" name="Rounded Rectangle 26"/>
          <p:cNvSpPr/>
          <p:nvPr/>
        </p:nvSpPr>
        <p:spPr>
          <a:xfrm>
            <a:off x="508000" y="3911600"/>
            <a:ext cx="11176000" cy="1358900"/>
          </a:xfrm>
          <a:prstGeom prst="roundRect">
            <a:avLst>
              <a:gd name="adj" fmla="val 10000"/>
            </a:avLst>
          </a:prstGeom>
          <a:solidFill>
            <a:srgbClr val="EA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600" y="4076700"/>
            <a:ext cx="10718800" cy="215900"/>
          </a:xfrm>
          <a:prstGeom prst="rect">
            <a:avLst/>
          </a:prstGeom>
          <a:noFill/>
        </p:spPr>
        <p:txBody>
          <a:bodyPr wrap="none" lIns="0" rIns="0" tIns="0" bIns="0">
            <a:spAutoFit/>
          </a:bodyPr>
          <a:lstStyle/>
          <a:p>
            <a:pPr algn="l">
              <a:lnSpc>
                <a:spcPts val="1300"/>
              </a:lnSpc>
              <a:spcBef>
                <a:spcPts val="0"/>
              </a:spcBef>
              <a:spcAft>
                <a:spcPts val="0"/>
              </a:spcAft>
            </a:pPr>
            <a:r>
              <a:rPr sz="1000" b="1">
                <a:solidFill>
                  <a:srgbClr val="27766F"/>
                </a:solidFill>
                <a:latin typeface="Noto Sans"/>
              </a:rPr>
              <a:t>EXTERNAL SYNTHETIC TSRD VALIDATION • 32 RECORDINGS</a:t>
            </a:r>
          </a:p>
        </p:txBody>
      </p:sp>
      <p:sp>
        <p:nvSpPr>
          <p:cNvPr id="29" name="TextBox 28"/>
          <p:cNvSpPr txBox="1"/>
          <p:nvPr/>
        </p:nvSpPr>
        <p:spPr>
          <a:xfrm>
            <a:off x="736600" y="4368800"/>
            <a:ext cx="10718800" cy="414020"/>
          </a:xfrm>
          <a:prstGeom prst="rect">
            <a:avLst/>
          </a:prstGeom>
          <a:noFill/>
        </p:spPr>
        <p:txBody>
          <a:bodyPr wrap="none" lIns="0" rIns="0" tIns="0" bIns="0">
            <a:spAutoFit/>
          </a:bodyPr>
          <a:lstStyle/>
          <a:p>
            <a:pPr algn="l">
              <a:lnSpc>
                <a:spcPts val="2860"/>
              </a:lnSpc>
              <a:spcBef>
                <a:spcPts val="0"/>
              </a:spcBef>
              <a:spcAft>
                <a:spcPts val="0"/>
              </a:spcAft>
            </a:pPr>
            <a:r>
              <a:rPr sz="2200" b="1">
                <a:solidFill>
                  <a:srgbClr val="285A7A"/>
                </a:solidFill>
                <a:latin typeface="Noto Sans"/>
              </a:rPr>
              <a:t>4.16× mean capture versus fixed sweep</a:t>
            </a:r>
          </a:p>
        </p:txBody>
      </p:sp>
      <p:sp>
        <p:nvSpPr>
          <p:cNvPr id="30" name="TextBox 29"/>
          <p:cNvSpPr txBox="1"/>
          <p:nvPr/>
        </p:nvSpPr>
        <p:spPr>
          <a:xfrm>
            <a:off x="736600" y="4826000"/>
            <a:ext cx="107188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172B3A"/>
                </a:solidFill>
                <a:latin typeface="Noto Sans"/>
              </a:rPr>
              <a:t>Timing 43.49% • fixed sweep 10.45% • emitter discovery 93.35%</a:t>
            </a:r>
          </a:p>
        </p:txBody>
      </p:sp>
      <p:sp>
        <p:nvSpPr>
          <p:cNvPr id="31" name="TextBox 30"/>
          <p:cNvSpPr txBox="1"/>
          <p:nvPr/>
        </p:nvSpPr>
        <p:spPr>
          <a:xfrm>
            <a:off x="508000" y="56388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300-world simulation</a:t>
            </a:r>
          </a:p>
        </p:txBody>
      </p:sp>
      <p:sp>
        <p:nvSpPr>
          <p:cNvPr id="32" name="TextBox 31"/>
          <p:cNvSpPr txBox="1"/>
          <p:nvPr/>
        </p:nvSpPr>
        <p:spPr>
          <a:xfrm>
            <a:off x="508000" y="58801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Agile / spatial / periodic capture:</a:t>
            </a:r>
          </a:p>
          <a:p>
            <a:pPr algn="l">
              <a:lnSpc>
                <a:spcPts val="1439"/>
              </a:lnSpc>
              <a:spcBef>
                <a:spcPts val="0"/>
              </a:spcBef>
              <a:spcAft>
                <a:spcPts val="0"/>
              </a:spcAft>
            </a:pPr>
            <a:r>
              <a:rPr sz="1200" b="0">
                <a:solidFill>
                  <a:srgbClr val="526676"/>
                </a:solidFill>
                <a:latin typeface="Noto Sans"/>
              </a:rPr>
              <a:t>34.37% / 51.56% / 67.66%</a:t>
            </a:r>
          </a:p>
        </p:txBody>
      </p:sp>
      <p:sp>
        <p:nvSpPr>
          <p:cNvPr id="33" name="TextBox 32"/>
          <p:cNvSpPr txBox="1"/>
          <p:nvPr/>
        </p:nvSpPr>
        <p:spPr>
          <a:xfrm>
            <a:off x="4318000" y="56388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Capture / discovery</a:t>
            </a:r>
          </a:p>
        </p:txBody>
      </p:sp>
      <p:sp>
        <p:nvSpPr>
          <p:cNvPr id="34" name="TextBox 33"/>
          <p:cNvSpPr txBox="1"/>
          <p:nvPr/>
        </p:nvSpPr>
        <p:spPr>
          <a:xfrm>
            <a:off x="4318000" y="58801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Rate-probe: 51.66% capture;</a:t>
            </a:r>
          </a:p>
          <a:p>
            <a:pPr algn="l">
              <a:lnSpc>
                <a:spcPts val="1439"/>
              </a:lnSpc>
              <a:spcBef>
                <a:spcPts val="0"/>
              </a:spcBef>
              <a:spcAft>
                <a:spcPts val="0"/>
              </a:spcAft>
            </a:pPr>
            <a:r>
              <a:rPr sz="1200" b="0">
                <a:solidFill>
                  <a:srgbClr val="526676"/>
                </a:solidFill>
                <a:latin typeface="Noto Sans"/>
              </a:rPr>
              <a:t>84.39% emitter discovery.</a:t>
            </a:r>
          </a:p>
        </p:txBody>
      </p:sp>
      <p:sp>
        <p:nvSpPr>
          <p:cNvPr id="35" name="TextBox 34"/>
          <p:cNvSpPr txBox="1"/>
          <p:nvPr/>
        </p:nvSpPr>
        <p:spPr>
          <a:xfrm>
            <a:off x="8128000" y="5638800"/>
            <a:ext cx="35560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Validation boundary</a:t>
            </a:r>
          </a:p>
        </p:txBody>
      </p:sp>
      <p:sp>
        <p:nvSpPr>
          <p:cNvPr id="36" name="TextBox 35"/>
          <p:cNvSpPr txBox="1"/>
          <p:nvPr/>
        </p:nvSpPr>
        <p:spPr>
          <a:xfrm>
            <a:off x="8128000" y="5880100"/>
            <a:ext cx="3556000" cy="416559"/>
          </a:xfrm>
          <a:prstGeom prst="rect">
            <a:avLst/>
          </a:prstGeom>
          <a:noFill/>
        </p:spPr>
        <p:txBody>
          <a:bodyPr wrap="none" lIns="0" rIns="0" tIns="0" bIns="0">
            <a:spAutoFit/>
          </a:bodyPr>
          <a:lstStyle/>
          <a:p>
            <a:pPr algn="l">
              <a:lnSpc>
                <a:spcPts val="1439"/>
              </a:lnSpc>
              <a:spcBef>
                <a:spcPts val="0"/>
              </a:spcBef>
              <a:spcAft>
                <a:spcPts val="0"/>
              </a:spcAft>
            </a:pPr>
            <a:r>
              <a:rPr sz="1200" b="0">
                <a:solidFill>
                  <a:srgbClr val="526676"/>
                </a:solidFill>
                <a:latin typeface="Noto Sans"/>
              </a:rPr>
              <a:t>External synthetic data.</a:t>
            </a:r>
          </a:p>
          <a:p>
            <a:pPr algn="l">
              <a:lnSpc>
                <a:spcPts val="1439"/>
              </a:lnSpc>
              <a:spcBef>
                <a:spcPts val="0"/>
              </a:spcBef>
              <a:spcAft>
                <a:spcPts val="0"/>
              </a:spcAft>
            </a:pPr>
            <a:r>
              <a:rPr sz="1200" b="0">
                <a:solidFill>
                  <a:srgbClr val="526676"/>
                </a:solidFill>
                <a:latin typeface="Noto Sans"/>
              </a:rPr>
              <a:t>No RF hardware validation.</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279400"/>
            <a:ext cx="1371600" cy="508000"/>
          </a:xfrm>
          <a:prstGeom prst="roundRect">
            <a:avLst>
              <a:gd name="adj" fmla="val 10000"/>
            </a:avLst>
          </a:prstGeom>
          <a:solidFill>
            <a:srgbClr val="EAF1F5"/>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Bef>
                <a:spcPts val="0"/>
              </a:spcBef>
              <a:spcAft>
                <a:spcPts val="0"/>
              </a:spcAft>
            </a:pPr>
            <a:r>
              <a:rPr sz="1600" b="1">
                <a:solidFill>
                  <a:srgbClr val="285A7A"/>
                </a:solidFill>
                <a:latin typeface="Noto Sans"/>
              </a:rPr>
              <a:t>Axiom X</a:t>
            </a:r>
          </a:p>
        </p:txBody>
      </p:sp>
      <p:sp>
        <p:nvSpPr>
          <p:cNvPr id="4" name="TextBox 3"/>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IMPACT AND BENEFITS</a:t>
            </a:r>
          </a:p>
        </p:txBody>
      </p:sp>
      <p:pic>
        <p:nvPicPr>
          <p:cNvPr id="5" name="Picture 4" descr="image.png"/>
          <p:cNvPicPr>
            <a:picLocks noChangeAspect="1"/>
          </p:cNvPicPr>
          <p:nvPr/>
        </p:nvPicPr>
        <p:blipFill>
          <a:blip r:embed="rId3"/>
          <a:stretch>
            <a:fillRect/>
          </a:stretch>
        </p:blipFill>
        <p:spPr>
          <a:xfrm>
            <a:off x="9780086" y="1500"/>
            <a:ext cx="2249850" cy="1062337"/>
          </a:xfrm>
          <a:prstGeom prst="rect">
            <a:avLst/>
          </a:prstGeom>
        </p:spPr>
      </p:pic>
      <p:cxnSp>
        <p:nvCxnSpPr>
          <p:cNvPr id="6" name="Connector 5"/>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1219200"/>
            <a:ext cx="11176000" cy="480060"/>
          </a:xfrm>
          <a:prstGeom prst="rect">
            <a:avLst/>
          </a:prstGeom>
          <a:noFill/>
        </p:spPr>
        <p:txBody>
          <a:bodyPr wrap="none" lIns="0" rIns="0" tIns="0" bIns="0">
            <a:spAutoFit/>
          </a:bodyPr>
          <a:lstStyle/>
          <a:p>
            <a:pPr algn="l">
              <a:lnSpc>
                <a:spcPts val="3380"/>
              </a:lnSpc>
              <a:spcBef>
                <a:spcPts val="0"/>
              </a:spcBef>
              <a:spcAft>
                <a:spcPts val="0"/>
              </a:spcAft>
            </a:pPr>
            <a:r>
              <a:rPr sz="2600" b="1">
                <a:solidFill>
                  <a:srgbClr val="172B3A"/>
                </a:solidFill>
                <a:latin typeface="Noto Sans"/>
              </a:rPr>
              <a:t>Adaptive surveillance. Measurable interception.</a:t>
            </a:r>
          </a:p>
        </p:txBody>
      </p:sp>
      <p:sp>
        <p:nvSpPr>
          <p:cNvPr id="8" name="TextBox 7"/>
          <p:cNvSpPr txBox="1"/>
          <p:nvPr/>
        </p:nvSpPr>
        <p:spPr>
          <a:xfrm>
            <a:off x="508000" y="1727200"/>
            <a:ext cx="111760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Implemented scheduling, prediction and evaluation for Electronic Support receivers.</a:t>
            </a:r>
          </a:p>
        </p:txBody>
      </p:sp>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0" name="TextBox 9"/>
          <p:cNvSpPr txBox="1"/>
          <p:nvPr/>
        </p:nvSpPr>
        <p:spPr>
          <a:xfrm>
            <a:off x="508000" y="6527800"/>
            <a:ext cx="5461000" cy="191135"/>
          </a:xfrm>
          <a:prstGeom prst="rect">
            <a:avLst/>
          </a:prstGeom>
          <a:noFill/>
        </p:spPr>
        <p:txBody>
          <a:bodyPr wrap="none" lIns="0" rIns="0" tIns="0" bIns="0">
            <a:spAutoFit/>
          </a:bodyPr>
          <a:lstStyle/>
          <a:p>
            <a:pPr algn="l">
              <a:lnSpc>
                <a:spcPts val="1105"/>
              </a:lnSpc>
              <a:spcBef>
                <a:spcPts val="0"/>
              </a:spcBef>
              <a:spcAft>
                <a:spcPts val="0"/>
              </a:spcAft>
            </a:pPr>
            <a:r>
              <a:rPr sz="850" b="1">
                <a:solidFill>
                  <a:srgbClr val="FFFFFF"/>
                </a:solidFill>
                <a:latin typeface="Noto Sans"/>
              </a:rPr>
              <a:t>SIH 2026 • IDEA SUBMISSION</a:t>
            </a:r>
          </a:p>
        </p:txBody>
      </p:sp>
      <p:sp>
        <p:nvSpPr>
          <p:cNvPr id="11" name="TextBox 10"/>
          <p:cNvSpPr txBox="1"/>
          <p:nvPr/>
        </p:nvSpPr>
        <p:spPr>
          <a:xfrm>
            <a:off x="10718800" y="6527800"/>
            <a:ext cx="965200" cy="191135"/>
          </a:xfrm>
          <a:prstGeom prst="rect">
            <a:avLst/>
          </a:prstGeom>
          <a:noFill/>
        </p:spPr>
        <p:txBody>
          <a:bodyPr wrap="none" lIns="0" rIns="0" tIns="0" bIns="0">
            <a:spAutoFit/>
          </a:bodyPr>
          <a:lstStyle/>
          <a:p>
            <a:pPr algn="r">
              <a:lnSpc>
                <a:spcPts val="1105"/>
              </a:lnSpc>
              <a:spcBef>
                <a:spcPts val="0"/>
              </a:spcBef>
              <a:spcAft>
                <a:spcPts val="0"/>
              </a:spcAft>
            </a:pPr>
            <a:r>
              <a:rPr sz="850" b="0">
                <a:solidFill>
                  <a:srgbClr val="FFFFFF"/>
                </a:solidFill>
                <a:latin typeface="Noto Sans"/>
              </a:rPr>
              <a:t>5/6</a:t>
            </a:r>
          </a:p>
        </p:txBody>
      </p:sp>
      <p:sp>
        <p:nvSpPr>
          <p:cNvPr id="12" name="Rounded Rectangle 11"/>
          <p:cNvSpPr/>
          <p:nvPr/>
        </p:nvSpPr>
        <p:spPr>
          <a:xfrm>
            <a:off x="508000" y="2197100"/>
            <a:ext cx="3556000" cy="16256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3100" y="23749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23241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SURVEILLANCE</a:t>
            </a:r>
          </a:p>
        </p:txBody>
      </p:sp>
      <p:sp>
        <p:nvSpPr>
          <p:cNvPr id="15" name="TextBox 14"/>
          <p:cNvSpPr txBox="1"/>
          <p:nvPr/>
        </p:nvSpPr>
        <p:spPr>
          <a:xfrm>
            <a:off x="673100" y="26670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Capture brief opportunities</a:t>
            </a:r>
          </a:p>
        </p:txBody>
      </p:sp>
      <p:sp>
        <p:nvSpPr>
          <p:cNvPr id="16" name="TextBox 15"/>
          <p:cNvSpPr txBox="1"/>
          <p:nvPr/>
        </p:nvSpPr>
        <p:spPr>
          <a:xfrm>
            <a:off x="673100" y="30480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Forecast activity before revisits.</a:t>
            </a:r>
          </a:p>
          <a:p>
            <a:pPr algn="l">
              <a:lnSpc>
                <a:spcPts val="1755"/>
              </a:lnSpc>
              <a:spcBef>
                <a:spcPts val="0"/>
              </a:spcBef>
              <a:spcAft>
                <a:spcPts val="0"/>
              </a:spcAft>
            </a:pPr>
            <a:r>
              <a:rPr sz="1300" b="0">
                <a:solidFill>
                  <a:srgbClr val="526676"/>
                </a:solidFill>
                <a:latin typeface="Noto Sans"/>
              </a:rPr>
              <a:t>Adapt to agile and periodic emitters.</a:t>
            </a:r>
          </a:p>
        </p:txBody>
      </p:sp>
      <p:sp>
        <p:nvSpPr>
          <p:cNvPr id="17" name="Rounded Rectangle 16"/>
          <p:cNvSpPr/>
          <p:nvPr/>
        </p:nvSpPr>
        <p:spPr>
          <a:xfrm>
            <a:off x="4318000" y="2197100"/>
            <a:ext cx="3556000" cy="16256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3100" y="23749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51400" y="23241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RECEIVER RESOURCES</a:t>
            </a:r>
          </a:p>
        </p:txBody>
      </p:sp>
      <p:sp>
        <p:nvSpPr>
          <p:cNvPr id="20" name="TextBox 19"/>
          <p:cNvSpPr txBox="1"/>
          <p:nvPr/>
        </p:nvSpPr>
        <p:spPr>
          <a:xfrm>
            <a:off x="4483100" y="26670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Use receiver time well</a:t>
            </a:r>
          </a:p>
        </p:txBody>
      </p:sp>
      <p:sp>
        <p:nvSpPr>
          <p:cNvPr id="21" name="TextBox 20"/>
          <p:cNvSpPr txBox="1"/>
          <p:nvPr/>
        </p:nvSpPr>
        <p:spPr>
          <a:xfrm>
            <a:off x="4483100" y="30480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Choose band and dwell together.</a:t>
            </a:r>
          </a:p>
          <a:p>
            <a:pPr algn="l">
              <a:lnSpc>
                <a:spcPts val="1755"/>
              </a:lnSpc>
              <a:spcBef>
                <a:spcPts val="0"/>
              </a:spcBef>
              <a:spcAft>
                <a:spcPts val="0"/>
              </a:spcAft>
            </a:pPr>
            <a:r>
              <a:rPr sz="1300" b="0">
                <a:solidFill>
                  <a:srgbClr val="526676"/>
                </a:solidFill>
                <a:latin typeface="Noto Sans"/>
              </a:rPr>
              <a:t>Account for retuning and coverage.</a:t>
            </a:r>
          </a:p>
        </p:txBody>
      </p:sp>
      <p:sp>
        <p:nvSpPr>
          <p:cNvPr id="22" name="Rounded Rectangle 21"/>
          <p:cNvSpPr/>
          <p:nvPr/>
        </p:nvSpPr>
        <p:spPr>
          <a:xfrm>
            <a:off x="8128000" y="2197100"/>
            <a:ext cx="3556000" cy="16256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93100" y="2374900"/>
            <a:ext cx="266700" cy="25400"/>
          </a:xfrm>
          <a:prstGeom prst="rect">
            <a:avLst/>
          </a:prstGeom>
          <a:solidFill>
            <a:srgbClr val="2776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61400" y="2324100"/>
            <a:ext cx="2857500" cy="199390"/>
          </a:xfrm>
          <a:prstGeom prst="rect">
            <a:avLst/>
          </a:prstGeom>
          <a:noFill/>
        </p:spPr>
        <p:txBody>
          <a:bodyPr wrap="none" lIns="0" rIns="0" tIns="0" bIns="0">
            <a:spAutoFit/>
          </a:bodyPr>
          <a:lstStyle/>
          <a:p>
            <a:pPr algn="l">
              <a:lnSpc>
                <a:spcPts val="1170"/>
              </a:lnSpc>
              <a:spcBef>
                <a:spcPts val="0"/>
              </a:spcBef>
              <a:spcAft>
                <a:spcPts val="0"/>
              </a:spcAft>
            </a:pPr>
            <a:r>
              <a:rPr sz="900" b="1">
                <a:solidFill>
                  <a:srgbClr val="27766F"/>
                </a:solidFill>
                <a:latin typeface="Noto Sans"/>
              </a:rPr>
              <a:t>DEVELOPMENT</a:t>
            </a:r>
          </a:p>
        </p:txBody>
      </p:sp>
      <p:sp>
        <p:nvSpPr>
          <p:cNvPr id="25" name="TextBox 24"/>
          <p:cNvSpPr txBox="1"/>
          <p:nvPr/>
        </p:nvSpPr>
        <p:spPr>
          <a:xfrm>
            <a:off x="8293100" y="2667000"/>
            <a:ext cx="3225800" cy="314960"/>
          </a:xfrm>
          <a:prstGeom prst="rect">
            <a:avLst/>
          </a:prstGeom>
          <a:noFill/>
        </p:spPr>
        <p:txBody>
          <a:bodyPr wrap="none" lIns="0" rIns="0" tIns="0" bIns="0">
            <a:spAutoFit/>
          </a:bodyPr>
          <a:lstStyle/>
          <a:p>
            <a:pPr algn="l">
              <a:lnSpc>
                <a:spcPts val="2080"/>
              </a:lnSpc>
              <a:spcBef>
                <a:spcPts val="0"/>
              </a:spcBef>
              <a:spcAft>
                <a:spcPts val="0"/>
              </a:spcAft>
            </a:pPr>
            <a:r>
              <a:rPr sz="1600" b="1">
                <a:solidFill>
                  <a:srgbClr val="172B3A"/>
                </a:solidFill>
                <a:latin typeface="Noto Sans"/>
              </a:rPr>
              <a:t>Evaluate faster</a:t>
            </a:r>
          </a:p>
        </p:txBody>
      </p:sp>
      <p:sp>
        <p:nvSpPr>
          <p:cNvPr id="26" name="TextBox 25"/>
          <p:cNvSpPr txBox="1"/>
          <p:nvPr/>
        </p:nvSpPr>
        <p:spPr>
          <a:xfrm>
            <a:off x="8293100" y="3048000"/>
            <a:ext cx="3225800" cy="496570"/>
          </a:xfrm>
          <a:prstGeom prst="rect">
            <a:avLst/>
          </a:prstGeom>
          <a:noFill/>
        </p:spPr>
        <p:txBody>
          <a:bodyPr wrap="none" lIns="0" rIns="0" tIns="0" bIns="0">
            <a:spAutoFit/>
          </a:bodyPr>
          <a:lstStyle/>
          <a:p>
            <a:pPr algn="l">
              <a:lnSpc>
                <a:spcPts val="1755"/>
              </a:lnSpc>
              <a:spcBef>
                <a:spcPts val="0"/>
              </a:spcBef>
              <a:spcAft>
                <a:spcPts val="0"/>
              </a:spcAft>
            </a:pPr>
            <a:r>
              <a:rPr sz="1300" b="0">
                <a:solidFill>
                  <a:srgbClr val="526676"/>
                </a:solidFill>
                <a:latin typeface="Noto Sans"/>
              </a:rPr>
              <a:t>Reuse RF worlds and pulse replay.</a:t>
            </a:r>
          </a:p>
          <a:p>
            <a:pPr algn="l">
              <a:lnSpc>
                <a:spcPts val="1755"/>
              </a:lnSpc>
              <a:spcBef>
                <a:spcPts val="0"/>
              </a:spcBef>
              <a:spcAft>
                <a:spcPts val="0"/>
              </a:spcAft>
            </a:pPr>
            <a:r>
              <a:rPr sz="1300" b="0">
                <a:solidFill>
                  <a:srgbClr val="526676"/>
                </a:solidFill>
                <a:latin typeface="Noto Sans"/>
              </a:rPr>
              <a:t>Compare policies on matched data.</a:t>
            </a:r>
          </a:p>
        </p:txBody>
      </p:sp>
      <p:sp>
        <p:nvSpPr>
          <p:cNvPr id="27" name="TextBox 26"/>
          <p:cNvSpPr txBox="1"/>
          <p:nvPr/>
        </p:nvSpPr>
        <p:spPr>
          <a:xfrm>
            <a:off x="508000" y="4241800"/>
            <a:ext cx="11176000" cy="215900"/>
          </a:xfrm>
          <a:prstGeom prst="rect">
            <a:avLst/>
          </a:prstGeom>
          <a:noFill/>
        </p:spPr>
        <p:txBody>
          <a:bodyPr wrap="none" lIns="0" rIns="0" tIns="0" bIns="0">
            <a:spAutoFit/>
          </a:bodyPr>
          <a:lstStyle/>
          <a:p>
            <a:pPr algn="l">
              <a:lnSpc>
                <a:spcPts val="1300"/>
              </a:lnSpc>
              <a:spcBef>
                <a:spcPts val="0"/>
              </a:spcBef>
              <a:spcAft>
                <a:spcPts val="0"/>
              </a:spcAft>
            </a:pPr>
            <a:r>
              <a:rPr sz="1000" b="1">
                <a:solidFill>
                  <a:srgbClr val="27766F"/>
                </a:solidFill>
                <a:latin typeface="Noto Sans"/>
              </a:rPr>
              <a:t>CORE CAPABILITIES IMPLEMENTED</a:t>
            </a:r>
          </a:p>
        </p:txBody>
      </p:sp>
      <p:sp>
        <p:nvSpPr>
          <p:cNvPr id="28" name="TextBox 27"/>
          <p:cNvSpPr txBox="1"/>
          <p:nvPr/>
        </p:nvSpPr>
        <p:spPr>
          <a:xfrm>
            <a:off x="508000" y="4648200"/>
            <a:ext cx="5334000" cy="347980"/>
          </a:xfrm>
          <a:prstGeom prst="rect">
            <a:avLst/>
          </a:prstGeom>
          <a:noFill/>
        </p:spPr>
        <p:txBody>
          <a:bodyPr wrap="none" lIns="0" rIns="0" tIns="0" bIns="0">
            <a:spAutoFit/>
          </a:bodyPr>
          <a:lstStyle/>
          <a:p>
            <a:pPr algn="l">
              <a:lnSpc>
                <a:spcPts val="2340"/>
              </a:lnSpc>
              <a:spcBef>
                <a:spcPts val="0"/>
              </a:spcBef>
              <a:spcAft>
                <a:spcPts val="0"/>
              </a:spcAft>
            </a:pPr>
            <a:r>
              <a:rPr sz="1800" b="1">
                <a:solidFill>
                  <a:srgbClr val="172B3A"/>
                </a:solidFill>
                <a:latin typeface="Noto Sans"/>
              </a:rPr>
              <a:t>Learned scan scheduling</a:t>
            </a:r>
          </a:p>
        </p:txBody>
      </p:sp>
      <p:sp>
        <p:nvSpPr>
          <p:cNvPr id="29" name="TextBox 28"/>
          <p:cNvSpPr txBox="1"/>
          <p:nvPr/>
        </p:nvSpPr>
        <p:spPr>
          <a:xfrm>
            <a:off x="508000" y="5080000"/>
            <a:ext cx="53340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Band + dwell control from causal receiver history.</a:t>
            </a:r>
          </a:p>
          <a:p>
            <a:pPr algn="l">
              <a:lnSpc>
                <a:spcPts val="1690"/>
              </a:lnSpc>
              <a:spcBef>
                <a:spcPts val="0"/>
              </a:spcBef>
              <a:spcAft>
                <a:spcPts val="0"/>
              </a:spcAft>
            </a:pPr>
            <a:r>
              <a:rPr sz="1300" b="0">
                <a:solidFill>
                  <a:srgbClr val="526676"/>
                </a:solidFill>
                <a:latin typeface="Noto Sans"/>
              </a:rPr>
              <a:t>Intercept-time and interception-ratio predictions.</a:t>
            </a:r>
          </a:p>
        </p:txBody>
      </p:sp>
      <p:sp>
        <p:nvSpPr>
          <p:cNvPr id="30" name="TextBox 29"/>
          <p:cNvSpPr txBox="1"/>
          <p:nvPr/>
        </p:nvSpPr>
        <p:spPr>
          <a:xfrm>
            <a:off x="6350000" y="4648200"/>
            <a:ext cx="5334000" cy="347980"/>
          </a:xfrm>
          <a:prstGeom prst="rect">
            <a:avLst/>
          </a:prstGeom>
          <a:noFill/>
        </p:spPr>
        <p:txBody>
          <a:bodyPr wrap="none" lIns="0" rIns="0" tIns="0" bIns="0">
            <a:spAutoFit/>
          </a:bodyPr>
          <a:lstStyle/>
          <a:p>
            <a:pPr algn="l">
              <a:lnSpc>
                <a:spcPts val="2340"/>
              </a:lnSpc>
              <a:spcBef>
                <a:spcPts val="0"/>
              </a:spcBef>
              <a:spcAft>
                <a:spcPts val="0"/>
              </a:spcAft>
            </a:pPr>
            <a:r>
              <a:rPr sz="1800" b="1">
                <a:solidFill>
                  <a:srgbClr val="172B3A"/>
                </a:solidFill>
                <a:latin typeface="Noto Sans"/>
              </a:rPr>
              <a:t>Simulation, replay and evaluation</a:t>
            </a:r>
          </a:p>
        </p:txBody>
      </p:sp>
      <p:sp>
        <p:nvSpPr>
          <p:cNvPr id="31" name="TextBox 30"/>
          <p:cNvSpPr txBox="1"/>
          <p:nvPr/>
        </p:nvSpPr>
        <p:spPr>
          <a:xfrm>
            <a:off x="6350000" y="5080000"/>
            <a:ext cx="5334000" cy="48006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Agile, spatial and periodic emitter scenarios.</a:t>
            </a:r>
          </a:p>
          <a:p>
            <a:pPr algn="l">
              <a:lnSpc>
                <a:spcPts val="1690"/>
              </a:lnSpc>
              <a:spcBef>
                <a:spcPts val="0"/>
              </a:spcBef>
              <a:spcAft>
                <a:spcPts val="0"/>
              </a:spcAft>
            </a:pPr>
            <a:r>
              <a:rPr sz="1300" b="0">
                <a:solidFill>
                  <a:srgbClr val="526676"/>
                </a:solidFill>
                <a:latin typeface="Noto Sans"/>
              </a:rPr>
              <a:t>Required figures of merit + physical-time replay.</a:t>
            </a:r>
          </a:p>
        </p:txBody>
      </p:sp>
      <p:cxnSp>
        <p:nvCxnSpPr>
          <p:cNvPr id="32" name="Connector 31"/>
          <p:cNvCxnSpPr/>
          <p:nvPr/>
        </p:nvCxnSpPr>
        <p:spPr>
          <a:xfrm>
            <a:off x="508000" y="57912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8000" y="6032500"/>
            <a:ext cx="11176000" cy="265430"/>
          </a:xfrm>
          <a:prstGeom prst="rect">
            <a:avLst/>
          </a:prstGeom>
          <a:noFill/>
        </p:spPr>
        <p:txBody>
          <a:bodyPr wrap="none" lIns="0" rIns="0" tIns="0" bIns="0">
            <a:spAutoFit/>
          </a:bodyPr>
          <a:lstStyle/>
          <a:p>
            <a:pPr algn="l">
              <a:lnSpc>
                <a:spcPts val="1690"/>
              </a:lnSpc>
              <a:spcBef>
                <a:spcPts val="0"/>
              </a:spcBef>
              <a:spcAft>
                <a:spcPts val="0"/>
              </a:spcAft>
            </a:pPr>
            <a:r>
              <a:rPr sz="1300" b="0">
                <a:solidFill>
                  <a:srgbClr val="526676"/>
                </a:solidFill>
                <a:latin typeface="Noto Sans"/>
              </a:rPr>
              <a:t>Warmed serial scheduler p99: 0.464–0.532 ms on CUDA; receiver I/O and cold startup excluded.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279400"/>
            <a:ext cx="1371600" cy="508000"/>
          </a:xfrm>
          <a:prstGeom prst="roundRect">
            <a:avLst>
              <a:gd name="adj" fmla="val 10000"/>
            </a:avLst>
          </a:prstGeom>
          <a:solidFill>
            <a:srgbClr val="EAF1F5"/>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Bef>
                <a:spcPts val="0"/>
              </a:spcBef>
              <a:spcAft>
                <a:spcPts val="0"/>
              </a:spcAft>
            </a:pPr>
            <a:r>
              <a:rPr sz="1600" b="1">
                <a:solidFill>
                  <a:srgbClr val="285A7A"/>
                </a:solidFill>
                <a:latin typeface="Noto Sans"/>
              </a:rPr>
              <a:t>Axiom X</a:t>
            </a:r>
          </a:p>
        </p:txBody>
      </p:sp>
      <p:sp>
        <p:nvSpPr>
          <p:cNvPr id="4" name="TextBox 3"/>
          <p:cNvSpPr txBox="1"/>
          <p:nvPr/>
        </p:nvSpPr>
        <p:spPr>
          <a:xfrm>
            <a:off x="2387600" y="431800"/>
            <a:ext cx="7416800" cy="331470"/>
          </a:xfrm>
          <a:prstGeom prst="rect">
            <a:avLst/>
          </a:prstGeom>
          <a:noFill/>
        </p:spPr>
        <p:txBody>
          <a:bodyPr wrap="none" lIns="0" rIns="0" tIns="0" bIns="0">
            <a:spAutoFit/>
          </a:bodyPr>
          <a:lstStyle/>
          <a:p>
            <a:pPr algn="ctr">
              <a:lnSpc>
                <a:spcPts val="2210"/>
              </a:lnSpc>
              <a:spcBef>
                <a:spcPts val="0"/>
              </a:spcBef>
              <a:spcAft>
                <a:spcPts val="0"/>
              </a:spcAft>
            </a:pPr>
            <a:r>
              <a:rPr sz="1700" b="1">
                <a:solidFill>
                  <a:srgbClr val="285A7A"/>
                </a:solidFill>
                <a:latin typeface="Noto Sans"/>
              </a:rPr>
              <a:t>RESEARCH AND REFERENCES</a:t>
            </a:r>
          </a:p>
        </p:txBody>
      </p:sp>
      <p:pic>
        <p:nvPicPr>
          <p:cNvPr id="5" name="Picture 4" descr="image.png"/>
          <p:cNvPicPr>
            <a:picLocks noChangeAspect="1"/>
          </p:cNvPicPr>
          <p:nvPr/>
        </p:nvPicPr>
        <p:blipFill>
          <a:blip r:embed="rId3"/>
          <a:stretch>
            <a:fillRect/>
          </a:stretch>
        </p:blipFill>
        <p:spPr>
          <a:xfrm>
            <a:off x="9780086" y="1500"/>
            <a:ext cx="2249850" cy="1062337"/>
          </a:xfrm>
          <a:prstGeom prst="rect">
            <a:avLst/>
          </a:prstGeom>
        </p:spPr>
      </p:pic>
      <p:cxnSp>
        <p:nvCxnSpPr>
          <p:cNvPr id="6" name="Connector 5"/>
          <p:cNvCxnSpPr/>
          <p:nvPr/>
        </p:nvCxnSpPr>
        <p:spPr>
          <a:xfrm>
            <a:off x="508000" y="1117600"/>
            <a:ext cx="11176000" cy="0"/>
          </a:xfrm>
          <a:prstGeom prst="line">
            <a:avLst/>
          </a:prstGeom>
          <a:ln w="10160">
            <a:solidFill>
              <a:srgbClr val="D7E1E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1219200"/>
            <a:ext cx="11176000" cy="480060"/>
          </a:xfrm>
          <a:prstGeom prst="rect">
            <a:avLst/>
          </a:prstGeom>
          <a:noFill/>
        </p:spPr>
        <p:txBody>
          <a:bodyPr wrap="none" lIns="0" rIns="0" tIns="0" bIns="0">
            <a:spAutoFit/>
          </a:bodyPr>
          <a:lstStyle/>
          <a:p>
            <a:pPr algn="l">
              <a:lnSpc>
                <a:spcPts val="3380"/>
              </a:lnSpc>
              <a:spcBef>
                <a:spcPts val="0"/>
              </a:spcBef>
              <a:spcAft>
                <a:spcPts val="0"/>
              </a:spcAft>
            </a:pPr>
            <a:r>
              <a:rPr sz="2600" b="1">
                <a:solidFill>
                  <a:srgbClr val="172B3A"/>
                </a:solidFill>
                <a:latin typeface="Noto Sans"/>
              </a:rPr>
              <a:t>Research, source code and demonstration.</a:t>
            </a:r>
          </a:p>
        </p:txBody>
      </p:sp>
      <p:sp>
        <p:nvSpPr>
          <p:cNvPr id="8" name="TextBox 7"/>
          <p:cNvSpPr txBox="1"/>
          <p:nvPr/>
        </p:nvSpPr>
        <p:spPr>
          <a:xfrm>
            <a:off x="508000" y="1727200"/>
            <a:ext cx="111760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Primary research sources and project links.</a:t>
            </a:r>
          </a:p>
        </p:txBody>
      </p:sp>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0" name="TextBox 9"/>
          <p:cNvSpPr txBox="1"/>
          <p:nvPr/>
        </p:nvSpPr>
        <p:spPr>
          <a:xfrm>
            <a:off x="508000" y="6527800"/>
            <a:ext cx="5461000" cy="191135"/>
          </a:xfrm>
          <a:prstGeom prst="rect">
            <a:avLst/>
          </a:prstGeom>
          <a:noFill/>
        </p:spPr>
        <p:txBody>
          <a:bodyPr wrap="none" lIns="0" rIns="0" tIns="0" bIns="0">
            <a:spAutoFit/>
          </a:bodyPr>
          <a:lstStyle/>
          <a:p>
            <a:pPr algn="l">
              <a:lnSpc>
                <a:spcPts val="1105"/>
              </a:lnSpc>
              <a:spcBef>
                <a:spcPts val="0"/>
              </a:spcBef>
              <a:spcAft>
                <a:spcPts val="0"/>
              </a:spcAft>
            </a:pPr>
            <a:r>
              <a:rPr sz="850" b="1">
                <a:solidFill>
                  <a:srgbClr val="FFFFFF"/>
                </a:solidFill>
                <a:latin typeface="Noto Sans"/>
              </a:rPr>
              <a:t>SIH 2026 • IDEA SUBMISSION</a:t>
            </a:r>
          </a:p>
        </p:txBody>
      </p:sp>
      <p:sp>
        <p:nvSpPr>
          <p:cNvPr id="11" name="TextBox 10"/>
          <p:cNvSpPr txBox="1"/>
          <p:nvPr/>
        </p:nvSpPr>
        <p:spPr>
          <a:xfrm>
            <a:off x="10718800" y="6527800"/>
            <a:ext cx="965200" cy="191135"/>
          </a:xfrm>
          <a:prstGeom prst="rect">
            <a:avLst/>
          </a:prstGeom>
          <a:noFill/>
        </p:spPr>
        <p:txBody>
          <a:bodyPr wrap="none" lIns="0" rIns="0" tIns="0" bIns="0">
            <a:spAutoFit/>
          </a:bodyPr>
          <a:lstStyle/>
          <a:p>
            <a:pPr algn="r">
              <a:lnSpc>
                <a:spcPts val="1105"/>
              </a:lnSpc>
              <a:spcBef>
                <a:spcPts val="0"/>
              </a:spcBef>
              <a:spcAft>
                <a:spcPts val="0"/>
              </a:spcAft>
            </a:pPr>
            <a:r>
              <a:rPr sz="850" b="0">
                <a:solidFill>
                  <a:srgbClr val="FFFFFF"/>
                </a:solidFill>
                <a:latin typeface="Noto Sans"/>
              </a:rPr>
              <a:t>6/6</a:t>
            </a:r>
          </a:p>
        </p:txBody>
      </p:sp>
      <p:sp>
        <p:nvSpPr>
          <p:cNvPr id="12" name="TextBox 11"/>
          <p:cNvSpPr txBox="1"/>
          <p:nvPr/>
        </p:nvSpPr>
        <p:spPr>
          <a:xfrm>
            <a:off x="508000" y="2120900"/>
            <a:ext cx="533400" cy="430530"/>
          </a:xfrm>
          <a:prstGeom prst="rect">
            <a:avLst/>
          </a:prstGeom>
          <a:noFill/>
        </p:spPr>
        <p:txBody>
          <a:bodyPr wrap="none" lIns="0" rIns="0" tIns="0" bIns="0">
            <a:spAutoFit/>
          </a:bodyPr>
          <a:lstStyle/>
          <a:p>
            <a:pPr algn="l">
              <a:lnSpc>
                <a:spcPts val="2990"/>
              </a:lnSpc>
              <a:spcBef>
                <a:spcPts val="0"/>
              </a:spcBef>
              <a:spcAft>
                <a:spcPts val="0"/>
              </a:spcAft>
            </a:pPr>
            <a:r>
              <a:rPr sz="2300" b="1">
                <a:solidFill>
                  <a:srgbClr val="285A7A"/>
                </a:solidFill>
                <a:latin typeface="Noto Sans"/>
              </a:rPr>
              <a:t>01</a:t>
            </a:r>
          </a:p>
        </p:txBody>
      </p:sp>
      <p:sp>
        <p:nvSpPr>
          <p:cNvPr id="13" name="TextBox 12"/>
          <p:cNvSpPr txBox="1"/>
          <p:nvPr/>
        </p:nvSpPr>
        <p:spPr>
          <a:xfrm>
            <a:off x="1206500" y="2133600"/>
            <a:ext cx="30353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Radar data</a:t>
            </a:r>
          </a:p>
        </p:txBody>
      </p:sp>
      <p:sp>
        <p:nvSpPr>
          <p:cNvPr id="14" name="TextBox 13"/>
          <p:cNvSpPr txBox="1"/>
          <p:nvPr/>
        </p:nvSpPr>
        <p:spPr>
          <a:xfrm>
            <a:off x="4508500" y="2120900"/>
            <a:ext cx="71755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hlinkClick r:id="rId4"/>
              </a:rPr>
              <a:t>Gunn et al. — The Turing Synthetic Radar Dataset</a:t>
            </a:r>
          </a:p>
        </p:txBody>
      </p:sp>
      <p:sp>
        <p:nvSpPr>
          <p:cNvPr id="15" name="TextBox 14"/>
          <p:cNvSpPr txBox="1"/>
          <p:nvPr/>
        </p:nvSpPr>
        <p:spPr>
          <a:xfrm>
            <a:off x="4508500" y="2463800"/>
            <a:ext cx="71755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Pulse descriptor words for association and replay.</a:t>
            </a:r>
          </a:p>
        </p:txBody>
      </p:sp>
      <p:sp>
        <p:nvSpPr>
          <p:cNvPr id="16" name="TextBox 15"/>
          <p:cNvSpPr txBox="1"/>
          <p:nvPr/>
        </p:nvSpPr>
        <p:spPr>
          <a:xfrm>
            <a:off x="1206500" y="2463800"/>
            <a:ext cx="3048000" cy="232410"/>
          </a:xfrm>
          <a:prstGeom prst="rect">
            <a:avLst/>
          </a:prstGeom>
          <a:noFill/>
        </p:spPr>
        <p:txBody>
          <a:bodyPr wrap="none" lIns="0" rIns="0" tIns="0" bIns="0">
            <a:spAutoFit/>
          </a:bodyPr>
          <a:lstStyle/>
          <a:p>
            <a:pPr algn="l">
              <a:lnSpc>
                <a:spcPts val="1430"/>
              </a:lnSpc>
              <a:spcBef>
                <a:spcPts val="0"/>
              </a:spcBef>
              <a:spcAft>
                <a:spcPts val="0"/>
              </a:spcAft>
            </a:pPr>
            <a:r>
              <a:rPr sz="1100" b="0">
                <a:solidFill>
                  <a:srgbClr val="285A7A"/>
                </a:solidFill>
                <a:latin typeface="Noto Sans"/>
                <a:hlinkClick r:id="rId4"/>
              </a:rPr>
              <a:t>arXiv:2602.03856</a:t>
            </a:r>
          </a:p>
        </p:txBody>
      </p:sp>
      <p:cxnSp>
        <p:nvCxnSpPr>
          <p:cNvPr id="17" name="Connector 16"/>
          <p:cNvCxnSpPr/>
          <p:nvPr/>
        </p:nvCxnSpPr>
        <p:spPr>
          <a:xfrm>
            <a:off x="1206500" y="2794000"/>
            <a:ext cx="10477500" cy="0"/>
          </a:xfrm>
          <a:prstGeom prst="line">
            <a:avLst/>
          </a:prstGeom>
          <a:ln w="7620">
            <a:solidFill>
              <a:srgbClr val="D7E1E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8000" y="2882900"/>
            <a:ext cx="533400" cy="430530"/>
          </a:xfrm>
          <a:prstGeom prst="rect">
            <a:avLst/>
          </a:prstGeom>
          <a:noFill/>
        </p:spPr>
        <p:txBody>
          <a:bodyPr wrap="none" lIns="0" rIns="0" tIns="0" bIns="0">
            <a:spAutoFit/>
          </a:bodyPr>
          <a:lstStyle/>
          <a:p>
            <a:pPr algn="l">
              <a:lnSpc>
                <a:spcPts val="2990"/>
              </a:lnSpc>
              <a:spcBef>
                <a:spcPts val="0"/>
              </a:spcBef>
              <a:spcAft>
                <a:spcPts val="0"/>
              </a:spcAft>
            </a:pPr>
            <a:r>
              <a:rPr sz="2300" b="1">
                <a:solidFill>
                  <a:srgbClr val="285A7A"/>
                </a:solidFill>
                <a:latin typeface="Noto Sans"/>
              </a:rPr>
              <a:t>02</a:t>
            </a:r>
          </a:p>
        </p:txBody>
      </p:sp>
      <p:sp>
        <p:nvSpPr>
          <p:cNvPr id="19" name="TextBox 18"/>
          <p:cNvSpPr txBox="1"/>
          <p:nvPr/>
        </p:nvSpPr>
        <p:spPr>
          <a:xfrm>
            <a:off x="1206500" y="2895600"/>
            <a:ext cx="30353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Dataset contract</a:t>
            </a:r>
          </a:p>
        </p:txBody>
      </p:sp>
      <p:sp>
        <p:nvSpPr>
          <p:cNvPr id="20" name="TextBox 19"/>
          <p:cNvSpPr txBox="1"/>
          <p:nvPr/>
        </p:nvSpPr>
        <p:spPr>
          <a:xfrm>
            <a:off x="4508500" y="2882900"/>
            <a:ext cx="71755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hlinkClick r:id="rId5"/>
              </a:rPr>
              <a:t>The Alan Turing Institute — TSRD dataset card</a:t>
            </a:r>
          </a:p>
        </p:txBody>
      </p:sp>
      <p:sp>
        <p:nvSpPr>
          <p:cNvPr id="21" name="TextBox 20"/>
          <p:cNvSpPr txBox="1"/>
          <p:nvPr/>
        </p:nvSpPr>
        <p:spPr>
          <a:xfrm>
            <a:off x="4508500" y="3225800"/>
            <a:ext cx="71755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Receiver modes, feature units and data splits.</a:t>
            </a:r>
          </a:p>
        </p:txBody>
      </p:sp>
      <p:sp>
        <p:nvSpPr>
          <p:cNvPr id="22" name="TextBox 21"/>
          <p:cNvSpPr txBox="1"/>
          <p:nvPr/>
        </p:nvSpPr>
        <p:spPr>
          <a:xfrm>
            <a:off x="1206500" y="3225800"/>
            <a:ext cx="3048000" cy="232410"/>
          </a:xfrm>
          <a:prstGeom prst="rect">
            <a:avLst/>
          </a:prstGeom>
          <a:noFill/>
        </p:spPr>
        <p:txBody>
          <a:bodyPr wrap="none" lIns="0" rIns="0" tIns="0" bIns="0">
            <a:spAutoFit/>
          </a:bodyPr>
          <a:lstStyle/>
          <a:p>
            <a:pPr algn="l">
              <a:lnSpc>
                <a:spcPts val="1430"/>
              </a:lnSpc>
              <a:spcBef>
                <a:spcPts val="0"/>
              </a:spcBef>
              <a:spcAft>
                <a:spcPts val="0"/>
              </a:spcAft>
            </a:pPr>
            <a:r>
              <a:rPr sz="1100" b="0">
                <a:solidFill>
                  <a:srgbClr val="285A7A"/>
                </a:solidFill>
                <a:latin typeface="Noto Sans"/>
                <a:hlinkClick r:id="rId5"/>
              </a:rPr>
              <a:t>Official dataset card</a:t>
            </a:r>
          </a:p>
        </p:txBody>
      </p:sp>
      <p:cxnSp>
        <p:nvCxnSpPr>
          <p:cNvPr id="23" name="Connector 22"/>
          <p:cNvCxnSpPr/>
          <p:nvPr/>
        </p:nvCxnSpPr>
        <p:spPr>
          <a:xfrm>
            <a:off x="1206500" y="3556000"/>
            <a:ext cx="10477500" cy="0"/>
          </a:xfrm>
          <a:prstGeom prst="line">
            <a:avLst/>
          </a:prstGeom>
          <a:ln w="7620">
            <a:solidFill>
              <a:srgbClr val="D7E1E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08000" y="3644900"/>
            <a:ext cx="533400" cy="430530"/>
          </a:xfrm>
          <a:prstGeom prst="rect">
            <a:avLst/>
          </a:prstGeom>
          <a:noFill/>
        </p:spPr>
        <p:txBody>
          <a:bodyPr wrap="none" lIns="0" rIns="0" tIns="0" bIns="0">
            <a:spAutoFit/>
          </a:bodyPr>
          <a:lstStyle/>
          <a:p>
            <a:pPr algn="l">
              <a:lnSpc>
                <a:spcPts val="2990"/>
              </a:lnSpc>
              <a:spcBef>
                <a:spcPts val="0"/>
              </a:spcBef>
              <a:spcAft>
                <a:spcPts val="0"/>
              </a:spcAft>
            </a:pPr>
            <a:r>
              <a:rPr sz="2300" b="1">
                <a:solidFill>
                  <a:srgbClr val="285A7A"/>
                </a:solidFill>
                <a:latin typeface="Noto Sans"/>
              </a:rPr>
              <a:t>03</a:t>
            </a:r>
          </a:p>
        </p:txBody>
      </p:sp>
      <p:sp>
        <p:nvSpPr>
          <p:cNvPr id="25" name="TextBox 24"/>
          <p:cNvSpPr txBox="1"/>
          <p:nvPr/>
        </p:nvSpPr>
        <p:spPr>
          <a:xfrm>
            <a:off x="1206500" y="3657600"/>
            <a:ext cx="30353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Temporal prediction</a:t>
            </a:r>
          </a:p>
        </p:txBody>
      </p:sp>
      <p:sp>
        <p:nvSpPr>
          <p:cNvPr id="26" name="TextBox 25"/>
          <p:cNvSpPr txBox="1"/>
          <p:nvPr/>
        </p:nvSpPr>
        <p:spPr>
          <a:xfrm>
            <a:off x="4508500" y="3644900"/>
            <a:ext cx="71755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hlinkClick r:id="rId6"/>
              </a:rPr>
              <a:t>Bai, Kolter &amp; Koltun — Sequence Modeling</a:t>
            </a:r>
          </a:p>
        </p:txBody>
      </p:sp>
      <p:sp>
        <p:nvSpPr>
          <p:cNvPr id="27" name="TextBox 26"/>
          <p:cNvSpPr txBox="1"/>
          <p:nvPr/>
        </p:nvSpPr>
        <p:spPr>
          <a:xfrm>
            <a:off x="4508500" y="3987800"/>
            <a:ext cx="71755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Causal temporal convolution for activity forecasting.</a:t>
            </a:r>
          </a:p>
        </p:txBody>
      </p:sp>
      <p:sp>
        <p:nvSpPr>
          <p:cNvPr id="28" name="TextBox 27"/>
          <p:cNvSpPr txBox="1"/>
          <p:nvPr/>
        </p:nvSpPr>
        <p:spPr>
          <a:xfrm>
            <a:off x="1206500" y="3987800"/>
            <a:ext cx="3048000" cy="232410"/>
          </a:xfrm>
          <a:prstGeom prst="rect">
            <a:avLst/>
          </a:prstGeom>
          <a:noFill/>
        </p:spPr>
        <p:txBody>
          <a:bodyPr wrap="none" lIns="0" rIns="0" tIns="0" bIns="0">
            <a:spAutoFit/>
          </a:bodyPr>
          <a:lstStyle/>
          <a:p>
            <a:pPr algn="l">
              <a:lnSpc>
                <a:spcPts val="1430"/>
              </a:lnSpc>
              <a:spcBef>
                <a:spcPts val="0"/>
              </a:spcBef>
              <a:spcAft>
                <a:spcPts val="0"/>
              </a:spcAft>
            </a:pPr>
            <a:r>
              <a:rPr sz="1100" b="0">
                <a:solidFill>
                  <a:srgbClr val="285A7A"/>
                </a:solidFill>
                <a:latin typeface="Noto Sans"/>
                <a:hlinkClick r:id="rId6"/>
              </a:rPr>
              <a:t>arXiv:1803.01271</a:t>
            </a:r>
          </a:p>
        </p:txBody>
      </p:sp>
      <p:cxnSp>
        <p:nvCxnSpPr>
          <p:cNvPr id="29" name="Connector 28"/>
          <p:cNvCxnSpPr/>
          <p:nvPr/>
        </p:nvCxnSpPr>
        <p:spPr>
          <a:xfrm>
            <a:off x="1206500" y="4318000"/>
            <a:ext cx="10477500" cy="0"/>
          </a:xfrm>
          <a:prstGeom prst="line">
            <a:avLst/>
          </a:prstGeom>
          <a:ln w="7620">
            <a:solidFill>
              <a:srgbClr val="D7E1E7"/>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08000" y="4406900"/>
            <a:ext cx="533400" cy="430530"/>
          </a:xfrm>
          <a:prstGeom prst="rect">
            <a:avLst/>
          </a:prstGeom>
          <a:noFill/>
        </p:spPr>
        <p:txBody>
          <a:bodyPr wrap="none" lIns="0" rIns="0" tIns="0" bIns="0">
            <a:spAutoFit/>
          </a:bodyPr>
          <a:lstStyle/>
          <a:p>
            <a:pPr algn="l">
              <a:lnSpc>
                <a:spcPts val="2990"/>
              </a:lnSpc>
              <a:spcBef>
                <a:spcPts val="0"/>
              </a:spcBef>
              <a:spcAft>
                <a:spcPts val="0"/>
              </a:spcAft>
            </a:pPr>
            <a:r>
              <a:rPr sz="2300" b="1">
                <a:solidFill>
                  <a:srgbClr val="285A7A"/>
                </a:solidFill>
                <a:latin typeface="Noto Sans"/>
              </a:rPr>
              <a:t>04</a:t>
            </a:r>
          </a:p>
        </p:txBody>
      </p:sp>
      <p:sp>
        <p:nvSpPr>
          <p:cNvPr id="31" name="TextBox 30"/>
          <p:cNvSpPr txBox="1"/>
          <p:nvPr/>
        </p:nvSpPr>
        <p:spPr>
          <a:xfrm>
            <a:off x="1206500" y="4419600"/>
            <a:ext cx="30353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rPr>
              <a:t>Policy learning</a:t>
            </a:r>
          </a:p>
        </p:txBody>
      </p:sp>
      <p:sp>
        <p:nvSpPr>
          <p:cNvPr id="32" name="TextBox 31"/>
          <p:cNvSpPr txBox="1"/>
          <p:nvPr/>
        </p:nvSpPr>
        <p:spPr>
          <a:xfrm>
            <a:off x="4508500" y="4406900"/>
            <a:ext cx="7175500" cy="281940"/>
          </a:xfrm>
          <a:prstGeom prst="rect">
            <a:avLst/>
          </a:prstGeom>
          <a:noFill/>
        </p:spPr>
        <p:txBody>
          <a:bodyPr wrap="none" lIns="0" rIns="0" tIns="0" bIns="0">
            <a:spAutoFit/>
          </a:bodyPr>
          <a:lstStyle/>
          <a:p>
            <a:pPr algn="l">
              <a:lnSpc>
                <a:spcPts val="1820"/>
              </a:lnSpc>
              <a:spcBef>
                <a:spcPts val="0"/>
              </a:spcBef>
              <a:spcAft>
                <a:spcPts val="0"/>
              </a:spcAft>
            </a:pPr>
            <a:r>
              <a:rPr sz="1400" b="1">
                <a:solidFill>
                  <a:srgbClr val="172B3A"/>
                </a:solidFill>
                <a:latin typeface="Noto Sans"/>
                <a:hlinkClick r:id="rId7"/>
              </a:rPr>
              <a:t>Ahmadian et al. — Back to Basics / RLOO</a:t>
            </a:r>
          </a:p>
        </p:txBody>
      </p:sp>
      <p:sp>
        <p:nvSpPr>
          <p:cNvPr id="33" name="TextBox 32"/>
          <p:cNvSpPr txBox="1"/>
          <p:nvPr/>
        </p:nvSpPr>
        <p:spPr>
          <a:xfrm>
            <a:off x="4508500" y="4749800"/>
            <a:ext cx="71755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526676"/>
                </a:solidFill>
                <a:latin typeface="Noto Sans"/>
              </a:rPr>
              <a:t>Trajectory-level learning for scan decisions.</a:t>
            </a:r>
          </a:p>
        </p:txBody>
      </p:sp>
      <p:sp>
        <p:nvSpPr>
          <p:cNvPr id="34" name="TextBox 33"/>
          <p:cNvSpPr txBox="1"/>
          <p:nvPr/>
        </p:nvSpPr>
        <p:spPr>
          <a:xfrm>
            <a:off x="1206500" y="4749800"/>
            <a:ext cx="3048000" cy="232410"/>
          </a:xfrm>
          <a:prstGeom prst="rect">
            <a:avLst/>
          </a:prstGeom>
          <a:noFill/>
        </p:spPr>
        <p:txBody>
          <a:bodyPr wrap="none" lIns="0" rIns="0" tIns="0" bIns="0">
            <a:spAutoFit/>
          </a:bodyPr>
          <a:lstStyle/>
          <a:p>
            <a:pPr algn="l">
              <a:lnSpc>
                <a:spcPts val="1430"/>
              </a:lnSpc>
              <a:spcBef>
                <a:spcPts val="0"/>
              </a:spcBef>
              <a:spcAft>
                <a:spcPts val="0"/>
              </a:spcAft>
            </a:pPr>
            <a:r>
              <a:rPr sz="1100" b="0">
                <a:solidFill>
                  <a:srgbClr val="285A7A"/>
                </a:solidFill>
                <a:latin typeface="Noto Sans"/>
                <a:hlinkClick r:id="rId7"/>
              </a:rPr>
              <a:t>arXiv:2402.14740</a:t>
            </a:r>
          </a:p>
        </p:txBody>
      </p:sp>
      <p:sp>
        <p:nvSpPr>
          <p:cNvPr id="35" name="Rounded Rectangle 34"/>
          <p:cNvSpPr/>
          <p:nvPr/>
        </p:nvSpPr>
        <p:spPr>
          <a:xfrm>
            <a:off x="508000" y="5295900"/>
            <a:ext cx="5334000" cy="6985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10200"/>
            <a:ext cx="4978400" cy="207645"/>
          </a:xfrm>
          <a:prstGeom prst="rect">
            <a:avLst/>
          </a:prstGeom>
          <a:noFill/>
        </p:spPr>
        <p:txBody>
          <a:bodyPr wrap="none" lIns="0" rIns="0" tIns="0" bIns="0">
            <a:spAutoFit/>
          </a:bodyPr>
          <a:lstStyle/>
          <a:p>
            <a:pPr algn="l">
              <a:lnSpc>
                <a:spcPts val="1235"/>
              </a:lnSpc>
              <a:spcBef>
                <a:spcPts val="0"/>
              </a:spcBef>
              <a:spcAft>
                <a:spcPts val="0"/>
              </a:spcAft>
            </a:pPr>
            <a:r>
              <a:rPr sz="950" b="1">
                <a:solidFill>
                  <a:srgbClr val="27766F"/>
                </a:solidFill>
                <a:latin typeface="Noto Sans"/>
              </a:rPr>
              <a:t>SOURCE CODE • GITHUB</a:t>
            </a:r>
          </a:p>
        </p:txBody>
      </p:sp>
      <p:sp>
        <p:nvSpPr>
          <p:cNvPr id="37" name="TextBox 36"/>
          <p:cNvSpPr txBox="1"/>
          <p:nvPr/>
        </p:nvSpPr>
        <p:spPr>
          <a:xfrm>
            <a:off x="685800" y="5676900"/>
            <a:ext cx="49784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285A7A"/>
                </a:solidFill>
                <a:latin typeface="Noto Sans"/>
                <a:hlinkClick r:id="rId8"/>
              </a:rPr>
              <a:t>github.com/Siwach777/spectra-scheduler</a:t>
            </a:r>
          </a:p>
        </p:txBody>
      </p:sp>
      <p:sp>
        <p:nvSpPr>
          <p:cNvPr id="38" name="Rounded Rectangle 37"/>
          <p:cNvSpPr/>
          <p:nvPr/>
        </p:nvSpPr>
        <p:spPr>
          <a:xfrm>
            <a:off x="6350000" y="5295900"/>
            <a:ext cx="5334000" cy="698500"/>
          </a:xfrm>
          <a:prstGeom prst="roundRect">
            <a:avLst>
              <a:gd name="adj" fmla="val 10000"/>
            </a:avLst>
          </a:prstGeom>
          <a:solidFill>
            <a:srgbClr val="F6F8FA"/>
          </a:solidFill>
          <a:ln w="10160">
            <a:solidFill>
              <a:srgbClr val="D7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7800" y="5410200"/>
            <a:ext cx="4978400" cy="207645"/>
          </a:xfrm>
          <a:prstGeom prst="rect">
            <a:avLst/>
          </a:prstGeom>
          <a:noFill/>
        </p:spPr>
        <p:txBody>
          <a:bodyPr wrap="none" lIns="0" rIns="0" tIns="0" bIns="0">
            <a:spAutoFit/>
          </a:bodyPr>
          <a:lstStyle/>
          <a:p>
            <a:pPr algn="l">
              <a:lnSpc>
                <a:spcPts val="1235"/>
              </a:lnSpc>
              <a:spcBef>
                <a:spcPts val="0"/>
              </a:spcBef>
              <a:spcAft>
                <a:spcPts val="0"/>
              </a:spcAft>
            </a:pPr>
            <a:r>
              <a:rPr sz="950" b="1">
                <a:solidFill>
                  <a:srgbClr val="27766F"/>
                </a:solidFill>
                <a:latin typeface="Noto Sans"/>
              </a:rPr>
              <a:t>DEMO VIDEO • YOUTUBE</a:t>
            </a:r>
          </a:p>
        </p:txBody>
      </p:sp>
      <p:sp>
        <p:nvSpPr>
          <p:cNvPr id="40" name="TextBox 39"/>
          <p:cNvSpPr txBox="1"/>
          <p:nvPr/>
        </p:nvSpPr>
        <p:spPr>
          <a:xfrm>
            <a:off x="6527800" y="5676900"/>
            <a:ext cx="4978400" cy="248920"/>
          </a:xfrm>
          <a:prstGeom prst="rect">
            <a:avLst/>
          </a:prstGeom>
          <a:noFill/>
        </p:spPr>
        <p:txBody>
          <a:bodyPr wrap="none" lIns="0" rIns="0" tIns="0" bIns="0">
            <a:spAutoFit/>
          </a:bodyPr>
          <a:lstStyle/>
          <a:p>
            <a:pPr algn="l">
              <a:lnSpc>
                <a:spcPts val="1560"/>
              </a:lnSpc>
              <a:spcBef>
                <a:spcPts val="0"/>
              </a:spcBef>
              <a:spcAft>
                <a:spcPts val="0"/>
              </a:spcAft>
            </a:pPr>
            <a:r>
              <a:rPr sz="1200" b="0">
                <a:solidFill>
                  <a:srgbClr val="285A7A"/>
                </a:solidFill>
                <a:latin typeface="Noto Sans"/>
                <a:hlinkClick r:id="rId9"/>
              </a:rPr>
              <a:t>youtu.be/G0SuhfmfhfM</a:t>
            </a:r>
          </a:p>
        </p:txBody>
      </p:sp>
      <p:sp>
        <p:nvSpPr>
          <p:cNvPr id="41" name="TextBox 40"/>
          <p:cNvSpPr txBox="1"/>
          <p:nvPr/>
        </p:nvSpPr>
        <p:spPr>
          <a:xfrm>
            <a:off x="508000" y="6096000"/>
            <a:ext cx="11176000" cy="224154"/>
          </a:xfrm>
          <a:prstGeom prst="rect">
            <a:avLst/>
          </a:prstGeom>
          <a:noFill/>
        </p:spPr>
        <p:txBody>
          <a:bodyPr wrap="none" lIns="0" rIns="0" tIns="0" bIns="0">
            <a:spAutoFit/>
          </a:bodyPr>
          <a:lstStyle/>
          <a:p>
            <a:pPr algn="l">
              <a:lnSpc>
                <a:spcPts val="1365"/>
              </a:lnSpc>
              <a:spcBef>
                <a:spcPts val="0"/>
              </a:spcBef>
              <a:spcAft>
                <a:spcPts val="0"/>
              </a:spcAft>
            </a:pPr>
            <a:r>
              <a:rPr sz="1050" b="0">
                <a:solidFill>
                  <a:srgbClr val="526676"/>
                </a:solidFill>
                <a:latin typeface="Noto Sans"/>
              </a:rPr>
              <a:t>METRICS   Detection • false alarms • sensitivity • intercept rate • reward / cost • accuracy • timing error</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Spectra Scheduler — Smart Scan Strategy for Electronic Warfare</dc:title>
  <dc:subject>SIH26055 | ML-based Electronic Support receiver scheduler</dc:subject>
  <dc:creator>Axiom X</dc:creator>
  <cp:keywords>Axiom X, SIH26055, smart scan, electronic support, timing forecast, receiver scheduling</cp:keywords>
  <dc:description/>
  <cp:lastModifiedBy>AICTE</cp:lastModifiedBy>
  <cp:revision>148</cp:revision>
  <dcterms:created xsi:type="dcterms:W3CDTF">2013-12-12T18:46:50Z</dcterms:created>
  <dcterms:modified xsi:type="dcterms:W3CDTF">2026-06-02T09:29:39Z</dcterms:modified>
  <cp:category/>
</cp:coreProperties>
</file>