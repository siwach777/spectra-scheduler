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proposed contribution is the combination and measurable evaluation of feedback, track confidence, coverage and retuning cost, not a claim that these individual methods are new. Existing code supplies heuristic and statistical baselines; a trained ML scheduler is still planned. The receiver observes incomplete information. Neither emitter identities nor future events are available to the deployed decision path. The research scope is passive reception and software simulation, not transmission or jamming.</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Built: simulator, receiver, tracker, 13 strategy comparisons and repeatable JSON/CSV reports. Proposed: HDF5 adapter, ML baselines, trained scheduler and later interface. Training labels may supervise association models on training files; they must not enter inference features or held-out decisions. Dataset emitter IDs are local to each file, not global classification targets. Recorded scan pulses are already censored by a fixed receiver schedule, so they cannot alone validate unobserved alternative tuning actions. Use scan data for association evaluation and simulator interaction for scheduling. Benchmark the periodic-scan special case separately against a constrained reference; do not claim optimality. Current waveform generator is an abstract model, not a calibrated spatial antenna simulator. Reference links on slide 6.</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Evidence: PYTHONPATH=src python3 -m unittest discover -s tests -q completed with 123 passing tests. Counts checked against the comparison runner and scenario presets. The current mixed scenario, 100 seeds, gives 8.2% interception for adaptive dwell and 8.1% for track-aware: the more complex strategy is not yet a demonstrated improvement. This is why ML must beat the strongest baseline, not only a naive sweep. Performance optimizations already implemented: shared generated truth and independent worker processes. HDF5 streaming and Rust are proposals, not completed work. No hardware or GPU purchase is necessary for the current simulator; future model requirements must be measured.</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Benefits are intended outcomes, not established field gains. Receiver detection probability is distinct from end-to-end interception: choosing the wrong band can miss a strong signal. Existing reports cover interception, discovery, delay, sensitivity loss, retuning and association. Explicit reward/cost and forecast-correctness/timing metrics remain to be added for full statement coverage. Compare policies on identical seeded events, fixed receiver budgets and held-out scenarios. Also evaluate the periodic-scan reference case separately. Do not infer threat identity or intent from anonymous pulse clusters. No monetary, energy-saving or operational accuracy claims are made.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Primary research sources: https://arxiv.org/abs/2602.03856 ; https://huggingface.co/datasets/alan-turing-institute/turing-synthetic-radar-dataset ; https://github.com/alan-turing-institute/turing-deinterleaving-challenge ; https://arxiv.org/abs/2503.13476 . Problem source: https://sih.gov.in/sih2026PS (unavailable during preparation); accessible copy: https://sih2026.vuce.in/ps/SIH26055 . Exact theme requires portal confirmation because public mirrors disagree. Local implementation evidence: README.md, docs/implementation-notes.md and src/spectra_scheduler. The dataset is synthetic, not a real operational recording; its deinterleaving scores do not establish scheduling effectiveness.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ID and registered team name intentionally left blank. Confirm the theme and exact title against the official SIH portal before submission. Community and college mirrors agree on the title and DRDO attribution, but disagree on the theme. The official page could not be retrieved. Scope: a student software simulation and research prototype, not an operationally validated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arxiv.org/abs/2602.03856" TargetMode="External"/><Relationship Id="rId5" Type="http://schemas.openxmlformats.org/officeDocument/2006/relationships/hyperlink" Target="https://huggingface.co/datasets/alan-turing-institute/turing-synthetic-radar-dataset" TargetMode="External"/><Relationship Id="rId6" Type="http://schemas.openxmlformats.org/officeDocument/2006/relationships/hyperlink" Target="https://github.com/alan-turing-institute/turing-deinterleaving-challenge" TargetMode="External"/><Relationship Id="rId7" Type="http://schemas.openxmlformats.org/officeDocument/2006/relationships/hyperlink" Target="https://arxiv.org/abs/2503.13476" TargetMode="External"/><Relationship Id="rId8" Type="http://schemas.openxmlformats.org/officeDocument/2006/relationships/hyperlink" Target="https://sih.gov.in/sih2026PS" TargetMode="External"/><Relationship Id="rId9" Type="http://schemas.openxmlformats.org/officeDocument/2006/relationships/hyperlink" Target="https://sih2026.vuce.in/ps/SIH26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TextBox 37"/>
          <p:cNvSpPr txBox="1"/>
          <p:nvPr/>
        </p:nvSpPr>
        <p:spPr>
          <a:xfrm>
            <a:off x="530352" y="347472"/>
            <a:ext cx="8686800" cy="548640"/>
          </a:xfrm>
          <a:prstGeom prst="rect">
            <a:avLst/>
          </a:prstGeom>
          <a:noFill/>
        </p:spPr>
        <p:txBody>
          <a:bodyPr wrap="none" lIns="0" rIns="0" tIns="0" bIns="0" anchor="t">
            <a:noAutofit/>
          </a:bodyPr>
          <a:lstStyle/>
          <a:p>
            <a:pPr>
              <a:lnSpc>
                <a:spcPts val="3415"/>
              </a:lnSpc>
              <a:spcBef>
                <a:spcPts val="0"/>
              </a:spcBef>
              <a:spcAft>
                <a:spcPts val="0"/>
              </a:spcAft>
            </a:pPr>
            <a:r>
              <a:rPr sz="2800" b="1">
                <a:solidFill>
                  <a:srgbClr val="17344B"/>
                </a:solidFill>
                <a:latin typeface="Liberation Serif"/>
              </a:rPr>
              <a:t>SMART INDIA HACKATHON 2026</a:t>
            </a:r>
          </a:p>
        </p:txBody>
      </p:sp>
      <p:sp>
        <p:nvSpPr>
          <p:cNvPr id="39" name="TextBox 38"/>
          <p:cNvSpPr txBox="1"/>
          <p:nvPr/>
        </p:nvSpPr>
        <p:spPr>
          <a:xfrm>
            <a:off x="530352" y="1307592"/>
            <a:ext cx="6492240" cy="576072"/>
          </a:xfrm>
          <a:prstGeom prst="rect">
            <a:avLst/>
          </a:prstGeom>
          <a:noFill/>
        </p:spPr>
        <p:txBody>
          <a:bodyPr wrap="none" lIns="0" rIns="0" tIns="0" bIns="0" anchor="t">
            <a:noAutofit/>
          </a:bodyPr>
          <a:lstStyle/>
          <a:p>
            <a:pPr>
              <a:lnSpc>
                <a:spcPts val="4026"/>
              </a:lnSpc>
              <a:spcBef>
                <a:spcPts val="0"/>
              </a:spcBef>
              <a:spcAft>
                <a:spcPts val="0"/>
              </a:spcAft>
            </a:pPr>
            <a:r>
              <a:rPr sz="3300" b="1">
                <a:solidFill>
                  <a:srgbClr val="0070C0"/>
                </a:solidFill>
                <a:latin typeface="Liberation Sans"/>
              </a:rPr>
              <a:t>SPECTRA SCHEDULER</a:t>
            </a:r>
          </a:p>
        </p:txBody>
      </p:sp>
      <p:sp>
        <p:nvSpPr>
          <p:cNvPr id="40" name="TextBox 39"/>
          <p:cNvSpPr txBox="1"/>
          <p:nvPr/>
        </p:nvSpPr>
        <p:spPr>
          <a:xfrm>
            <a:off x="548640" y="1965960"/>
            <a:ext cx="5943600" cy="685800"/>
          </a:xfrm>
          <a:prstGeom prst="rect">
            <a:avLst/>
          </a:prstGeom>
          <a:noFill/>
        </p:spPr>
        <p:txBody>
          <a:bodyPr wrap="none" lIns="0" rIns="0" tIns="0" bIns="0" anchor="t">
            <a:noAutofit/>
          </a:bodyPr>
          <a:lstStyle/>
          <a:p>
            <a:pPr>
              <a:lnSpc>
                <a:spcPts val="2562"/>
              </a:lnSpc>
              <a:spcBef>
                <a:spcPts val="0"/>
              </a:spcBef>
              <a:spcAft>
                <a:spcPts val="0"/>
              </a:spcAft>
            </a:pPr>
            <a:r>
              <a:rPr sz="2100" b="0">
                <a:solidFill>
                  <a:srgbClr val="526574"/>
                </a:solidFill>
                <a:latin typeface="Liberation Sans"/>
              </a:rPr>
              <a:t>Adaptive spectrum scanning</a:t>
            </a:r>
          </a:p>
          <a:p>
            <a:pPr>
              <a:lnSpc>
                <a:spcPts val="2562"/>
              </a:lnSpc>
              <a:spcBef>
                <a:spcPts val="0"/>
              </a:spcBef>
              <a:spcAft>
                <a:spcPts val="0"/>
              </a:spcAft>
            </a:pPr>
            <a:r>
              <a:rPr sz="2100" b="0">
                <a:solidFill>
                  <a:srgbClr val="526574"/>
                </a:solidFill>
                <a:latin typeface="Liberation Sans"/>
              </a:rPr>
              <a:t>A simulation-first software prototype</a:t>
            </a:r>
          </a:p>
        </p:txBody>
      </p:sp>
      <p:sp>
        <p:nvSpPr>
          <p:cNvPr id="41" name="TextBox 40"/>
          <p:cNvSpPr txBox="1"/>
          <p:nvPr/>
        </p:nvSpPr>
        <p:spPr>
          <a:xfrm>
            <a:off x="548640" y="2926080"/>
            <a:ext cx="608076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17344B"/>
                </a:solidFill>
                <a:latin typeface="Liberation Sans"/>
              </a:rPr>
              <a:t>Problem Statement ID: SIH26055</a:t>
            </a:r>
          </a:p>
        </p:txBody>
      </p:sp>
      <p:sp>
        <p:nvSpPr>
          <p:cNvPr id="42" name="TextBox 41"/>
          <p:cNvSpPr txBox="1"/>
          <p:nvPr/>
        </p:nvSpPr>
        <p:spPr>
          <a:xfrm>
            <a:off x="548640" y="3447288"/>
            <a:ext cx="6080760" cy="292608"/>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526574"/>
                </a:solidFill>
                <a:latin typeface="Liberation Sans"/>
              </a:rPr>
              <a:t>Problem Statement Title</a:t>
            </a:r>
          </a:p>
        </p:txBody>
      </p:sp>
      <p:sp>
        <p:nvSpPr>
          <p:cNvPr id="43" name="TextBox 42"/>
          <p:cNvSpPr txBox="1"/>
          <p:nvPr/>
        </p:nvSpPr>
        <p:spPr>
          <a:xfrm>
            <a:off x="548640" y="3776472"/>
            <a:ext cx="6126480" cy="713232"/>
          </a:xfrm>
          <a:prstGeom prst="rect">
            <a:avLst/>
          </a:prstGeom>
          <a:noFill/>
        </p:spPr>
        <p:txBody>
          <a:bodyPr wrap="none" lIns="0" rIns="0" tIns="0" bIns="0" anchor="t">
            <a:noAutofit/>
          </a:bodyPr>
          <a:lstStyle/>
          <a:p>
            <a:pPr>
              <a:lnSpc>
                <a:spcPts val="2806"/>
              </a:lnSpc>
              <a:spcBef>
                <a:spcPts val="0"/>
              </a:spcBef>
              <a:spcAft>
                <a:spcPts val="0"/>
              </a:spcAft>
            </a:pPr>
            <a:r>
              <a:rPr sz="2300" b="1">
                <a:solidFill>
                  <a:srgbClr val="17344B"/>
                </a:solidFill>
                <a:latin typeface="Liberation Sans"/>
              </a:rPr>
              <a:t>Smart Scan strategy for</a:t>
            </a:r>
          </a:p>
          <a:p>
            <a:pPr>
              <a:lnSpc>
                <a:spcPts val="2806"/>
              </a:lnSpc>
              <a:spcBef>
                <a:spcPts val="0"/>
              </a:spcBef>
              <a:spcAft>
                <a:spcPts val="0"/>
              </a:spcAft>
            </a:pPr>
            <a:r>
              <a:rPr sz="2300" b="1">
                <a:solidFill>
                  <a:srgbClr val="17344B"/>
                </a:solidFill>
                <a:latin typeface="Liberation Sans"/>
              </a:rPr>
              <a:t>Electronic Warfare</a:t>
            </a:r>
          </a:p>
        </p:txBody>
      </p:sp>
      <p:sp>
        <p:nvSpPr>
          <p:cNvPr id="44" name="TextBox 43"/>
          <p:cNvSpPr txBox="1"/>
          <p:nvPr/>
        </p:nvSpPr>
        <p:spPr>
          <a:xfrm>
            <a:off x="548640" y="4690872"/>
            <a:ext cx="6080760" cy="32004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PS Category: Software  |  Organisation: DRDO</a:t>
            </a:r>
          </a:p>
        </p:txBody>
      </p:sp>
      <p:sp>
        <p:nvSpPr>
          <p:cNvPr id="45" name="TextBox 44"/>
          <p:cNvSpPr txBox="1"/>
          <p:nvPr/>
        </p:nvSpPr>
        <p:spPr>
          <a:xfrm>
            <a:off x="548640" y="5212080"/>
            <a:ext cx="6217920" cy="32004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526574"/>
                </a:solidFill>
                <a:latin typeface="Liberation Sans"/>
              </a:rPr>
              <a:t>Theme: [Confirm exact portal category]</a:t>
            </a:r>
          </a:p>
        </p:txBody>
      </p:sp>
      <p:sp>
        <p:nvSpPr>
          <p:cNvPr id="46" name="TextBox 45"/>
          <p:cNvSpPr txBox="1"/>
          <p:nvPr/>
        </p:nvSpPr>
        <p:spPr>
          <a:xfrm>
            <a:off x="548640" y="5742432"/>
            <a:ext cx="6080760" cy="301752"/>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Team ID: __________________________</a:t>
            </a:r>
          </a:p>
        </p:txBody>
      </p:sp>
      <p:sp>
        <p:nvSpPr>
          <p:cNvPr id="47" name="TextBox 46"/>
          <p:cNvSpPr txBox="1"/>
          <p:nvPr/>
        </p:nvSpPr>
        <p:spPr>
          <a:xfrm>
            <a:off x="548640" y="6208776"/>
            <a:ext cx="6766560" cy="310896"/>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Team Name (registered): __________________</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IDEA TITLE</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2</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53312"/>
            <a:ext cx="11064240" cy="457200"/>
          </a:xfrm>
          <a:prstGeom prst="rect">
            <a:avLst/>
          </a:prstGeom>
          <a:noFill/>
        </p:spPr>
        <p:txBody>
          <a:bodyPr wrap="none" lIns="0" rIns="0" tIns="0" bIns="0" anchor="t">
            <a:noAutofit/>
          </a:bodyPr>
          <a:lstStyle/>
          <a:p>
            <a:pPr>
              <a:lnSpc>
                <a:spcPts val="3172"/>
              </a:lnSpc>
              <a:spcBef>
                <a:spcPts val="0"/>
              </a:spcBef>
              <a:spcAft>
                <a:spcPts val="0"/>
              </a:spcAft>
            </a:pPr>
            <a:r>
              <a:rPr sz="2600" b="1">
                <a:solidFill>
                  <a:srgbClr val="17344B"/>
                </a:solidFill>
                <a:latin typeface="Liberation Sans"/>
              </a:rPr>
              <a:t>Spectra Scheduler: learn where and when to listen</a:t>
            </a:r>
          </a:p>
        </p:txBody>
      </p:sp>
      <p:sp>
        <p:nvSpPr>
          <p:cNvPr id="19" name="TextBox 18"/>
          <p:cNvSpPr txBox="1"/>
          <p:nvPr/>
        </p:nvSpPr>
        <p:spPr>
          <a:xfrm>
            <a:off x="548640" y="1901952"/>
            <a:ext cx="11064240" cy="594360"/>
          </a:xfrm>
          <a:prstGeom prst="rect">
            <a:avLst/>
          </a:prstGeom>
          <a:noFill/>
        </p:spPr>
        <p:txBody>
          <a:bodyPr wrap="none" lIns="0" rIns="0" tIns="0" bIns="0" anchor="t">
            <a:noAutofit/>
          </a:bodyPr>
          <a:lstStyle/>
          <a:p>
            <a:pPr>
              <a:lnSpc>
                <a:spcPts val="2196"/>
              </a:lnSpc>
              <a:spcBef>
                <a:spcPts val="0"/>
              </a:spcBef>
              <a:spcAft>
                <a:spcPts val="0"/>
              </a:spcAft>
            </a:pPr>
            <a:r>
              <a:rPr sz="1800" b="0">
                <a:solidFill>
                  <a:srgbClr val="526574"/>
                </a:solidFill>
                <a:latin typeface="Liberation Sans"/>
              </a:rPr>
              <a:t>Proposed solution: a feedback-driven scheduler for a receiver that can observe</a:t>
            </a:r>
          </a:p>
          <a:p>
            <a:pPr>
              <a:lnSpc>
                <a:spcPts val="2196"/>
              </a:lnSpc>
              <a:spcBef>
                <a:spcPts val="0"/>
              </a:spcBef>
              <a:spcAft>
                <a:spcPts val="0"/>
              </a:spcAft>
            </a:pPr>
            <a:r>
              <a:rPr sz="1800" b="0">
                <a:solidFill>
                  <a:srgbClr val="526574"/>
                </a:solidFill>
                <a:latin typeface="Liberation Sans"/>
              </a:rPr>
              <a:t>only a small part of the spectrum at once.</a:t>
            </a:r>
          </a:p>
        </p:txBody>
      </p:sp>
      <p:sp>
        <p:nvSpPr>
          <p:cNvPr id="20" name="Rectangle 19"/>
          <p:cNvSpPr/>
          <p:nvPr/>
        </p:nvSpPr>
        <p:spPr>
          <a:xfrm>
            <a:off x="548640"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Detailed explanation</a:t>
            </a:r>
          </a:p>
          <a:p>
            <a:pPr>
              <a:lnSpc>
                <a:spcPts val="2074"/>
              </a:lnSpc>
              <a:spcBef>
                <a:spcPts val="0"/>
              </a:spcBef>
              <a:spcAft>
                <a:spcPts val="0"/>
              </a:spcAft>
            </a:pPr>
            <a:r>
              <a:rPr sz="1700" b="1">
                <a:solidFill>
                  <a:srgbClr val="0070C0"/>
                </a:solidFill>
                <a:latin typeface="Liberation Sans"/>
              </a:rPr>
              <a:t>of the proposed solution</a:t>
            </a:r>
          </a:p>
        </p:txBody>
      </p:sp>
      <p:sp>
        <p:nvSpPr>
          <p:cNvPr id="23" name="TextBox 22"/>
          <p:cNvSpPr txBox="1"/>
          <p:nvPr/>
        </p:nvSpPr>
        <p:spPr>
          <a:xfrm>
            <a:off x="713232" y="3511296"/>
            <a:ext cx="3200400" cy="141732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Simulate changing emitters.</a:t>
            </a:r>
          </a:p>
          <a:p>
            <a:pPr>
              <a:lnSpc>
                <a:spcPts val="2074"/>
              </a:lnSpc>
              <a:spcBef>
                <a:spcPts val="0"/>
              </a:spcBef>
              <a:spcAft>
                <a:spcPts val="0"/>
              </a:spcAft>
            </a:pPr>
            <a:r>
              <a:rPr sz="1700" b="0">
                <a:solidFill>
                  <a:srgbClr val="17344B"/>
                </a:solidFill>
                <a:latin typeface="Liberation Sans"/>
              </a:rPr>
              <a:t>Observe noisy hits and misses.</a:t>
            </a:r>
          </a:p>
          <a:p>
            <a:pPr>
              <a:lnSpc>
                <a:spcPts val="2074"/>
              </a:lnSpc>
              <a:spcBef>
                <a:spcPts val="0"/>
              </a:spcBef>
              <a:spcAft>
                <a:spcPts val="0"/>
              </a:spcAft>
            </a:pPr>
            <a:r>
              <a:rPr sz="1700" b="0">
                <a:solidFill>
                  <a:srgbClr val="17344B"/>
                </a:solidFill>
                <a:latin typeface="Liberation Sans"/>
              </a:rPr>
              <a:t>Associate pulses into tracks.</a:t>
            </a:r>
          </a:p>
          <a:p>
            <a:pPr>
              <a:lnSpc>
                <a:spcPts val="2074"/>
              </a:lnSpc>
              <a:spcBef>
                <a:spcPts val="0"/>
              </a:spcBef>
              <a:spcAft>
                <a:spcPts val="0"/>
              </a:spcAft>
            </a:pPr>
            <a:r>
              <a:rPr sz="1700" b="0">
                <a:solidFill>
                  <a:srgbClr val="17344B"/>
                </a:solidFill>
                <a:latin typeface="Liberation Sans"/>
              </a:rPr>
              <a:t>Choose the next band and dwell.</a:t>
            </a:r>
          </a:p>
        </p:txBody>
      </p:sp>
      <p:sp>
        <p:nvSpPr>
          <p:cNvPr id="24" name="Rectangle 23"/>
          <p:cNvSpPr/>
          <p:nvPr/>
        </p:nvSpPr>
        <p:spPr>
          <a:xfrm>
            <a:off x="4325112"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5112"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How it addresses</a:t>
            </a:r>
          </a:p>
          <a:p>
            <a:pPr>
              <a:lnSpc>
                <a:spcPts val="2074"/>
              </a:lnSpc>
              <a:spcBef>
                <a:spcPts val="0"/>
              </a:spcBef>
              <a:spcAft>
                <a:spcPts val="0"/>
              </a:spcAft>
            </a:pPr>
            <a:r>
              <a:rPr sz="1700" b="1">
                <a:solidFill>
                  <a:srgbClr val="0070C0"/>
                </a:solidFill>
                <a:latin typeface="Liberation Sans"/>
              </a:rPr>
              <a:t>the problem</a:t>
            </a:r>
          </a:p>
        </p:txBody>
      </p:sp>
      <p:sp>
        <p:nvSpPr>
          <p:cNvPr id="27" name="TextBox 26"/>
          <p:cNvSpPr txBox="1"/>
          <p:nvPr/>
        </p:nvSpPr>
        <p:spPr>
          <a:xfrm>
            <a:off x="4489704" y="3511296"/>
            <a:ext cx="3200400" cy="141732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Update from new observations.</a:t>
            </a:r>
          </a:p>
          <a:p>
            <a:pPr>
              <a:lnSpc>
                <a:spcPts val="2074"/>
              </a:lnSpc>
              <a:spcBef>
                <a:spcPts val="0"/>
              </a:spcBef>
              <a:spcAft>
                <a:spcPts val="0"/>
              </a:spcAft>
            </a:pPr>
            <a:r>
              <a:rPr sz="1700" b="0">
                <a:solidFill>
                  <a:srgbClr val="17344B"/>
                </a:solidFill>
                <a:latin typeface="Liberation Sans"/>
              </a:rPr>
              <a:t>Revisit likely signal activity.</a:t>
            </a:r>
          </a:p>
          <a:p>
            <a:pPr>
              <a:lnSpc>
                <a:spcPts val="2074"/>
              </a:lnSpc>
              <a:spcBef>
                <a:spcPts val="0"/>
              </a:spcBef>
              <a:spcAft>
                <a:spcPts val="0"/>
              </a:spcAft>
            </a:pPr>
            <a:r>
              <a:rPr sz="1700" b="0">
                <a:solidFill>
                  <a:srgbClr val="17344B"/>
                </a:solidFill>
                <a:latin typeface="Liberation Sans"/>
              </a:rPr>
              <a:t>Retain broad-band discovery.</a:t>
            </a:r>
          </a:p>
          <a:p>
            <a:pPr>
              <a:lnSpc>
                <a:spcPts val="2074"/>
              </a:lnSpc>
              <a:spcBef>
                <a:spcPts val="0"/>
              </a:spcBef>
              <a:spcAft>
                <a:spcPts val="0"/>
              </a:spcAft>
            </a:pPr>
            <a:r>
              <a:rPr sz="1700" b="0">
                <a:solidFill>
                  <a:srgbClr val="17344B"/>
                </a:solidFill>
                <a:latin typeface="Liberation Sans"/>
              </a:rPr>
              <a:t>Include receiver retuning cost.</a:t>
            </a:r>
          </a:p>
        </p:txBody>
      </p:sp>
      <p:sp>
        <p:nvSpPr>
          <p:cNvPr id="28" name="Rectangle 27"/>
          <p:cNvSpPr/>
          <p:nvPr/>
        </p:nvSpPr>
        <p:spPr>
          <a:xfrm>
            <a:off x="8101583"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01583"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5"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Innovation and</a:t>
            </a:r>
          </a:p>
          <a:p>
            <a:pPr>
              <a:lnSpc>
                <a:spcPts val="2074"/>
              </a:lnSpc>
              <a:spcBef>
                <a:spcPts val="0"/>
              </a:spcBef>
              <a:spcAft>
                <a:spcPts val="0"/>
              </a:spcAft>
            </a:pPr>
            <a:r>
              <a:rPr sz="1700" b="1">
                <a:solidFill>
                  <a:srgbClr val="0070C0"/>
                </a:solidFill>
                <a:latin typeface="Liberation Sans"/>
              </a:rPr>
              <a:t>uniqueness of the solution</a:t>
            </a:r>
          </a:p>
        </p:txBody>
      </p:sp>
      <p:sp>
        <p:nvSpPr>
          <p:cNvPr id="31" name="TextBox 30"/>
          <p:cNvSpPr txBox="1"/>
          <p:nvPr/>
        </p:nvSpPr>
        <p:spPr>
          <a:xfrm>
            <a:off x="8266175" y="3511296"/>
            <a:ext cx="3200400" cy="141732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Combine track confidence,</a:t>
            </a:r>
          </a:p>
          <a:p>
            <a:pPr>
              <a:lnSpc>
                <a:spcPts val="2074"/>
              </a:lnSpc>
              <a:spcBef>
                <a:spcPts val="0"/>
              </a:spcBef>
              <a:spcAft>
                <a:spcPts val="0"/>
              </a:spcAft>
            </a:pPr>
            <a:r>
              <a:rPr sz="1700" b="0">
                <a:solidFill>
                  <a:srgbClr val="17344B"/>
                </a:solidFill>
                <a:latin typeface="Liberation Sans"/>
              </a:rPr>
              <a:t>change response and coverage.</a:t>
            </a:r>
          </a:p>
          <a:p>
            <a:pPr>
              <a:lnSpc>
                <a:spcPts val="2074"/>
              </a:lnSpc>
              <a:spcBef>
                <a:spcPts val="0"/>
              </a:spcBef>
              <a:spcAft>
                <a:spcPts val="0"/>
              </a:spcAft>
            </a:pPr>
            <a:r>
              <a:rPr sz="1700" b="0">
                <a:solidFill>
                  <a:srgbClr val="17344B"/>
                </a:solidFill>
                <a:latin typeface="Liberation Sans"/>
              </a:rPr>
              <a:t>Test each part against baselines.</a:t>
            </a:r>
          </a:p>
          <a:p>
            <a:pPr>
              <a:lnSpc>
                <a:spcPts val="2074"/>
              </a:lnSpc>
              <a:spcBef>
                <a:spcPts val="0"/>
              </a:spcBef>
              <a:spcAft>
                <a:spcPts val="0"/>
              </a:spcAft>
            </a:pPr>
            <a:r>
              <a:rPr sz="1700" b="0">
                <a:solidFill>
                  <a:srgbClr val="17344B"/>
                </a:solidFill>
                <a:latin typeface="Liberation Sans"/>
              </a:rPr>
              <a:t>Keep decisions inspectable.</a:t>
            </a:r>
          </a:p>
        </p:txBody>
      </p:sp>
      <p:sp>
        <p:nvSpPr>
          <p:cNvPr id="32" name="Rectangle 31"/>
          <p:cNvSpPr/>
          <p:nvPr/>
        </p:nvSpPr>
        <p:spPr>
          <a:xfrm>
            <a:off x="548640" y="5303520"/>
            <a:ext cx="11073384" cy="71323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449824"/>
            <a:ext cx="10744200" cy="365760"/>
          </a:xfrm>
          <a:prstGeom prst="rect">
            <a:avLst/>
          </a:prstGeom>
          <a:noFill/>
        </p:spPr>
        <p:txBody>
          <a:bodyPr wrap="none" lIns="0" rIns="0" tIns="0" bIns="0" anchor="t">
            <a:noAutofit/>
          </a:bodyPr>
          <a:lstStyle/>
          <a:p>
            <a:pPr>
              <a:lnSpc>
                <a:spcPts val="2684"/>
              </a:lnSpc>
              <a:spcBef>
                <a:spcPts val="0"/>
              </a:spcBef>
              <a:spcAft>
                <a:spcPts val="0"/>
              </a:spcAft>
            </a:pPr>
            <a:r>
              <a:rPr sz="2200" b="1">
                <a:solidFill>
                  <a:srgbClr val="0070C0"/>
                </a:solidFill>
                <a:latin typeface="Liberation Sans"/>
              </a:rPr>
              <a:t>OBSERVE  &gt;  ASSOCIATE  &gt;  SCHEDULE  &gt;  UPDATE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3" name="TextBox 12"/>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4" name="TextBox 13"/>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TECHNICAL APPROACH</a:t>
            </a:r>
          </a:p>
        </p:txBody>
      </p:sp>
      <p:sp>
        <p:nvSpPr>
          <p:cNvPr id="15" name="TextBox 14"/>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6" name="TextBox 15"/>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7" name="TextBox 16"/>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3</a:t>
            </a:r>
          </a:p>
        </p:txBody>
      </p:sp>
      <p:cxnSp>
        <p:nvCxnSpPr>
          <p:cNvPr id="18" name="Connector 17"/>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1325880"/>
            <a:ext cx="1106424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Methodology and process for implementation</a:t>
            </a:r>
          </a:p>
        </p:txBody>
      </p:sp>
      <p:sp>
        <p:nvSpPr>
          <p:cNvPr id="20" name="Rectangle 19"/>
          <p:cNvSpPr/>
          <p:nvPr/>
        </p:nvSpPr>
        <p:spPr>
          <a:xfrm>
            <a:off x="54864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RF simulator</a:t>
            </a:r>
          </a:p>
        </p:txBody>
      </p:sp>
      <p:sp>
        <p:nvSpPr>
          <p:cNvPr id="22" name="TextBox 21"/>
          <p:cNvSpPr txBox="1"/>
          <p:nvPr/>
        </p:nvSpPr>
        <p:spPr>
          <a:xfrm>
            <a:off x="68580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Periodic, hopping and</a:t>
            </a:r>
          </a:p>
          <a:p>
            <a:pPr>
              <a:lnSpc>
                <a:spcPts val="1830"/>
              </a:lnSpc>
              <a:spcBef>
                <a:spcPts val="0"/>
              </a:spcBef>
              <a:spcAft>
                <a:spcPts val="0"/>
              </a:spcAft>
            </a:pPr>
            <a:r>
              <a:rPr sz="1500" b="0">
                <a:solidFill>
                  <a:srgbClr val="17344B"/>
                </a:solidFill>
                <a:latin typeface="Liberation Sans"/>
              </a:rPr>
              <a:t>changing emitters</a:t>
            </a:r>
          </a:p>
        </p:txBody>
      </p:sp>
      <p:sp>
        <p:nvSpPr>
          <p:cNvPr id="23" name="TextBox 22"/>
          <p:cNvSpPr txBox="1"/>
          <p:nvPr/>
        </p:nvSpPr>
        <p:spPr>
          <a:xfrm>
            <a:off x="319125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24" name="Rectangle 23"/>
          <p:cNvSpPr/>
          <p:nvPr/>
        </p:nvSpPr>
        <p:spPr>
          <a:xfrm>
            <a:off x="338328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Receiver model</a:t>
            </a:r>
          </a:p>
        </p:txBody>
      </p:sp>
      <p:sp>
        <p:nvSpPr>
          <p:cNvPr id="26" name="TextBox 25"/>
          <p:cNvSpPr txBox="1"/>
          <p:nvPr/>
        </p:nvSpPr>
        <p:spPr>
          <a:xfrm>
            <a:off x="352044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Band + dwell; noise,</a:t>
            </a:r>
          </a:p>
          <a:p>
            <a:pPr>
              <a:lnSpc>
                <a:spcPts val="1830"/>
              </a:lnSpc>
              <a:spcBef>
                <a:spcPts val="0"/>
              </a:spcBef>
              <a:spcAft>
                <a:spcPts val="0"/>
              </a:spcAft>
            </a:pPr>
            <a:r>
              <a:rPr sz="1500" b="0">
                <a:solidFill>
                  <a:srgbClr val="17344B"/>
                </a:solidFill>
                <a:latin typeface="Liberation Sans"/>
              </a:rPr>
              <a:t>sensitivity and retuning</a:t>
            </a:r>
          </a:p>
        </p:txBody>
      </p:sp>
      <p:sp>
        <p:nvSpPr>
          <p:cNvPr id="27" name="TextBox 26"/>
          <p:cNvSpPr txBox="1"/>
          <p:nvPr/>
        </p:nvSpPr>
        <p:spPr>
          <a:xfrm>
            <a:off x="602589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28" name="Rectangle 27"/>
          <p:cNvSpPr/>
          <p:nvPr/>
        </p:nvSpPr>
        <p:spPr>
          <a:xfrm>
            <a:off x="621792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Track association</a:t>
            </a:r>
          </a:p>
        </p:txBody>
      </p:sp>
      <p:sp>
        <p:nvSpPr>
          <p:cNvPr id="30" name="TextBox 29"/>
          <p:cNvSpPr txBox="1"/>
          <p:nvPr/>
        </p:nvSpPr>
        <p:spPr>
          <a:xfrm>
            <a:off x="635508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Anonymous pulse</a:t>
            </a:r>
          </a:p>
          <a:p>
            <a:pPr>
              <a:lnSpc>
                <a:spcPts val="1830"/>
              </a:lnSpc>
              <a:spcBef>
                <a:spcPts val="0"/>
              </a:spcBef>
              <a:spcAft>
                <a:spcPts val="0"/>
              </a:spcAft>
            </a:pPr>
            <a:r>
              <a:rPr sz="1500" b="0">
                <a:solidFill>
                  <a:srgbClr val="17344B"/>
                </a:solidFill>
                <a:latin typeface="Liberation Sans"/>
              </a:rPr>
              <a:t>measurements and history</a:t>
            </a:r>
          </a:p>
        </p:txBody>
      </p:sp>
      <p:sp>
        <p:nvSpPr>
          <p:cNvPr id="31" name="TextBox 30"/>
          <p:cNvSpPr txBox="1"/>
          <p:nvPr/>
        </p:nvSpPr>
        <p:spPr>
          <a:xfrm>
            <a:off x="886053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32" name="Rectangle 31"/>
          <p:cNvSpPr/>
          <p:nvPr/>
        </p:nvSpPr>
        <p:spPr>
          <a:xfrm>
            <a:off x="905256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72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Scheduler</a:t>
            </a:r>
          </a:p>
        </p:txBody>
      </p:sp>
      <p:sp>
        <p:nvSpPr>
          <p:cNvPr id="34" name="TextBox 33"/>
          <p:cNvSpPr txBox="1"/>
          <p:nvPr/>
        </p:nvSpPr>
        <p:spPr>
          <a:xfrm>
            <a:off x="918972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Baselines now;</a:t>
            </a:r>
          </a:p>
          <a:p>
            <a:pPr>
              <a:lnSpc>
                <a:spcPts val="1830"/>
              </a:lnSpc>
              <a:spcBef>
                <a:spcPts val="0"/>
              </a:spcBef>
              <a:spcAft>
                <a:spcPts val="0"/>
              </a:spcAft>
            </a:pPr>
            <a:r>
              <a:rPr sz="1500" b="0">
                <a:solidFill>
                  <a:srgbClr val="17344B"/>
                </a:solidFill>
                <a:latin typeface="Liberation Sans"/>
              </a:rPr>
              <a:t>ML policy planned</a:t>
            </a:r>
          </a:p>
        </p:txBody>
      </p:sp>
      <p:cxnSp>
        <p:nvCxnSpPr>
          <p:cNvPr id="35" name="Connector 34"/>
          <p:cNvCxnSpPr/>
          <p:nvPr/>
        </p:nvCxnSpPr>
        <p:spPr>
          <a:xfrm>
            <a:off x="10332720" y="3108960"/>
            <a:ext cx="0" cy="301752"/>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4654296" y="3410712"/>
            <a:ext cx="5678424" cy="0"/>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654296" y="3108960"/>
            <a:ext cx="0" cy="301752"/>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166360" y="3483864"/>
            <a:ext cx="6126480" cy="274320"/>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526574"/>
                </a:solidFill>
                <a:latin typeface="Liberation Sans"/>
              </a:rPr>
              <a:t>Next tuning action; learn only from observed feedback</a:t>
            </a:r>
          </a:p>
        </p:txBody>
      </p:sp>
      <p:sp>
        <p:nvSpPr>
          <p:cNvPr id="39" name="TextBox 38"/>
          <p:cNvSpPr txBox="1"/>
          <p:nvPr/>
        </p:nvSpPr>
        <p:spPr>
          <a:xfrm>
            <a:off x="548640" y="3941063"/>
            <a:ext cx="5367528"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Technologies to be used</a:t>
            </a:r>
          </a:p>
        </p:txBody>
      </p:sp>
      <p:sp>
        <p:nvSpPr>
          <p:cNvPr id="40" name="TextBox 39"/>
          <p:cNvSpPr txBox="1"/>
          <p:nvPr/>
        </p:nvSpPr>
        <p:spPr>
          <a:xfrm>
            <a:off x="548640" y="4416552"/>
            <a:ext cx="5404104" cy="1271016"/>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Python + NumPy; simple package modules.</a:t>
            </a:r>
          </a:p>
          <a:p>
            <a:pPr>
              <a:lnSpc>
                <a:spcPts val="1952"/>
              </a:lnSpc>
              <a:spcBef>
                <a:spcPts val="0"/>
              </a:spcBef>
              <a:spcAft>
                <a:spcPts val="0"/>
              </a:spcAft>
            </a:pPr>
            <a:r>
              <a:rPr sz="1600" b="0">
                <a:solidFill>
                  <a:srgbClr val="17344B"/>
                </a:solidFill>
                <a:latin typeface="Liberation Sans"/>
              </a:rPr>
              <a:t>HDF5 / h5py for bounded data batches (next).</a:t>
            </a:r>
          </a:p>
          <a:p>
            <a:pPr>
              <a:lnSpc>
                <a:spcPts val="1952"/>
              </a:lnSpc>
              <a:spcBef>
                <a:spcPts val="0"/>
              </a:spcBef>
              <a:spcAft>
                <a:spcPts val="0"/>
              </a:spcAft>
            </a:pPr>
            <a:r>
              <a:rPr sz="1600" b="0">
                <a:solidFill>
                  <a:srgbClr val="17344B"/>
                </a:solidFill>
                <a:latin typeface="Liberation Sans"/>
              </a:rPr>
              <a:t>scikit-learn baseline; PyTorch if justified (next).</a:t>
            </a:r>
          </a:p>
          <a:p>
            <a:pPr>
              <a:lnSpc>
                <a:spcPts val="1952"/>
              </a:lnSpc>
              <a:spcBef>
                <a:spcPts val="0"/>
              </a:spcBef>
              <a:spcAft>
                <a:spcPts val="0"/>
              </a:spcAft>
            </a:pPr>
            <a:r>
              <a:rPr sz="1600" b="0">
                <a:solidFill>
                  <a:srgbClr val="17344B"/>
                </a:solidFill>
                <a:latin typeface="Liberation Sans"/>
              </a:rPr>
              <a:t>Rust / PyO3 only for profiled bottlenecks (later).</a:t>
            </a:r>
          </a:p>
        </p:txBody>
      </p:sp>
      <p:sp>
        <p:nvSpPr>
          <p:cNvPr id="41" name="TextBox 40"/>
          <p:cNvSpPr txBox="1"/>
          <p:nvPr/>
        </p:nvSpPr>
        <p:spPr>
          <a:xfrm>
            <a:off x="6364224" y="3941063"/>
            <a:ext cx="5257800"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Data and learning plan</a:t>
            </a:r>
          </a:p>
        </p:txBody>
      </p:sp>
      <p:sp>
        <p:nvSpPr>
          <p:cNvPr id="42" name="TextBox 41"/>
          <p:cNvSpPr txBox="1"/>
          <p:nvPr/>
        </p:nvSpPr>
        <p:spPr>
          <a:xfrm>
            <a:off x="6364224" y="4416552"/>
            <a:ext cx="5257800" cy="1271016"/>
          </a:xfrm>
          <a:prstGeom prst="rect">
            <a:avLst/>
          </a:prstGeom>
          <a:noFill/>
        </p:spPr>
        <p:txBody>
          <a:bodyPr wrap="none" lIns="0" rIns="0" tIns="0" bIns="0" anchor="t">
            <a:noAutofit/>
          </a:bodyPr>
          <a:lstStyle/>
          <a:p>
            <a:pPr>
              <a:lnSpc>
                <a:spcPts val="1891"/>
              </a:lnSpc>
              <a:spcBef>
                <a:spcPts val="0"/>
              </a:spcBef>
              <a:spcAft>
                <a:spcPts val="0"/>
              </a:spcAft>
            </a:pPr>
            <a:r>
              <a:rPr sz="1550" b="0">
                <a:solidFill>
                  <a:srgbClr val="17344B"/>
                </a:solidFill>
                <a:latin typeface="Liberation Sans"/>
              </a:rPr>
              <a:t>TSRD: arrival time, frequency, width, angle, amplitude.</a:t>
            </a:r>
          </a:p>
          <a:p>
            <a:pPr>
              <a:lnSpc>
                <a:spcPts val="1891"/>
              </a:lnSpc>
              <a:spcBef>
                <a:spcPts val="0"/>
              </a:spcBef>
              <a:spcAft>
                <a:spcPts val="0"/>
              </a:spcAft>
            </a:pPr>
            <a:r>
              <a:rPr sz="1550" b="0">
                <a:solidFill>
                  <a:srgbClr val="17344B"/>
                </a:solidFill>
                <a:latin typeface="Liberation Sans"/>
              </a:rPr>
              <a:t>Keep train / validation / test files separate.</a:t>
            </a:r>
          </a:p>
          <a:p>
            <a:pPr>
              <a:lnSpc>
                <a:spcPts val="1891"/>
              </a:lnSpc>
              <a:spcBef>
                <a:spcPts val="0"/>
              </a:spcBef>
              <a:spcAft>
                <a:spcPts val="0"/>
              </a:spcAft>
            </a:pPr>
            <a:r>
              <a:rPr sz="1550" b="0">
                <a:solidFill>
                  <a:srgbClr val="17344B"/>
                </a:solidFill>
                <a:latin typeface="Liberation Sans"/>
              </a:rPr>
              <a:t>First: pulse-clustering baseline on a small subset.</a:t>
            </a:r>
          </a:p>
          <a:p>
            <a:pPr>
              <a:lnSpc>
                <a:spcPts val="1891"/>
              </a:lnSpc>
              <a:spcBef>
                <a:spcPts val="0"/>
              </a:spcBef>
              <a:spcAft>
                <a:spcPts val="0"/>
              </a:spcAft>
            </a:pPr>
            <a:r>
              <a:rPr sz="1550" b="0">
                <a:solidFill>
                  <a:srgbClr val="17344B"/>
                </a:solidFill>
                <a:latin typeface="Liberation Sans"/>
              </a:rPr>
              <a:t>Next: contextual-bandit scheduler trained on</a:t>
            </a:r>
          </a:p>
          <a:p>
            <a:pPr>
              <a:lnSpc>
                <a:spcPts val="1891"/>
              </a:lnSpc>
              <a:spcBef>
                <a:spcPts val="0"/>
              </a:spcBef>
              <a:spcAft>
                <a:spcPts val="0"/>
              </a:spcAft>
            </a:pPr>
            <a:r>
              <a:rPr sz="1550" b="0">
                <a:solidFill>
                  <a:srgbClr val="17344B"/>
                </a:solidFill>
                <a:latin typeface="Liberation Sans"/>
              </a:rPr>
              <a:t>simulator hits/misses; test on held-out scenarios.</a:t>
            </a:r>
          </a:p>
        </p:txBody>
      </p:sp>
      <p:sp>
        <p:nvSpPr>
          <p:cNvPr id="43" name="TextBox 42"/>
          <p:cNvSpPr txBox="1"/>
          <p:nvPr/>
        </p:nvSpPr>
        <p:spPr>
          <a:xfrm>
            <a:off x="548640" y="5879592"/>
            <a:ext cx="11064240" cy="265176"/>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526574"/>
                </a:solidFill>
                <a:latin typeface="Liberation Sans"/>
              </a:rPr>
              <a:t>Truth labels go to evaluation only at inference.  |  Reports first; API and GUI later.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FEASIBILITY AND VIABILITY</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4</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25880"/>
            <a:ext cx="11064240" cy="329184"/>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Analysis of the feasibility of the idea</a:t>
            </a:r>
          </a:p>
        </p:txBody>
      </p:sp>
      <p:sp>
        <p:nvSpPr>
          <p:cNvPr id="19" name="Rectangle 18"/>
          <p:cNvSpPr/>
          <p:nvPr/>
        </p:nvSpPr>
        <p:spPr>
          <a:xfrm>
            <a:off x="548640" y="1828800"/>
            <a:ext cx="3520440" cy="923544"/>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1965960"/>
            <a:ext cx="804672" cy="530352"/>
          </a:xfrm>
          <a:prstGeom prst="rect">
            <a:avLst/>
          </a:prstGeom>
          <a:noFill/>
        </p:spPr>
        <p:txBody>
          <a:bodyPr wrap="none" lIns="0" rIns="0" tIns="0" bIns="0" anchor="t">
            <a:noAutofit/>
          </a:bodyPr>
          <a:lstStyle/>
          <a:p>
            <a:pPr>
              <a:lnSpc>
                <a:spcPts val="3660"/>
              </a:lnSpc>
              <a:spcBef>
                <a:spcPts val="0"/>
              </a:spcBef>
              <a:spcAft>
                <a:spcPts val="0"/>
              </a:spcAft>
            </a:pPr>
            <a:r>
              <a:rPr sz="3000" b="1">
                <a:solidFill>
                  <a:srgbClr val="0070C0"/>
                </a:solidFill>
                <a:latin typeface="Liberation Sans"/>
              </a:rPr>
              <a:t>123</a:t>
            </a:r>
          </a:p>
        </p:txBody>
      </p:sp>
      <p:sp>
        <p:nvSpPr>
          <p:cNvPr id="21" name="TextBox 20"/>
          <p:cNvSpPr txBox="1"/>
          <p:nvPr/>
        </p:nvSpPr>
        <p:spPr>
          <a:xfrm>
            <a:off x="1581912" y="2139696"/>
            <a:ext cx="2350008" cy="292608"/>
          </a:xfrm>
          <a:prstGeom prst="rect">
            <a:avLst/>
          </a:prstGeom>
          <a:noFill/>
        </p:spPr>
        <p:txBody>
          <a:bodyPr wrap="none" lIns="0" rIns="0" tIns="0" bIns="0" anchor="t">
            <a:noAutofit/>
          </a:bodyPr>
          <a:lstStyle/>
          <a:p>
            <a:pPr>
              <a:lnSpc>
                <a:spcPts val="1769"/>
              </a:lnSpc>
              <a:spcBef>
                <a:spcPts val="0"/>
              </a:spcBef>
              <a:spcAft>
                <a:spcPts val="0"/>
              </a:spcAft>
            </a:pPr>
            <a:r>
              <a:rPr sz="1450" b="0">
                <a:solidFill>
                  <a:srgbClr val="17344B"/>
                </a:solidFill>
                <a:latin typeface="Liberation Sans"/>
              </a:rPr>
              <a:t>automated tests passing</a:t>
            </a:r>
          </a:p>
        </p:txBody>
      </p:sp>
      <p:sp>
        <p:nvSpPr>
          <p:cNvPr id="22" name="Rectangle 21"/>
          <p:cNvSpPr/>
          <p:nvPr/>
        </p:nvSpPr>
        <p:spPr>
          <a:xfrm>
            <a:off x="4325112" y="1828800"/>
            <a:ext cx="3520440" cy="923544"/>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1965960"/>
            <a:ext cx="804672" cy="530352"/>
          </a:xfrm>
          <a:prstGeom prst="rect">
            <a:avLst/>
          </a:prstGeom>
          <a:noFill/>
        </p:spPr>
        <p:txBody>
          <a:bodyPr wrap="none" lIns="0" rIns="0" tIns="0" bIns="0" anchor="t">
            <a:noAutofit/>
          </a:bodyPr>
          <a:lstStyle/>
          <a:p>
            <a:pPr>
              <a:lnSpc>
                <a:spcPts val="3660"/>
              </a:lnSpc>
              <a:spcBef>
                <a:spcPts val="0"/>
              </a:spcBef>
              <a:spcAft>
                <a:spcPts val="0"/>
              </a:spcAft>
            </a:pPr>
            <a:r>
              <a:rPr sz="3000" b="1">
                <a:solidFill>
                  <a:srgbClr val="0070C0"/>
                </a:solidFill>
                <a:latin typeface="Liberation Sans"/>
              </a:rPr>
              <a:t>13</a:t>
            </a:r>
          </a:p>
        </p:txBody>
      </p:sp>
      <p:sp>
        <p:nvSpPr>
          <p:cNvPr id="24" name="TextBox 23"/>
          <p:cNvSpPr txBox="1"/>
          <p:nvPr/>
        </p:nvSpPr>
        <p:spPr>
          <a:xfrm>
            <a:off x="5358384" y="2139696"/>
            <a:ext cx="2350008" cy="292608"/>
          </a:xfrm>
          <a:prstGeom prst="rect">
            <a:avLst/>
          </a:prstGeom>
          <a:noFill/>
        </p:spPr>
        <p:txBody>
          <a:bodyPr wrap="none" lIns="0" rIns="0" tIns="0" bIns="0" anchor="t">
            <a:noAutofit/>
          </a:bodyPr>
          <a:lstStyle/>
          <a:p>
            <a:pPr>
              <a:lnSpc>
                <a:spcPts val="1769"/>
              </a:lnSpc>
              <a:spcBef>
                <a:spcPts val="0"/>
              </a:spcBef>
              <a:spcAft>
                <a:spcPts val="0"/>
              </a:spcAft>
            </a:pPr>
            <a:r>
              <a:rPr sz="1450" b="0">
                <a:solidFill>
                  <a:srgbClr val="17344B"/>
                </a:solidFill>
                <a:latin typeface="Liberation Sans"/>
              </a:rPr>
              <a:t>comparison strategies</a:t>
            </a:r>
          </a:p>
        </p:txBody>
      </p:sp>
      <p:sp>
        <p:nvSpPr>
          <p:cNvPr id="25" name="Rectangle 24"/>
          <p:cNvSpPr/>
          <p:nvPr/>
        </p:nvSpPr>
        <p:spPr>
          <a:xfrm>
            <a:off x="8101583" y="1828800"/>
            <a:ext cx="3520440" cy="923544"/>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7031" y="1965960"/>
            <a:ext cx="804672" cy="530352"/>
          </a:xfrm>
          <a:prstGeom prst="rect">
            <a:avLst/>
          </a:prstGeom>
          <a:noFill/>
        </p:spPr>
        <p:txBody>
          <a:bodyPr wrap="none" lIns="0" rIns="0" tIns="0" bIns="0" anchor="t">
            <a:noAutofit/>
          </a:bodyPr>
          <a:lstStyle/>
          <a:p>
            <a:pPr>
              <a:lnSpc>
                <a:spcPts val="3660"/>
              </a:lnSpc>
              <a:spcBef>
                <a:spcPts val="0"/>
              </a:spcBef>
              <a:spcAft>
                <a:spcPts val="0"/>
              </a:spcAft>
            </a:pPr>
            <a:r>
              <a:rPr sz="3000" b="1">
                <a:solidFill>
                  <a:srgbClr val="0070C0"/>
                </a:solidFill>
                <a:latin typeface="Liberation Sans"/>
              </a:rPr>
              <a:t>5</a:t>
            </a:r>
          </a:p>
        </p:txBody>
      </p:sp>
      <p:sp>
        <p:nvSpPr>
          <p:cNvPr id="27" name="TextBox 26"/>
          <p:cNvSpPr txBox="1"/>
          <p:nvPr/>
        </p:nvSpPr>
        <p:spPr>
          <a:xfrm>
            <a:off x="9134855" y="2139696"/>
            <a:ext cx="2350008" cy="292608"/>
          </a:xfrm>
          <a:prstGeom prst="rect">
            <a:avLst/>
          </a:prstGeom>
          <a:noFill/>
        </p:spPr>
        <p:txBody>
          <a:bodyPr wrap="none" lIns="0" rIns="0" tIns="0" bIns="0" anchor="t">
            <a:noAutofit/>
          </a:bodyPr>
          <a:lstStyle/>
          <a:p>
            <a:pPr>
              <a:lnSpc>
                <a:spcPts val="1769"/>
              </a:lnSpc>
              <a:spcBef>
                <a:spcPts val="0"/>
              </a:spcBef>
              <a:spcAft>
                <a:spcPts val="0"/>
              </a:spcAft>
            </a:pPr>
            <a:r>
              <a:rPr sz="1450" b="0">
                <a:solidFill>
                  <a:srgbClr val="17344B"/>
                </a:solidFill>
                <a:latin typeface="Liberation Sans"/>
              </a:rPr>
              <a:t>seeded scenario presets</a:t>
            </a:r>
          </a:p>
        </p:txBody>
      </p:sp>
      <p:sp>
        <p:nvSpPr>
          <p:cNvPr id="28" name="TextBox 27"/>
          <p:cNvSpPr txBox="1"/>
          <p:nvPr/>
        </p:nvSpPr>
        <p:spPr>
          <a:xfrm>
            <a:off x="548640" y="2953512"/>
            <a:ext cx="11064240" cy="438912"/>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Working now: simulation, tracking, parallel runs, custom scenarios and JSON/CSV reports.</a:t>
            </a:r>
          </a:p>
        </p:txBody>
      </p:sp>
      <p:sp>
        <p:nvSpPr>
          <p:cNvPr id="29" name="Rectangle 28"/>
          <p:cNvSpPr/>
          <p:nvPr/>
        </p:nvSpPr>
        <p:spPr>
          <a:xfrm>
            <a:off x="548640" y="3557016"/>
            <a:ext cx="11073384" cy="38404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3639312"/>
            <a:ext cx="4654296" cy="246888"/>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Potential challenges and risks</a:t>
            </a:r>
          </a:p>
        </p:txBody>
      </p:sp>
      <p:sp>
        <p:nvSpPr>
          <p:cNvPr id="31" name="TextBox 30"/>
          <p:cNvSpPr txBox="1"/>
          <p:nvPr/>
        </p:nvSpPr>
        <p:spPr>
          <a:xfrm>
            <a:off x="5532120" y="3639312"/>
            <a:ext cx="5843016" cy="246888"/>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Strategies for overcoming these challenges</a:t>
            </a:r>
          </a:p>
        </p:txBody>
      </p:sp>
      <p:sp>
        <p:nvSpPr>
          <p:cNvPr id="32" name="Rectangle 31"/>
          <p:cNvSpPr/>
          <p:nvPr/>
        </p:nvSpPr>
        <p:spPr>
          <a:xfrm>
            <a:off x="548640" y="3941063"/>
            <a:ext cx="11073384" cy="43891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4050791"/>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Large pulse files exceed available memory</a:t>
            </a:r>
          </a:p>
        </p:txBody>
      </p:sp>
      <p:sp>
        <p:nvSpPr>
          <p:cNvPr id="34" name="TextBox 33"/>
          <p:cNvSpPr txBox="1"/>
          <p:nvPr/>
        </p:nvSpPr>
        <p:spPr>
          <a:xfrm>
            <a:off x="5532120" y="4050791"/>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Read bounded HDF5 batches; profile before native code.</a:t>
            </a:r>
          </a:p>
        </p:txBody>
      </p:sp>
      <p:sp>
        <p:nvSpPr>
          <p:cNvPr id="35" name="Rectangle 34"/>
          <p:cNvSpPr/>
          <p:nvPr/>
        </p:nvSpPr>
        <p:spPr>
          <a:xfrm>
            <a:off x="548640" y="4379975"/>
            <a:ext cx="11073384" cy="438912"/>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4489703"/>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Similar signatures cause false joins or splits</a:t>
            </a:r>
          </a:p>
        </p:txBody>
      </p:sp>
      <p:sp>
        <p:nvSpPr>
          <p:cNvPr id="37" name="TextBox 36"/>
          <p:cNvSpPr txBox="1"/>
          <p:nvPr/>
        </p:nvSpPr>
        <p:spPr>
          <a:xfrm>
            <a:off x="5532120" y="4489703"/>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Measure pairwise F1 and V-measure; test noisy overlaps.</a:t>
            </a:r>
          </a:p>
        </p:txBody>
      </p:sp>
      <p:sp>
        <p:nvSpPr>
          <p:cNvPr id="38" name="Rectangle 37"/>
          <p:cNvSpPr/>
          <p:nvPr/>
        </p:nvSpPr>
        <p:spPr>
          <a:xfrm>
            <a:off x="548640" y="4818888"/>
            <a:ext cx="11073384" cy="43891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 y="4928616"/>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Simulation bias or changing emitter behaviour</a:t>
            </a:r>
          </a:p>
        </p:txBody>
      </p:sp>
      <p:sp>
        <p:nvSpPr>
          <p:cNvPr id="40" name="TextBox 39"/>
          <p:cNvSpPr txBox="1"/>
          <p:nvPr/>
        </p:nvSpPr>
        <p:spPr>
          <a:xfrm>
            <a:off x="5532120" y="4928616"/>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Hold out scenarios; vary noise and modes; keep baselines.</a:t>
            </a:r>
          </a:p>
        </p:txBody>
      </p:sp>
      <p:sp>
        <p:nvSpPr>
          <p:cNvPr id="41" name="Rectangle 40"/>
          <p:cNvSpPr/>
          <p:nvPr/>
        </p:nvSpPr>
        <p:spPr>
          <a:xfrm>
            <a:off x="548640" y="5257800"/>
            <a:ext cx="11073384" cy="438912"/>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5367528"/>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Recorded scans cannot reveal missed alternatives</a:t>
            </a:r>
          </a:p>
        </p:txBody>
      </p:sp>
      <p:sp>
        <p:nvSpPr>
          <p:cNvPr id="43" name="TextBox 42"/>
          <p:cNvSpPr txBox="1"/>
          <p:nvPr/>
        </p:nvSpPr>
        <p:spPr>
          <a:xfrm>
            <a:off x="5532120" y="5367528"/>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Evaluate scheduling in simulation; replay data for association.</a:t>
            </a:r>
          </a:p>
        </p:txBody>
      </p:sp>
      <p:sp>
        <p:nvSpPr>
          <p:cNvPr id="44" name="TextBox 43"/>
          <p:cNvSpPr txBox="1"/>
          <p:nvPr/>
        </p:nvSpPr>
        <p:spPr>
          <a:xfrm>
            <a:off x="548640" y="5815584"/>
            <a:ext cx="11064240" cy="466344"/>
          </a:xfrm>
          <a:prstGeom prst="rect">
            <a:avLst/>
          </a:prstGeom>
          <a:noFill/>
        </p:spPr>
        <p:txBody>
          <a:bodyPr wrap="none" lIns="0" rIns="0" tIns="0" bIns="0" anchor="t">
            <a:noAutofit/>
          </a:bodyPr>
          <a:lstStyle/>
          <a:p>
            <a:pPr>
              <a:lnSpc>
                <a:spcPts val="1647"/>
              </a:lnSpc>
              <a:spcBef>
                <a:spcPts val="0"/>
              </a:spcBef>
              <a:spcAft>
                <a:spcPts val="0"/>
              </a:spcAft>
            </a:pPr>
            <a:r>
              <a:rPr sz="1350" b="1">
                <a:solidFill>
                  <a:srgbClr val="B55A16"/>
                </a:solidFill>
                <a:latin typeface="Liberation Sans"/>
              </a:rPr>
              <a:t>Next: dataset evaluation, learned policy, reward/prediction metrics and a periodic-scan reference.</a:t>
            </a:r>
          </a:p>
          <a:p>
            <a:pPr>
              <a:lnSpc>
                <a:spcPts val="1647"/>
              </a:lnSpc>
              <a:spcBef>
                <a:spcPts val="0"/>
              </a:spcBef>
              <a:spcAft>
                <a:spcPts val="0"/>
              </a:spcAft>
            </a:pPr>
            <a:r>
              <a:rPr sz="1350" b="1">
                <a:solidFill>
                  <a:srgbClr val="B55A16"/>
                </a:solidFill>
                <a:latin typeface="Liberation Sans"/>
              </a:rPr>
              <a:t>Simulation evidence only; hardware integration and field validation remain outside this prototype.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IMPACT AND BENEFITS</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5</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25880"/>
            <a:ext cx="11064240" cy="36576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Potential impact on the target audience</a:t>
            </a:r>
          </a:p>
        </p:txBody>
      </p:sp>
      <p:sp>
        <p:nvSpPr>
          <p:cNvPr id="19" name="TextBox 18"/>
          <p:cNvSpPr txBox="1"/>
          <p:nvPr/>
        </p:nvSpPr>
        <p:spPr>
          <a:xfrm>
            <a:off x="548640" y="1856231"/>
            <a:ext cx="11064240" cy="621792"/>
          </a:xfrm>
          <a:prstGeom prst="rect">
            <a:avLst/>
          </a:prstGeom>
          <a:noFill/>
        </p:spPr>
        <p:txBody>
          <a:bodyPr wrap="none" lIns="0" rIns="0" tIns="0" bIns="0" anchor="t">
            <a:noAutofit/>
          </a:bodyPr>
          <a:lstStyle/>
          <a:p>
            <a:pPr>
              <a:lnSpc>
                <a:spcPts val="2196"/>
              </a:lnSpc>
              <a:spcBef>
                <a:spcPts val="0"/>
              </a:spcBef>
              <a:spcAft>
                <a:spcPts val="0"/>
              </a:spcAft>
            </a:pPr>
            <a:r>
              <a:rPr sz="1800" b="0">
                <a:solidFill>
                  <a:srgbClr val="17344B"/>
                </a:solidFill>
                <a:latin typeface="Liberation Sans"/>
              </a:rPr>
              <a:t>For electronic-support researchers, receiver developers and student RF labs:</a:t>
            </a:r>
          </a:p>
          <a:p>
            <a:pPr>
              <a:lnSpc>
                <a:spcPts val="2196"/>
              </a:lnSpc>
              <a:spcBef>
                <a:spcPts val="0"/>
              </a:spcBef>
              <a:spcAft>
                <a:spcPts val="0"/>
              </a:spcAft>
            </a:pPr>
            <a:r>
              <a:rPr sz="1800" b="0">
                <a:solidFill>
                  <a:srgbClr val="17344B"/>
                </a:solidFill>
                <a:latin typeface="Liberation Sans"/>
              </a:rPr>
              <a:t>a repeatable way to compare scan policies before considering hardware integration.</a:t>
            </a:r>
          </a:p>
        </p:txBody>
      </p:sp>
      <p:sp>
        <p:nvSpPr>
          <p:cNvPr id="20" name="Rectangle 19"/>
          <p:cNvSpPr/>
          <p:nvPr/>
        </p:nvSpPr>
        <p:spPr>
          <a:xfrm>
            <a:off x="548640"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Technical benefits</a:t>
            </a:r>
          </a:p>
        </p:txBody>
      </p:sp>
      <p:sp>
        <p:nvSpPr>
          <p:cNvPr id="23" name="TextBox 22"/>
          <p:cNvSpPr txBox="1"/>
          <p:nvPr/>
        </p:nvSpPr>
        <p:spPr>
          <a:xfrm>
            <a:off x="713232" y="3557015"/>
            <a:ext cx="3200400" cy="1042415"/>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Aim for faster signal discovery.</a:t>
            </a:r>
          </a:p>
          <a:p>
            <a:pPr>
              <a:lnSpc>
                <a:spcPts val="2074"/>
              </a:lnSpc>
              <a:spcBef>
                <a:spcPts val="0"/>
              </a:spcBef>
              <a:spcAft>
                <a:spcPts val="0"/>
              </a:spcAft>
            </a:pPr>
            <a:r>
              <a:rPr sz="1700" b="0">
                <a:solidFill>
                  <a:srgbClr val="17344B"/>
                </a:solidFill>
                <a:latin typeface="Liberation Sans"/>
              </a:rPr>
              <a:t>Balance revisits with coverage.</a:t>
            </a:r>
          </a:p>
          <a:p>
            <a:pPr>
              <a:lnSpc>
                <a:spcPts val="2074"/>
              </a:lnSpc>
              <a:spcBef>
                <a:spcPts val="0"/>
              </a:spcBef>
              <a:spcAft>
                <a:spcPts val="0"/>
              </a:spcAft>
            </a:pPr>
            <a:r>
              <a:rPr sz="1700" b="0">
                <a:solidFill>
                  <a:srgbClr val="17344B"/>
                </a:solidFill>
                <a:latin typeface="Liberation Sans"/>
              </a:rPr>
              <a:t>Explain misses and track errors.</a:t>
            </a:r>
          </a:p>
        </p:txBody>
      </p:sp>
      <p:sp>
        <p:nvSpPr>
          <p:cNvPr id="24" name="Rectangle 23"/>
          <p:cNvSpPr/>
          <p:nvPr/>
        </p:nvSpPr>
        <p:spPr>
          <a:xfrm>
            <a:off x="4325112"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5112"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Economic benefits</a:t>
            </a:r>
          </a:p>
        </p:txBody>
      </p:sp>
      <p:sp>
        <p:nvSpPr>
          <p:cNvPr id="27" name="TextBox 26"/>
          <p:cNvSpPr txBox="1"/>
          <p:nvPr/>
        </p:nvSpPr>
        <p:spPr>
          <a:xfrm>
            <a:off x="4489704" y="3557015"/>
            <a:ext cx="3200400" cy="1042415"/>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Start on existing computers.</a:t>
            </a:r>
          </a:p>
          <a:p>
            <a:pPr>
              <a:lnSpc>
                <a:spcPts val="2074"/>
              </a:lnSpc>
              <a:spcBef>
                <a:spcPts val="0"/>
              </a:spcBef>
              <a:spcAft>
                <a:spcPts val="0"/>
              </a:spcAft>
            </a:pPr>
            <a:r>
              <a:rPr sz="1700" b="0">
                <a:solidFill>
                  <a:srgbClr val="17344B"/>
                </a:solidFill>
                <a:latin typeface="Liberation Sans"/>
              </a:rPr>
              <a:t>Test software before RF trials.</a:t>
            </a:r>
          </a:p>
          <a:p>
            <a:pPr>
              <a:lnSpc>
                <a:spcPts val="2074"/>
              </a:lnSpc>
              <a:spcBef>
                <a:spcPts val="0"/>
              </a:spcBef>
              <a:spcAft>
                <a:spcPts val="0"/>
              </a:spcAft>
            </a:pPr>
            <a:r>
              <a:rPr sz="1700" b="0">
                <a:solidFill>
                  <a:srgbClr val="17344B"/>
                </a:solidFill>
                <a:latin typeface="Liberation Sans"/>
              </a:rPr>
              <a:t>Reuse scenarios and reports.</a:t>
            </a:r>
          </a:p>
        </p:txBody>
      </p:sp>
      <p:sp>
        <p:nvSpPr>
          <p:cNvPr id="28" name="Rectangle 27"/>
          <p:cNvSpPr/>
          <p:nvPr/>
        </p:nvSpPr>
        <p:spPr>
          <a:xfrm>
            <a:off x="8101583"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01583"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5"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Research and education</a:t>
            </a:r>
          </a:p>
        </p:txBody>
      </p:sp>
      <p:sp>
        <p:nvSpPr>
          <p:cNvPr id="31" name="TextBox 30"/>
          <p:cNvSpPr txBox="1"/>
          <p:nvPr/>
        </p:nvSpPr>
        <p:spPr>
          <a:xfrm>
            <a:off x="8266175" y="3557015"/>
            <a:ext cx="3200400" cy="1042415"/>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Reproducible, inspectable tests.</a:t>
            </a:r>
          </a:p>
          <a:p>
            <a:pPr>
              <a:lnSpc>
                <a:spcPts val="2074"/>
              </a:lnSpc>
              <a:spcBef>
                <a:spcPts val="0"/>
              </a:spcBef>
              <a:spcAft>
                <a:spcPts val="0"/>
              </a:spcAft>
            </a:pPr>
            <a:r>
              <a:rPr sz="1700" b="0">
                <a:solidFill>
                  <a:srgbClr val="17344B"/>
                </a:solidFill>
                <a:latin typeface="Liberation Sans"/>
              </a:rPr>
              <a:t>Public synthetic benchmarks.</a:t>
            </a:r>
          </a:p>
          <a:p>
            <a:pPr>
              <a:lnSpc>
                <a:spcPts val="2074"/>
              </a:lnSpc>
              <a:spcBef>
                <a:spcPts val="0"/>
              </a:spcBef>
              <a:spcAft>
                <a:spcPts val="0"/>
              </a:spcAft>
            </a:pPr>
            <a:r>
              <a:rPr sz="1700" b="0">
                <a:solidFill>
                  <a:srgbClr val="17344B"/>
                </a:solidFill>
                <a:latin typeface="Liberation Sans"/>
              </a:rPr>
              <a:t>No live RF transmission needed.</a:t>
            </a:r>
          </a:p>
        </p:txBody>
      </p:sp>
      <p:sp>
        <p:nvSpPr>
          <p:cNvPr id="32" name="TextBox 31"/>
          <p:cNvSpPr txBox="1"/>
          <p:nvPr/>
        </p:nvSpPr>
        <p:spPr>
          <a:xfrm>
            <a:off x="548640" y="4910328"/>
            <a:ext cx="11064240"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How success will be measured</a:t>
            </a:r>
          </a:p>
        </p:txBody>
      </p:sp>
      <p:sp>
        <p:nvSpPr>
          <p:cNvPr id="33" name="TextBox 32"/>
          <p:cNvSpPr txBox="1"/>
          <p:nvPr/>
        </p:nvSpPr>
        <p:spPr>
          <a:xfrm>
            <a:off x="548640" y="5404104"/>
            <a:ext cx="11064240" cy="694944"/>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Receiver: detection / false-alarm probability and sensitivity. Scheduling: interception rate,</a:t>
            </a:r>
          </a:p>
          <a:p>
            <a:pPr>
              <a:lnSpc>
                <a:spcPts val="1952"/>
              </a:lnSpc>
              <a:spcBef>
                <a:spcPts val="0"/>
              </a:spcBef>
              <a:spcAft>
                <a:spcPts val="0"/>
              </a:spcAft>
            </a:pPr>
            <a:r>
              <a:rPr sz="1600" b="0">
                <a:solidFill>
                  <a:srgbClr val="17344B"/>
                </a:solidFill>
                <a:latin typeface="Liberation Sans"/>
              </a:rPr>
              <a:t>reward/cost, prediction accuracy and intercept-time error. Association: V-measure and pairwise F1.</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3" name="TextBox 12"/>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4" name="TextBox 13"/>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RESEARCH AND REFERENCES</a:t>
            </a:r>
          </a:p>
        </p:txBody>
      </p:sp>
      <p:sp>
        <p:nvSpPr>
          <p:cNvPr id="15" name="TextBox 14"/>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6" name="TextBox 15"/>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7" name="TextBox 16"/>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6</a:t>
            </a:r>
          </a:p>
        </p:txBody>
      </p:sp>
      <p:cxnSp>
        <p:nvCxnSpPr>
          <p:cNvPr id="18" name="Connector 17"/>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1325880"/>
            <a:ext cx="1106424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Details / links of the reference and research work</a:t>
            </a:r>
          </a:p>
        </p:txBody>
      </p:sp>
      <p:sp>
        <p:nvSpPr>
          <p:cNvPr id="20" name="Rectangle 19"/>
          <p:cNvSpPr/>
          <p:nvPr/>
        </p:nvSpPr>
        <p:spPr>
          <a:xfrm>
            <a:off x="548640" y="1883664"/>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1952244"/>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1</a:t>
            </a:r>
          </a:p>
        </p:txBody>
      </p:sp>
      <p:sp>
        <p:nvSpPr>
          <p:cNvPr id="22" name="TextBox 21"/>
          <p:cNvSpPr txBox="1"/>
          <p:nvPr/>
        </p:nvSpPr>
        <p:spPr>
          <a:xfrm>
            <a:off x="1133856" y="1883664"/>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Gunn et al. — The Turing Synthetic Radar Dataset</a:t>
            </a:r>
          </a:p>
        </p:txBody>
      </p:sp>
      <p:sp>
        <p:nvSpPr>
          <p:cNvPr id="23" name="TextBox 22"/>
          <p:cNvSpPr txBox="1"/>
          <p:nvPr/>
        </p:nvSpPr>
        <p:spPr>
          <a:xfrm>
            <a:off x="1133856" y="2240280"/>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Benchmark design, scan/stare receiver modes and pulse-association evaluation.</a:t>
            </a:r>
          </a:p>
        </p:txBody>
      </p:sp>
      <p:sp>
        <p:nvSpPr>
          <p:cNvPr id="24" name="TextBox 23"/>
          <p:cNvSpPr txBox="1"/>
          <p:nvPr/>
        </p:nvSpPr>
        <p:spPr>
          <a:xfrm>
            <a:off x="1133856" y="2578608"/>
            <a:ext cx="1042416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4"/>
              </a:rPr>
              <a:t>arxiv.org/abs/2602.03856</a:t>
            </a:r>
          </a:p>
        </p:txBody>
      </p:sp>
      <p:sp>
        <p:nvSpPr>
          <p:cNvPr id="25" name="Rectangle 24"/>
          <p:cNvSpPr/>
          <p:nvPr/>
        </p:nvSpPr>
        <p:spPr>
          <a:xfrm>
            <a:off x="548640" y="2880360"/>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 y="2948940"/>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2</a:t>
            </a:r>
          </a:p>
        </p:txBody>
      </p:sp>
      <p:sp>
        <p:nvSpPr>
          <p:cNvPr id="27" name="TextBox 26"/>
          <p:cNvSpPr txBox="1"/>
          <p:nvPr/>
        </p:nvSpPr>
        <p:spPr>
          <a:xfrm>
            <a:off x="1133856" y="2880360"/>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Alan Turing Institute — TSRD dataset and companion code</a:t>
            </a:r>
          </a:p>
        </p:txBody>
      </p:sp>
      <p:sp>
        <p:nvSpPr>
          <p:cNvPr id="28" name="TextBox 27"/>
          <p:cNvSpPr txBox="1"/>
          <p:nvPr/>
        </p:nvSpPr>
        <p:spPr>
          <a:xfrm>
            <a:off x="1133856" y="3236976"/>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Five pulse features; file-level splits; HDF5 loading and reference evaluation.</a:t>
            </a:r>
          </a:p>
        </p:txBody>
      </p:sp>
      <p:sp>
        <p:nvSpPr>
          <p:cNvPr id="29" name="TextBox 28"/>
          <p:cNvSpPr txBox="1"/>
          <p:nvPr/>
        </p:nvSpPr>
        <p:spPr>
          <a:xfrm>
            <a:off x="1133856" y="3575304"/>
            <a:ext cx="1841735"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5"/>
              </a:rPr>
              <a:t>Hugging Face dataset  |  </a:t>
            </a:r>
          </a:p>
        </p:txBody>
      </p:sp>
      <p:sp>
        <p:nvSpPr>
          <p:cNvPr id="30" name="TextBox 29"/>
          <p:cNvSpPr txBox="1"/>
          <p:nvPr/>
        </p:nvSpPr>
        <p:spPr>
          <a:xfrm>
            <a:off x="2975591" y="3575304"/>
            <a:ext cx="8582424"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6"/>
              </a:rPr>
              <a:t>Turing Deinterleaving Challenge</a:t>
            </a:r>
          </a:p>
        </p:txBody>
      </p:sp>
      <p:sp>
        <p:nvSpPr>
          <p:cNvPr id="31" name="Rectangle 30"/>
          <p:cNvSpPr/>
          <p:nvPr/>
        </p:nvSpPr>
        <p:spPr>
          <a:xfrm>
            <a:off x="548640" y="3877056"/>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945636"/>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3</a:t>
            </a:r>
          </a:p>
        </p:txBody>
      </p:sp>
      <p:sp>
        <p:nvSpPr>
          <p:cNvPr id="33" name="TextBox 32"/>
          <p:cNvSpPr txBox="1"/>
          <p:nvPr/>
        </p:nvSpPr>
        <p:spPr>
          <a:xfrm>
            <a:off x="1133856" y="3877056"/>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Gunn et al. — Transformer-based deep metric learning</a:t>
            </a:r>
          </a:p>
        </p:txBody>
      </p:sp>
      <p:sp>
        <p:nvSpPr>
          <p:cNvPr id="34" name="TextBox 33"/>
          <p:cNvSpPr txBox="1"/>
          <p:nvPr/>
        </p:nvSpPr>
        <p:spPr>
          <a:xfrm>
            <a:off x="1133856" y="4233672"/>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Research direction for learned pulse embeddings; not implemented in this prototype.</a:t>
            </a:r>
          </a:p>
        </p:txBody>
      </p:sp>
      <p:sp>
        <p:nvSpPr>
          <p:cNvPr id="35" name="TextBox 34"/>
          <p:cNvSpPr txBox="1"/>
          <p:nvPr/>
        </p:nvSpPr>
        <p:spPr>
          <a:xfrm>
            <a:off x="1133856" y="4572000"/>
            <a:ext cx="1042416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7"/>
              </a:rPr>
              <a:t>arxiv.org/abs/2503.13476</a:t>
            </a:r>
          </a:p>
        </p:txBody>
      </p:sp>
      <p:sp>
        <p:nvSpPr>
          <p:cNvPr id="36" name="Rectangle 35"/>
          <p:cNvSpPr/>
          <p:nvPr/>
        </p:nvSpPr>
        <p:spPr>
          <a:xfrm>
            <a:off x="548640" y="4873752"/>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942332"/>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4</a:t>
            </a:r>
          </a:p>
        </p:txBody>
      </p:sp>
      <p:sp>
        <p:nvSpPr>
          <p:cNvPr id="38" name="TextBox 37"/>
          <p:cNvSpPr txBox="1"/>
          <p:nvPr/>
        </p:nvSpPr>
        <p:spPr>
          <a:xfrm>
            <a:off x="1133856" y="4873752"/>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SIH26055 — Smart Scan strategy for Electronic Warfare</a:t>
            </a:r>
          </a:p>
        </p:txBody>
      </p:sp>
      <p:sp>
        <p:nvSpPr>
          <p:cNvPr id="39" name="TextBox 38"/>
          <p:cNvSpPr txBox="1"/>
          <p:nvPr/>
        </p:nvSpPr>
        <p:spPr>
          <a:xfrm>
            <a:off x="1133856" y="5230368"/>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Problem requirements: receiver simulation, feedback learning and interception metrics.</a:t>
            </a:r>
          </a:p>
        </p:txBody>
      </p:sp>
      <p:sp>
        <p:nvSpPr>
          <p:cNvPr id="40" name="TextBox 39"/>
          <p:cNvSpPr txBox="1"/>
          <p:nvPr/>
        </p:nvSpPr>
        <p:spPr>
          <a:xfrm>
            <a:off x="1133856" y="5568696"/>
            <a:ext cx="960449"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8"/>
              </a:rPr>
              <a:t>SIH portal  |  </a:t>
            </a:r>
          </a:p>
        </p:txBody>
      </p:sp>
      <p:sp>
        <p:nvSpPr>
          <p:cNvPr id="41" name="TextBox 40"/>
          <p:cNvSpPr txBox="1"/>
          <p:nvPr/>
        </p:nvSpPr>
        <p:spPr>
          <a:xfrm>
            <a:off x="2094305" y="5568696"/>
            <a:ext cx="946371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9"/>
              </a:rPr>
              <a:t>Accessible statement copy (community mirror)</a:t>
            </a:r>
          </a:p>
        </p:txBody>
      </p:sp>
      <p:sp>
        <p:nvSpPr>
          <p:cNvPr id="42" name="TextBox 41"/>
          <p:cNvSpPr txBox="1"/>
          <p:nvPr/>
        </p:nvSpPr>
        <p:spPr>
          <a:xfrm>
            <a:off x="548640" y="6044184"/>
            <a:ext cx="11064240" cy="228600"/>
          </a:xfrm>
          <a:prstGeom prst="rect">
            <a:avLst/>
          </a:prstGeom>
          <a:noFill/>
        </p:spPr>
        <p:txBody>
          <a:bodyPr wrap="none" lIns="0" rIns="0" tIns="0" bIns="0" anchor="t">
            <a:noAutofit/>
          </a:bodyPr>
          <a:lstStyle/>
          <a:p>
            <a:pPr>
              <a:lnSpc>
                <a:spcPts val="1525"/>
              </a:lnSpc>
              <a:spcBef>
                <a:spcPts val="0"/>
              </a:spcBef>
              <a:spcAft>
                <a:spcPts val="0"/>
              </a:spcAft>
            </a:pPr>
            <a:r>
              <a:rPr sz="1250" b="0">
                <a:solidFill>
                  <a:srgbClr val="526574"/>
                </a:solidFill>
                <a:latin typeface="Liberation Sans"/>
              </a:rPr>
              <a:t>Literature informs the approach; published benchmark scores are not presented as our results.</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Spectra Scheduler | SIH26055</dc:title>
  <dc:subject>Student prototype and proposed development approach</dc:subject>
  <dc:creator/>
  <cp:keywords>SIH26055, spectrum scanning, simulation</cp:keywords>
  <dc:description/>
  <cp:lastModifiedBy/>
  <cp:revision>148</cp:revision>
  <cp:category/>
</cp:coreProperties>
</file>